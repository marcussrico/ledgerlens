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title.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841248"/>
            <a:ext cx="5486400" cy="274320"/>
          </a:xfrm>
          <a:prstGeom prst="rect">
            <a:avLst/>
          </a:prstGeom>
          <a:noFill/>
        </p:spPr>
        <p:txBody>
          <a:bodyPr wrap="square" lIns="0" rIns="0" tIns="0" bIns="0" anchor="t">
            <a:spAutoFit/>
          </a:bodyPr>
          <a:lstStyle/>
          <a:p>
            <a:pPr algn="l">
              <a:lnSpc>
                <a:spcPct val="128000"/>
              </a:lnSpc>
              <a:spcAft>
                <a:spcPts val="0"/>
              </a:spcAft>
            </a:pPr>
            <a:r>
              <a:rPr sz="1100" b="0">
                <a:solidFill>
                  <a:srgbClr val="C9A227"/>
                </a:solidFill>
                <a:latin typeface="Consolas"/>
              </a:rPr>
              <a:t>L E D G E R L E N S</a:t>
            </a:r>
          </a:p>
        </p:txBody>
      </p:sp>
      <p:sp>
        <p:nvSpPr>
          <p:cNvPr id="5" name="TextBox 4"/>
          <p:cNvSpPr txBox="1"/>
          <p:nvPr/>
        </p:nvSpPr>
        <p:spPr>
          <a:xfrm>
            <a:off x="658368" y="1316736"/>
            <a:ext cx="8595360" cy="1371600"/>
          </a:xfrm>
          <a:prstGeom prst="rect">
            <a:avLst/>
          </a:prstGeom>
          <a:noFill/>
        </p:spPr>
        <p:txBody>
          <a:bodyPr wrap="square" lIns="0" rIns="0" tIns="0" bIns="0" anchor="t">
            <a:spAutoFit/>
          </a:bodyPr>
          <a:lstStyle/>
          <a:p>
            <a:pPr algn="l">
              <a:lnSpc>
                <a:spcPct val="98000"/>
              </a:lnSpc>
              <a:spcAft>
                <a:spcPts val="0"/>
              </a:spcAft>
            </a:pPr>
            <a:r>
              <a:rPr sz="5200" b="0">
                <a:solidFill>
                  <a:srgbClr val="E9E5DC"/>
                </a:solidFill>
                <a:latin typeface="Georgia"/>
              </a:rPr>
              <a:t>An X-ray machine for</a:t>
            </a:r>
            <a:br/>
            <a:r>
              <a:rPr sz="5200" b="0">
                <a:solidFill>
                  <a:srgbClr val="E9E5DC"/>
                </a:solidFill>
                <a:latin typeface="Georgia"/>
              </a:rPr>
              <a:t>how a company spends.</a:t>
            </a:r>
          </a:p>
        </p:txBody>
      </p:sp>
      <p:sp>
        <p:nvSpPr>
          <p:cNvPr id="6" name="TextBox 5"/>
          <p:cNvSpPr txBox="1"/>
          <p:nvPr/>
        </p:nvSpPr>
        <p:spPr>
          <a:xfrm>
            <a:off x="658368" y="2798064"/>
            <a:ext cx="6766560" cy="566928"/>
          </a:xfrm>
          <a:prstGeom prst="rect">
            <a:avLst/>
          </a:prstGeom>
          <a:noFill/>
        </p:spPr>
        <p:txBody>
          <a:bodyPr wrap="square" lIns="0" rIns="0" tIns="0" bIns="0" anchor="t">
            <a:spAutoFit/>
          </a:bodyPr>
          <a:lstStyle/>
          <a:p>
            <a:pPr algn="l">
              <a:lnSpc>
                <a:spcPct val="142000"/>
              </a:lnSpc>
              <a:spcAft>
                <a:spcPts val="0"/>
              </a:spcAft>
            </a:pPr>
            <a:r>
              <a:rPr sz="1450" b="0">
                <a:solidFill>
                  <a:srgbClr val="A8A498"/>
                </a:solidFill>
                <a:latin typeface="Segoe UI"/>
              </a:rPr>
              <a:t>We read every invoice, purchase order and vendor record together — and show you exactly where the money is leaking.</a:t>
            </a:r>
          </a:p>
        </p:txBody>
      </p:sp>
      <p:cxnSp>
        <p:nvCxnSpPr>
          <p:cNvPr id="7" name="Connector 6"/>
          <p:cNvCxnSpPr/>
          <p:nvPr/>
        </p:nvCxnSpPr>
        <p:spPr>
          <a:xfrm>
            <a:off x="658368" y="3694176"/>
            <a:ext cx="0" cy="1188720"/>
          </a:xfrm>
          <a:prstGeom prst="line">
            <a:avLst/>
          </a:prstGeom>
          <a:ln w="20320">
            <a:solidFill>
              <a:srgbClr val="8A7220"/>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96112" y="3639312"/>
            <a:ext cx="5852160" cy="822960"/>
          </a:xfrm>
          <a:prstGeom prst="rect">
            <a:avLst/>
          </a:prstGeom>
          <a:noFill/>
        </p:spPr>
        <p:txBody>
          <a:bodyPr wrap="square" lIns="0" rIns="0" tIns="0" bIns="0" anchor="t">
            <a:spAutoFit/>
          </a:bodyPr>
          <a:lstStyle/>
          <a:p>
            <a:pPr algn="l">
              <a:lnSpc>
                <a:spcPct val="95000"/>
              </a:lnSpc>
              <a:spcAft>
                <a:spcPts val="0"/>
              </a:spcAft>
            </a:pPr>
            <a:r>
              <a:rPr sz="5400" b="0">
                <a:solidFill>
                  <a:srgbClr val="C9A227"/>
                </a:solidFill>
                <a:latin typeface="Georgia"/>
              </a:rPr>
              <a:t>₹18,42,650</a:t>
            </a:r>
          </a:p>
        </p:txBody>
      </p:sp>
      <p:sp>
        <p:nvSpPr>
          <p:cNvPr id="9" name="TextBox 8"/>
          <p:cNvSpPr txBox="1"/>
          <p:nvPr/>
        </p:nvSpPr>
        <p:spPr>
          <a:xfrm>
            <a:off x="932688" y="4535424"/>
            <a:ext cx="6400800" cy="457200"/>
          </a:xfrm>
          <a:prstGeom prst="rect">
            <a:avLst/>
          </a:prstGeom>
          <a:noFill/>
        </p:spPr>
        <p:txBody>
          <a:bodyPr wrap="square" lIns="0" rIns="0" tIns="0" bIns="0" anchor="t">
            <a:spAutoFit/>
          </a:bodyPr>
          <a:lstStyle/>
          <a:p>
            <a:pPr algn="l">
              <a:lnSpc>
                <a:spcPct val="128000"/>
              </a:lnSpc>
              <a:spcAft>
                <a:spcPts val="0"/>
              </a:spcAft>
            </a:pPr>
            <a:r>
              <a:rPr sz="1200" b="0">
                <a:solidFill>
                  <a:srgbClr val="A8A498"/>
                </a:solidFill>
                <a:latin typeface="Segoe UI"/>
              </a:rPr>
              <a:t>recoverable, identified across </a:t>
            </a:r>
            <a:r>
              <a:rPr sz="1200" b="0">
                <a:solidFill>
                  <a:srgbClr val="E9E5DC"/>
                </a:solidFill>
                <a:latin typeface="Segoe UI"/>
              </a:rPr>
              <a:t>₹42.6 Cr</a:t>
            </a:r>
            <a:r>
              <a:rPr sz="1200" b="0">
                <a:solidFill>
                  <a:srgbClr val="A8A498"/>
                </a:solidFill>
                <a:latin typeface="Segoe UI"/>
              </a:rPr>
              <a:t> of analysed spend</a:t>
            </a:r>
          </a:p>
        </p:txBody>
      </p:sp>
      <p:cxnSp>
        <p:nvCxnSpPr>
          <p:cNvPr id="10" name="Connector 9"/>
          <p:cNvCxnSpPr/>
          <p:nvPr/>
        </p:nvCxnSpPr>
        <p:spPr>
          <a:xfrm>
            <a:off x="7891272" y="1316736"/>
            <a:ext cx="0" cy="356616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75320" y="1316736"/>
            <a:ext cx="3108960" cy="310896"/>
          </a:xfrm>
          <a:prstGeom prst="rect">
            <a:avLst/>
          </a:prstGeom>
          <a:noFill/>
        </p:spPr>
        <p:txBody>
          <a:bodyPr wrap="square" lIns="0" rIns="0" tIns="0" bIns="0" anchor="t">
            <a:spAutoFit/>
          </a:bodyPr>
          <a:lstStyle/>
          <a:p>
            <a:pPr algn="l">
              <a:lnSpc>
                <a:spcPct val="128000"/>
              </a:lnSpc>
              <a:spcAft>
                <a:spcPts val="0"/>
              </a:spcAft>
            </a:pPr>
            <a:r>
              <a:rPr sz="1900" b="0">
                <a:solidFill>
                  <a:srgbClr val="E9E5DC"/>
                </a:solidFill>
                <a:latin typeface="Consolas"/>
              </a:rPr>
              <a:t>5,847</a:t>
            </a:r>
          </a:p>
        </p:txBody>
      </p:sp>
      <p:sp>
        <p:nvSpPr>
          <p:cNvPr id="12" name="TextBox 11"/>
          <p:cNvSpPr txBox="1"/>
          <p:nvPr/>
        </p:nvSpPr>
        <p:spPr>
          <a:xfrm>
            <a:off x="8275320" y="1600200"/>
            <a:ext cx="3108960" cy="256032"/>
          </a:xfrm>
          <a:prstGeom prst="rect">
            <a:avLst/>
          </a:prstGeom>
          <a:noFill/>
        </p:spPr>
        <p:txBody>
          <a:bodyPr wrap="square" lIns="0" rIns="0" tIns="0" bIns="0" anchor="t">
            <a:spAutoFit/>
          </a:bodyPr>
          <a:lstStyle/>
          <a:p>
            <a:pPr algn="l">
              <a:lnSpc>
                <a:spcPct val="128000"/>
              </a:lnSpc>
              <a:spcAft>
                <a:spcPts val="0"/>
              </a:spcAft>
            </a:pPr>
            <a:r>
              <a:rPr sz="950" b="0">
                <a:solidFill>
                  <a:srgbClr val="6E7079"/>
                </a:solidFill>
                <a:latin typeface="Segoe UI"/>
              </a:rPr>
              <a:t>invoices analysed</a:t>
            </a:r>
          </a:p>
        </p:txBody>
      </p:sp>
      <p:sp>
        <p:nvSpPr>
          <p:cNvPr id="13" name="TextBox 12"/>
          <p:cNvSpPr txBox="1"/>
          <p:nvPr/>
        </p:nvSpPr>
        <p:spPr>
          <a:xfrm>
            <a:off x="8275320" y="1920240"/>
            <a:ext cx="3108960" cy="310896"/>
          </a:xfrm>
          <a:prstGeom prst="rect">
            <a:avLst/>
          </a:prstGeom>
          <a:noFill/>
        </p:spPr>
        <p:txBody>
          <a:bodyPr wrap="square" lIns="0" rIns="0" tIns="0" bIns="0" anchor="t">
            <a:spAutoFit/>
          </a:bodyPr>
          <a:lstStyle/>
          <a:p>
            <a:pPr algn="l">
              <a:lnSpc>
                <a:spcPct val="128000"/>
              </a:lnSpc>
              <a:spcAft>
                <a:spcPts val="0"/>
              </a:spcAft>
            </a:pPr>
            <a:r>
              <a:rPr sz="1900" b="0">
                <a:solidFill>
                  <a:srgbClr val="E9E5DC"/>
                </a:solidFill>
                <a:latin typeface="Consolas"/>
              </a:rPr>
              <a:t>1,203</a:t>
            </a:r>
          </a:p>
        </p:txBody>
      </p:sp>
      <p:sp>
        <p:nvSpPr>
          <p:cNvPr id="14" name="TextBox 13"/>
          <p:cNvSpPr txBox="1"/>
          <p:nvPr/>
        </p:nvSpPr>
        <p:spPr>
          <a:xfrm>
            <a:off x="8275320" y="2203704"/>
            <a:ext cx="3108960" cy="256032"/>
          </a:xfrm>
          <a:prstGeom prst="rect">
            <a:avLst/>
          </a:prstGeom>
          <a:noFill/>
        </p:spPr>
        <p:txBody>
          <a:bodyPr wrap="square" lIns="0" rIns="0" tIns="0" bIns="0" anchor="t">
            <a:spAutoFit/>
          </a:bodyPr>
          <a:lstStyle/>
          <a:p>
            <a:pPr algn="l">
              <a:lnSpc>
                <a:spcPct val="128000"/>
              </a:lnSpc>
              <a:spcAft>
                <a:spcPts val="0"/>
              </a:spcAft>
            </a:pPr>
            <a:r>
              <a:rPr sz="950" b="0">
                <a:solidFill>
                  <a:srgbClr val="6E7079"/>
                </a:solidFill>
                <a:latin typeface="Segoe UI"/>
              </a:rPr>
              <a:t>purchase orders</a:t>
            </a:r>
          </a:p>
        </p:txBody>
      </p:sp>
      <p:sp>
        <p:nvSpPr>
          <p:cNvPr id="15" name="TextBox 14"/>
          <p:cNvSpPr txBox="1"/>
          <p:nvPr/>
        </p:nvSpPr>
        <p:spPr>
          <a:xfrm>
            <a:off x="8275320" y="2523744"/>
            <a:ext cx="3108960" cy="310896"/>
          </a:xfrm>
          <a:prstGeom prst="rect">
            <a:avLst/>
          </a:prstGeom>
          <a:noFill/>
        </p:spPr>
        <p:txBody>
          <a:bodyPr wrap="square" lIns="0" rIns="0" tIns="0" bIns="0" anchor="t">
            <a:spAutoFit/>
          </a:bodyPr>
          <a:lstStyle/>
          <a:p>
            <a:pPr algn="l">
              <a:lnSpc>
                <a:spcPct val="128000"/>
              </a:lnSpc>
              <a:spcAft>
                <a:spcPts val="0"/>
              </a:spcAft>
            </a:pPr>
            <a:r>
              <a:rPr sz="1900" b="0">
                <a:solidFill>
                  <a:srgbClr val="E9E5DC"/>
                </a:solidFill>
                <a:latin typeface="Consolas"/>
              </a:rPr>
              <a:t>118</a:t>
            </a:r>
          </a:p>
        </p:txBody>
      </p:sp>
      <p:sp>
        <p:nvSpPr>
          <p:cNvPr id="16" name="TextBox 15"/>
          <p:cNvSpPr txBox="1"/>
          <p:nvPr/>
        </p:nvSpPr>
        <p:spPr>
          <a:xfrm>
            <a:off x="8275320" y="2807208"/>
            <a:ext cx="3108960" cy="256032"/>
          </a:xfrm>
          <a:prstGeom prst="rect">
            <a:avLst/>
          </a:prstGeom>
          <a:noFill/>
        </p:spPr>
        <p:txBody>
          <a:bodyPr wrap="square" lIns="0" rIns="0" tIns="0" bIns="0" anchor="t">
            <a:spAutoFit/>
          </a:bodyPr>
          <a:lstStyle/>
          <a:p>
            <a:pPr algn="l">
              <a:lnSpc>
                <a:spcPct val="128000"/>
              </a:lnSpc>
              <a:spcAft>
                <a:spcPts val="0"/>
              </a:spcAft>
            </a:pPr>
            <a:r>
              <a:rPr sz="950" b="0">
                <a:solidFill>
                  <a:srgbClr val="6E7079"/>
                </a:solidFill>
                <a:latin typeface="Segoe UI"/>
              </a:rPr>
              <a:t>vendors · 96 resolved entities</a:t>
            </a:r>
          </a:p>
        </p:txBody>
      </p:sp>
      <p:sp>
        <p:nvSpPr>
          <p:cNvPr id="17" name="TextBox 16"/>
          <p:cNvSpPr txBox="1"/>
          <p:nvPr/>
        </p:nvSpPr>
        <p:spPr>
          <a:xfrm>
            <a:off x="8275320" y="3127248"/>
            <a:ext cx="3108960" cy="310896"/>
          </a:xfrm>
          <a:prstGeom prst="rect">
            <a:avLst/>
          </a:prstGeom>
          <a:noFill/>
        </p:spPr>
        <p:txBody>
          <a:bodyPr wrap="square" lIns="0" rIns="0" tIns="0" bIns="0" anchor="t">
            <a:spAutoFit/>
          </a:bodyPr>
          <a:lstStyle/>
          <a:p>
            <a:pPr algn="l">
              <a:lnSpc>
                <a:spcPct val="128000"/>
              </a:lnSpc>
              <a:spcAft>
                <a:spcPts val="0"/>
              </a:spcAft>
            </a:pPr>
            <a:r>
              <a:rPr sz="1900" b="0">
                <a:solidFill>
                  <a:srgbClr val="E9E5DC"/>
                </a:solidFill>
                <a:latin typeface="Consolas"/>
              </a:rPr>
              <a:t>42</a:t>
            </a:r>
          </a:p>
        </p:txBody>
      </p:sp>
      <p:sp>
        <p:nvSpPr>
          <p:cNvPr id="18" name="TextBox 17"/>
          <p:cNvSpPr txBox="1"/>
          <p:nvPr/>
        </p:nvSpPr>
        <p:spPr>
          <a:xfrm>
            <a:off x="8275320" y="3410712"/>
            <a:ext cx="3108960" cy="256032"/>
          </a:xfrm>
          <a:prstGeom prst="rect">
            <a:avLst/>
          </a:prstGeom>
          <a:noFill/>
        </p:spPr>
        <p:txBody>
          <a:bodyPr wrap="square" lIns="0" rIns="0" tIns="0" bIns="0" anchor="t">
            <a:spAutoFit/>
          </a:bodyPr>
          <a:lstStyle/>
          <a:p>
            <a:pPr algn="l">
              <a:lnSpc>
                <a:spcPct val="128000"/>
              </a:lnSpc>
              <a:spcAft>
                <a:spcPts val="0"/>
              </a:spcAft>
            </a:pPr>
            <a:r>
              <a:rPr sz="950" b="0">
                <a:solidFill>
                  <a:srgbClr val="6E7079"/>
                </a:solidFill>
                <a:latin typeface="Segoe UI"/>
              </a:rPr>
              <a:t>detectors across 5 pillars</a:t>
            </a:r>
          </a:p>
        </p:txBody>
      </p:sp>
      <p:sp>
        <p:nvSpPr>
          <p:cNvPr id="19" name="TextBox 18"/>
          <p:cNvSpPr txBox="1"/>
          <p:nvPr/>
        </p:nvSpPr>
        <p:spPr>
          <a:xfrm>
            <a:off x="8275320" y="3730752"/>
            <a:ext cx="3108960" cy="310896"/>
          </a:xfrm>
          <a:prstGeom prst="rect">
            <a:avLst/>
          </a:prstGeom>
          <a:noFill/>
        </p:spPr>
        <p:txBody>
          <a:bodyPr wrap="square" lIns="0" rIns="0" tIns="0" bIns="0" anchor="t">
            <a:spAutoFit/>
          </a:bodyPr>
          <a:lstStyle/>
          <a:p>
            <a:pPr algn="l">
              <a:lnSpc>
                <a:spcPct val="128000"/>
              </a:lnSpc>
              <a:spcAft>
                <a:spcPts val="0"/>
              </a:spcAft>
            </a:pPr>
            <a:r>
              <a:rPr sz="1900" b="0">
                <a:solidFill>
                  <a:srgbClr val="E9E5DC"/>
                </a:solidFill>
                <a:latin typeface="Consolas"/>
              </a:rPr>
              <a:t>163</a:t>
            </a:r>
          </a:p>
        </p:txBody>
      </p:sp>
      <p:sp>
        <p:nvSpPr>
          <p:cNvPr id="20" name="TextBox 19"/>
          <p:cNvSpPr txBox="1"/>
          <p:nvPr/>
        </p:nvSpPr>
        <p:spPr>
          <a:xfrm>
            <a:off x="8275320" y="4014215"/>
            <a:ext cx="3108960" cy="256032"/>
          </a:xfrm>
          <a:prstGeom prst="rect">
            <a:avLst/>
          </a:prstGeom>
          <a:noFill/>
        </p:spPr>
        <p:txBody>
          <a:bodyPr wrap="square" lIns="0" rIns="0" tIns="0" bIns="0" anchor="t">
            <a:spAutoFit/>
          </a:bodyPr>
          <a:lstStyle/>
          <a:p>
            <a:pPr algn="l">
              <a:lnSpc>
                <a:spcPct val="128000"/>
              </a:lnSpc>
              <a:spcAft>
                <a:spcPts val="0"/>
              </a:spcAft>
            </a:pPr>
            <a:r>
              <a:rPr sz="950" b="0">
                <a:solidFill>
                  <a:srgbClr val="6E7079"/>
                </a:solidFill>
                <a:latin typeface="Segoe UI"/>
              </a:rPr>
              <a:t>findings, every one traceable</a:t>
            </a:r>
          </a:p>
        </p:txBody>
      </p:sp>
      <p:sp>
        <p:nvSpPr>
          <p:cNvPr id="21" name="TextBox 20"/>
          <p:cNvSpPr txBox="1"/>
          <p:nvPr/>
        </p:nvSpPr>
        <p:spPr>
          <a:xfrm>
            <a:off x="8275320" y="4334256"/>
            <a:ext cx="3108960" cy="310896"/>
          </a:xfrm>
          <a:prstGeom prst="rect">
            <a:avLst/>
          </a:prstGeom>
          <a:noFill/>
        </p:spPr>
        <p:txBody>
          <a:bodyPr wrap="square" lIns="0" rIns="0" tIns="0" bIns="0" anchor="t">
            <a:spAutoFit/>
          </a:bodyPr>
          <a:lstStyle/>
          <a:p>
            <a:pPr algn="l">
              <a:lnSpc>
                <a:spcPct val="128000"/>
              </a:lnSpc>
              <a:spcAft>
                <a:spcPts val="0"/>
              </a:spcAft>
            </a:pPr>
            <a:r>
              <a:rPr sz="1900" b="0">
                <a:solidFill>
                  <a:srgbClr val="E9E5DC"/>
                </a:solidFill>
                <a:latin typeface="Consolas"/>
              </a:rPr>
              <a:t>94.4%</a:t>
            </a:r>
          </a:p>
        </p:txBody>
      </p:sp>
      <p:sp>
        <p:nvSpPr>
          <p:cNvPr id="22" name="TextBox 21"/>
          <p:cNvSpPr txBox="1"/>
          <p:nvPr/>
        </p:nvSpPr>
        <p:spPr>
          <a:xfrm>
            <a:off x="8275320" y="4617720"/>
            <a:ext cx="3108960" cy="256032"/>
          </a:xfrm>
          <a:prstGeom prst="rect">
            <a:avLst/>
          </a:prstGeom>
          <a:noFill/>
        </p:spPr>
        <p:txBody>
          <a:bodyPr wrap="square" lIns="0" rIns="0" tIns="0" bIns="0" anchor="t">
            <a:spAutoFit/>
          </a:bodyPr>
          <a:lstStyle/>
          <a:p>
            <a:pPr algn="l">
              <a:lnSpc>
                <a:spcPct val="128000"/>
              </a:lnSpc>
              <a:spcAft>
                <a:spcPts val="0"/>
              </a:spcAft>
            </a:pPr>
            <a:r>
              <a:rPr sz="950" b="0">
                <a:solidFill>
                  <a:srgbClr val="6E7079"/>
                </a:solidFill>
                <a:latin typeface="Segoe UI"/>
              </a:rPr>
              <a:t>precision on planted ground truth</a:t>
            </a:r>
          </a:p>
        </p:txBody>
      </p:sp>
      <p:cxnSp>
        <p:nvCxnSpPr>
          <p:cNvPr id="23" name="Connector 22"/>
          <p:cNvCxnSpPr/>
          <p:nvPr/>
        </p:nvCxnSpPr>
        <p:spPr>
          <a:xfrm>
            <a:off x="658368" y="5230368"/>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5394960"/>
            <a:ext cx="9692640" cy="365760"/>
          </a:xfrm>
          <a:prstGeom prst="rect">
            <a:avLst/>
          </a:prstGeom>
          <a:noFill/>
        </p:spPr>
        <p:txBody>
          <a:bodyPr wrap="square" lIns="0" rIns="0" tIns="0" bIns="0" anchor="t">
            <a:spAutoFit/>
          </a:bodyPr>
          <a:lstStyle/>
          <a:p>
            <a:pPr algn="l">
              <a:lnSpc>
                <a:spcPct val="128000"/>
              </a:lnSpc>
              <a:spcAft>
                <a:spcPts val="0"/>
              </a:spcAft>
            </a:pPr>
            <a:r>
              <a:rPr sz="1600" b="0">
                <a:solidFill>
                  <a:srgbClr val="C9A227"/>
                </a:solidFill>
                <a:latin typeface="Georgia"/>
              </a:rPr>
              <a:t>Humans review invoices one at a time. The problems only exist across thousands at once.</a:t>
            </a:r>
          </a:p>
        </p:txBody>
      </p:sp>
      <p:sp>
        <p:nvSpPr>
          <p:cNvPr id="25" name="TextBox 24"/>
          <p:cNvSpPr txBox="1"/>
          <p:nvPr/>
        </p:nvSpPr>
        <p:spPr>
          <a:xfrm>
            <a:off x="658368" y="5961888"/>
            <a:ext cx="8229600" cy="237744"/>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Demo dataset — synthetic, generated for evaluation.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risk.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658368"/>
            <a:ext cx="1097280" cy="274320"/>
          </a:xfrm>
          <a:prstGeom prst="rect">
            <a:avLst/>
          </a:prstGeom>
          <a:noFill/>
        </p:spPr>
        <p:txBody>
          <a:bodyPr wrap="square" lIns="0" rIns="0" tIns="0" bIns="0" anchor="t">
            <a:spAutoFit/>
          </a:bodyPr>
          <a:lstStyle/>
          <a:p>
            <a:pPr algn="l">
              <a:lnSpc>
                <a:spcPct val="128000"/>
              </a:lnSpc>
              <a:spcAft>
                <a:spcPts val="0"/>
              </a:spcAft>
            </a:pPr>
            <a:r>
              <a:rPr sz="1000" b="0">
                <a:solidFill>
                  <a:srgbClr val="6E7079"/>
                </a:solidFill>
                <a:latin typeface="Consolas"/>
              </a:rPr>
              <a:t>01</a:t>
            </a:r>
          </a:p>
        </p:txBody>
      </p:sp>
      <p:sp>
        <p:nvSpPr>
          <p:cNvPr id="5" name="TextBox 4"/>
          <p:cNvSpPr txBox="1"/>
          <p:nvPr/>
        </p:nvSpPr>
        <p:spPr>
          <a:xfrm>
            <a:off x="1225295" y="669340"/>
            <a:ext cx="7315200" cy="201168"/>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P R O B L E M   S T A T E M E N T</a:t>
            </a:r>
          </a:p>
        </p:txBody>
      </p:sp>
      <p:sp>
        <p:nvSpPr>
          <p:cNvPr id="6" name="TextBox 5"/>
          <p:cNvSpPr txBox="1"/>
          <p:nvPr/>
        </p:nvSpPr>
        <p:spPr>
          <a:xfrm>
            <a:off x="658368" y="1005840"/>
            <a:ext cx="10874959" cy="548640"/>
          </a:xfrm>
          <a:prstGeom prst="rect">
            <a:avLst/>
          </a:prstGeom>
          <a:noFill/>
        </p:spPr>
        <p:txBody>
          <a:bodyPr wrap="square" lIns="0" rIns="0" tIns="0" bIns="0" anchor="t">
            <a:spAutoFit/>
          </a:bodyPr>
          <a:lstStyle/>
          <a:p>
            <a:pPr algn="l">
              <a:lnSpc>
                <a:spcPct val="102000"/>
              </a:lnSpc>
              <a:spcAft>
                <a:spcPts val="0"/>
              </a:spcAft>
            </a:pPr>
            <a:r>
              <a:rPr sz="3100" b="0">
                <a:solidFill>
                  <a:srgbClr val="E9E5DC"/>
                </a:solidFill>
                <a:latin typeface="Georgia"/>
              </a:rPr>
              <a:t>Money leaks between documents, not inside them.</a:t>
            </a:r>
          </a:p>
        </p:txBody>
      </p:sp>
      <p:cxnSp>
        <p:nvCxnSpPr>
          <p:cNvPr id="7" name="Connector 6"/>
          <p:cNvCxnSpPr/>
          <p:nvPr/>
        </p:nvCxnSpPr>
        <p:spPr>
          <a:xfrm>
            <a:off x="658368" y="1627632"/>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 y="6437376"/>
            <a:ext cx="10874959"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519672"/>
            <a:ext cx="548640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LedgerLens · procurement forensics</a:t>
            </a:r>
          </a:p>
        </p:txBody>
      </p:sp>
      <p:sp>
        <p:nvSpPr>
          <p:cNvPr id="10" name="TextBox 9"/>
          <p:cNvSpPr txBox="1"/>
          <p:nvPr/>
        </p:nvSpPr>
        <p:spPr>
          <a:xfrm>
            <a:off x="9704527" y="6519672"/>
            <a:ext cx="1828800" cy="219456"/>
          </a:xfrm>
          <a:prstGeom prst="rect">
            <a:avLst/>
          </a:prstGeom>
          <a:noFill/>
        </p:spPr>
        <p:txBody>
          <a:bodyPr wrap="square" lIns="0" rIns="0" tIns="0" bIns="0" anchor="t">
            <a:spAutoFit/>
          </a:bodyPr>
          <a:lstStyle/>
          <a:p>
            <a:pPr algn="r">
              <a:lnSpc>
                <a:spcPct val="128000"/>
              </a:lnSpc>
              <a:spcAft>
                <a:spcPts val="0"/>
              </a:spcAft>
            </a:pPr>
            <a:r>
              <a:rPr sz="800" b="0">
                <a:solidFill>
                  <a:srgbClr val="6E7079"/>
                </a:solidFill>
                <a:latin typeface="Consolas"/>
              </a:rPr>
              <a:t>01 / 07</a:t>
            </a:r>
          </a:p>
        </p:txBody>
      </p:sp>
      <p:cxnSp>
        <p:nvCxnSpPr>
          <p:cNvPr id="11" name="Connector 10"/>
          <p:cNvCxnSpPr/>
          <p:nvPr/>
        </p:nvCxnSpPr>
        <p:spPr>
          <a:xfrm>
            <a:off x="658368" y="1901952"/>
            <a:ext cx="2487168"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8368" y="2029968"/>
            <a:ext cx="2487168" cy="457200"/>
          </a:xfrm>
          <a:prstGeom prst="rect">
            <a:avLst/>
          </a:prstGeom>
          <a:noFill/>
        </p:spPr>
        <p:txBody>
          <a:bodyPr wrap="square" lIns="0" rIns="0" tIns="0" bIns="0" anchor="t">
            <a:spAutoFit/>
          </a:bodyPr>
          <a:lstStyle/>
          <a:p>
            <a:pPr algn="l">
              <a:lnSpc>
                <a:spcPct val="128000"/>
              </a:lnSpc>
              <a:spcAft>
                <a:spcPts val="0"/>
              </a:spcAft>
            </a:pPr>
            <a:r>
              <a:rPr sz="2700" b="0">
                <a:solidFill>
                  <a:srgbClr val="C4503A"/>
                </a:solidFill>
                <a:latin typeface="Georgia"/>
              </a:rPr>
              <a:t>5%</a:t>
            </a:r>
          </a:p>
        </p:txBody>
      </p:sp>
      <p:sp>
        <p:nvSpPr>
          <p:cNvPr id="13" name="TextBox 12"/>
          <p:cNvSpPr txBox="1"/>
          <p:nvPr/>
        </p:nvSpPr>
        <p:spPr>
          <a:xfrm>
            <a:off x="658368" y="2523744"/>
            <a:ext cx="2432304" cy="603504"/>
          </a:xfrm>
          <a:prstGeom prst="rect">
            <a:avLst/>
          </a:prstGeom>
          <a:noFill/>
        </p:spPr>
        <p:txBody>
          <a:bodyPr wrap="square" lIns="0" rIns="0" tIns="0" bIns="0" anchor="t">
            <a:spAutoFit/>
          </a:bodyPr>
          <a:lstStyle/>
          <a:p>
            <a:pPr algn="l">
              <a:lnSpc>
                <a:spcPct val="132000"/>
              </a:lnSpc>
              <a:spcAft>
                <a:spcPts val="0"/>
              </a:spcAft>
            </a:pPr>
            <a:r>
              <a:rPr sz="1050" b="0">
                <a:solidFill>
                  <a:srgbClr val="A8A498"/>
                </a:solidFill>
                <a:latin typeface="Segoe UI"/>
              </a:rPr>
              <a:t>of annual revenue lost to</a:t>
            </a:r>
            <a:br/>
            <a:r>
              <a:rPr sz="1050" b="0">
                <a:solidFill>
                  <a:srgbClr val="A8A498"/>
                </a:solidFill>
                <a:latin typeface="Segoe UI"/>
              </a:rPr>
              <a:t>occupational fraud</a:t>
            </a:r>
          </a:p>
        </p:txBody>
      </p:sp>
      <p:sp>
        <p:nvSpPr>
          <p:cNvPr id="14" name="TextBox 13"/>
          <p:cNvSpPr txBox="1"/>
          <p:nvPr/>
        </p:nvSpPr>
        <p:spPr>
          <a:xfrm>
            <a:off x="658368" y="3145536"/>
            <a:ext cx="2432304" cy="274320"/>
          </a:xfrm>
          <a:prstGeom prst="rect">
            <a:avLst/>
          </a:prstGeom>
          <a:noFill/>
        </p:spPr>
        <p:txBody>
          <a:bodyPr wrap="square" lIns="0" rIns="0" tIns="0" bIns="0" anchor="t">
            <a:spAutoFit/>
          </a:bodyPr>
          <a:lstStyle/>
          <a:p>
            <a:pPr algn="l">
              <a:lnSpc>
                <a:spcPct val="128000"/>
              </a:lnSpc>
              <a:spcAft>
                <a:spcPts val="0"/>
              </a:spcAft>
            </a:pPr>
            <a:r>
              <a:rPr sz="750" b="0">
                <a:solidFill>
                  <a:srgbClr val="6E7079"/>
                </a:solidFill>
                <a:latin typeface="Consolas"/>
              </a:rPr>
              <a:t>ACFE · Report to the Nations 2026</a:t>
            </a:r>
          </a:p>
        </p:txBody>
      </p:sp>
      <p:cxnSp>
        <p:nvCxnSpPr>
          <p:cNvPr id="15" name="Connector 14"/>
          <p:cNvCxnSpPr/>
          <p:nvPr/>
        </p:nvCxnSpPr>
        <p:spPr>
          <a:xfrm>
            <a:off x="3383280" y="1901952"/>
            <a:ext cx="2487168"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83280" y="2029968"/>
            <a:ext cx="2487168" cy="457200"/>
          </a:xfrm>
          <a:prstGeom prst="rect">
            <a:avLst/>
          </a:prstGeom>
          <a:noFill/>
        </p:spPr>
        <p:txBody>
          <a:bodyPr wrap="square" lIns="0" rIns="0" tIns="0" bIns="0" anchor="t">
            <a:spAutoFit/>
          </a:bodyPr>
          <a:lstStyle/>
          <a:p>
            <a:pPr algn="l">
              <a:lnSpc>
                <a:spcPct val="128000"/>
              </a:lnSpc>
              <a:spcAft>
                <a:spcPts val="0"/>
              </a:spcAft>
            </a:pPr>
            <a:r>
              <a:rPr sz="2700" b="0">
                <a:solidFill>
                  <a:srgbClr val="C4503A"/>
                </a:solidFill>
                <a:latin typeface="Georgia"/>
              </a:rPr>
              <a:t>0.8–2%</a:t>
            </a:r>
          </a:p>
        </p:txBody>
      </p:sp>
      <p:sp>
        <p:nvSpPr>
          <p:cNvPr id="17" name="TextBox 16"/>
          <p:cNvSpPr txBox="1"/>
          <p:nvPr/>
        </p:nvSpPr>
        <p:spPr>
          <a:xfrm>
            <a:off x="3383280" y="2523744"/>
            <a:ext cx="2432304" cy="603504"/>
          </a:xfrm>
          <a:prstGeom prst="rect">
            <a:avLst/>
          </a:prstGeom>
          <a:noFill/>
        </p:spPr>
        <p:txBody>
          <a:bodyPr wrap="square" lIns="0" rIns="0" tIns="0" bIns="0" anchor="t">
            <a:spAutoFit/>
          </a:bodyPr>
          <a:lstStyle/>
          <a:p>
            <a:pPr algn="l">
              <a:lnSpc>
                <a:spcPct val="132000"/>
              </a:lnSpc>
              <a:spcAft>
                <a:spcPts val="0"/>
              </a:spcAft>
            </a:pPr>
            <a:r>
              <a:rPr sz="1050" b="0">
                <a:solidFill>
                  <a:srgbClr val="A8A498"/>
                </a:solidFill>
                <a:latin typeface="Segoe UI"/>
              </a:rPr>
              <a:t>of total disbursements are</a:t>
            </a:r>
            <a:br/>
            <a:r>
              <a:rPr sz="1050" b="0">
                <a:solidFill>
                  <a:srgbClr val="A8A498"/>
                </a:solidFill>
                <a:latin typeface="Segoe UI"/>
              </a:rPr>
              <a:t>duplicate or erroneous payments</a:t>
            </a:r>
          </a:p>
        </p:txBody>
      </p:sp>
      <p:sp>
        <p:nvSpPr>
          <p:cNvPr id="18" name="TextBox 17"/>
          <p:cNvSpPr txBox="1"/>
          <p:nvPr/>
        </p:nvSpPr>
        <p:spPr>
          <a:xfrm>
            <a:off x="3383280" y="3145536"/>
            <a:ext cx="2432304" cy="274320"/>
          </a:xfrm>
          <a:prstGeom prst="rect">
            <a:avLst/>
          </a:prstGeom>
          <a:noFill/>
        </p:spPr>
        <p:txBody>
          <a:bodyPr wrap="square" lIns="0" rIns="0" tIns="0" bIns="0" anchor="t">
            <a:spAutoFit/>
          </a:bodyPr>
          <a:lstStyle/>
          <a:p>
            <a:pPr algn="l">
              <a:lnSpc>
                <a:spcPct val="128000"/>
              </a:lnSpc>
              <a:spcAft>
                <a:spcPts val="0"/>
              </a:spcAft>
            </a:pPr>
            <a:r>
              <a:rPr sz="750" b="0">
                <a:solidFill>
                  <a:srgbClr val="6E7079"/>
                </a:solidFill>
                <a:latin typeface="Consolas"/>
              </a:rPr>
              <a:t>APQC / IOFM benchmarks</a:t>
            </a:r>
          </a:p>
        </p:txBody>
      </p:sp>
      <p:cxnSp>
        <p:nvCxnSpPr>
          <p:cNvPr id="19" name="Connector 18"/>
          <p:cNvCxnSpPr/>
          <p:nvPr/>
        </p:nvCxnSpPr>
        <p:spPr>
          <a:xfrm>
            <a:off x="6108192" y="1901952"/>
            <a:ext cx="2487168"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08192" y="2029968"/>
            <a:ext cx="2487168" cy="457200"/>
          </a:xfrm>
          <a:prstGeom prst="rect">
            <a:avLst/>
          </a:prstGeom>
          <a:noFill/>
        </p:spPr>
        <p:txBody>
          <a:bodyPr wrap="square" lIns="0" rIns="0" tIns="0" bIns="0" anchor="t">
            <a:spAutoFit/>
          </a:bodyPr>
          <a:lstStyle/>
          <a:p>
            <a:pPr algn="l">
              <a:lnSpc>
                <a:spcPct val="128000"/>
              </a:lnSpc>
              <a:spcAft>
                <a:spcPts val="0"/>
              </a:spcAft>
            </a:pPr>
            <a:r>
              <a:rPr sz="2700" b="0">
                <a:solidFill>
                  <a:srgbClr val="C4503A"/>
                </a:solidFill>
                <a:latin typeface="Georgia"/>
              </a:rPr>
              <a:t>12 months</a:t>
            </a:r>
          </a:p>
        </p:txBody>
      </p:sp>
      <p:sp>
        <p:nvSpPr>
          <p:cNvPr id="21" name="TextBox 20"/>
          <p:cNvSpPr txBox="1"/>
          <p:nvPr/>
        </p:nvSpPr>
        <p:spPr>
          <a:xfrm>
            <a:off x="6108192" y="2523744"/>
            <a:ext cx="2432304" cy="603504"/>
          </a:xfrm>
          <a:prstGeom prst="rect">
            <a:avLst/>
          </a:prstGeom>
          <a:noFill/>
        </p:spPr>
        <p:txBody>
          <a:bodyPr wrap="square" lIns="0" rIns="0" tIns="0" bIns="0" anchor="t">
            <a:spAutoFit/>
          </a:bodyPr>
          <a:lstStyle/>
          <a:p>
            <a:pPr algn="l">
              <a:lnSpc>
                <a:spcPct val="132000"/>
              </a:lnSpc>
              <a:spcAft>
                <a:spcPts val="0"/>
              </a:spcAft>
            </a:pPr>
            <a:r>
              <a:rPr sz="1050" b="0">
                <a:solidFill>
                  <a:srgbClr val="A8A498"/>
                </a:solidFill>
                <a:latin typeface="Segoe UI"/>
              </a:rPr>
              <a:t>median time a scheme runs</a:t>
            </a:r>
            <a:br/>
            <a:r>
              <a:rPr sz="1050" b="0">
                <a:solidFill>
                  <a:srgbClr val="A8A498"/>
                </a:solidFill>
                <a:latin typeface="Segoe UI"/>
              </a:rPr>
              <a:t>before anyone notices</a:t>
            </a:r>
          </a:p>
        </p:txBody>
      </p:sp>
      <p:sp>
        <p:nvSpPr>
          <p:cNvPr id="22" name="TextBox 21"/>
          <p:cNvSpPr txBox="1"/>
          <p:nvPr/>
        </p:nvSpPr>
        <p:spPr>
          <a:xfrm>
            <a:off x="6108192" y="3145536"/>
            <a:ext cx="2432304" cy="274320"/>
          </a:xfrm>
          <a:prstGeom prst="rect">
            <a:avLst/>
          </a:prstGeom>
          <a:noFill/>
        </p:spPr>
        <p:txBody>
          <a:bodyPr wrap="square" lIns="0" rIns="0" tIns="0" bIns="0" anchor="t">
            <a:spAutoFit/>
          </a:bodyPr>
          <a:lstStyle/>
          <a:p>
            <a:pPr algn="l">
              <a:lnSpc>
                <a:spcPct val="128000"/>
              </a:lnSpc>
              <a:spcAft>
                <a:spcPts val="0"/>
              </a:spcAft>
            </a:pPr>
            <a:r>
              <a:rPr sz="750" b="0">
                <a:solidFill>
                  <a:srgbClr val="6E7079"/>
                </a:solidFill>
                <a:latin typeface="Consolas"/>
              </a:rPr>
              <a:t>ACFE 2026</a:t>
            </a:r>
          </a:p>
        </p:txBody>
      </p:sp>
      <p:cxnSp>
        <p:nvCxnSpPr>
          <p:cNvPr id="23" name="Connector 22"/>
          <p:cNvCxnSpPr/>
          <p:nvPr/>
        </p:nvCxnSpPr>
        <p:spPr>
          <a:xfrm>
            <a:off x="8833104" y="1901952"/>
            <a:ext cx="2487168"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33104" y="2029968"/>
            <a:ext cx="2487168" cy="457200"/>
          </a:xfrm>
          <a:prstGeom prst="rect">
            <a:avLst/>
          </a:prstGeom>
          <a:noFill/>
        </p:spPr>
        <p:txBody>
          <a:bodyPr wrap="square" lIns="0" rIns="0" tIns="0" bIns="0" anchor="t">
            <a:spAutoFit/>
          </a:bodyPr>
          <a:lstStyle/>
          <a:p>
            <a:pPr algn="l">
              <a:lnSpc>
                <a:spcPct val="128000"/>
              </a:lnSpc>
              <a:spcAft>
                <a:spcPts val="0"/>
              </a:spcAft>
            </a:pPr>
            <a:r>
              <a:rPr sz="2700" b="0">
                <a:solidFill>
                  <a:srgbClr val="C4503A"/>
                </a:solidFill>
                <a:latin typeface="Georgia"/>
              </a:rPr>
              <a:t>43%</a:t>
            </a:r>
          </a:p>
        </p:txBody>
      </p:sp>
      <p:sp>
        <p:nvSpPr>
          <p:cNvPr id="25" name="TextBox 24"/>
          <p:cNvSpPr txBox="1"/>
          <p:nvPr/>
        </p:nvSpPr>
        <p:spPr>
          <a:xfrm>
            <a:off x="8833104" y="2523744"/>
            <a:ext cx="2432304" cy="603504"/>
          </a:xfrm>
          <a:prstGeom prst="rect">
            <a:avLst/>
          </a:prstGeom>
          <a:noFill/>
        </p:spPr>
        <p:txBody>
          <a:bodyPr wrap="square" lIns="0" rIns="0" tIns="0" bIns="0" anchor="t">
            <a:spAutoFit/>
          </a:bodyPr>
          <a:lstStyle/>
          <a:p>
            <a:pPr algn="l">
              <a:lnSpc>
                <a:spcPct val="132000"/>
              </a:lnSpc>
              <a:spcAft>
                <a:spcPts val="0"/>
              </a:spcAft>
            </a:pPr>
            <a:r>
              <a:rPr sz="1050" b="0">
                <a:solidFill>
                  <a:srgbClr val="A8A498"/>
                </a:solidFill>
                <a:latin typeface="Segoe UI"/>
              </a:rPr>
              <a:t>of frauds are found by an</a:t>
            </a:r>
            <a:br/>
            <a:r>
              <a:rPr sz="1050" b="0">
                <a:solidFill>
                  <a:srgbClr val="A8A498"/>
                </a:solidFill>
                <a:latin typeface="Segoe UI"/>
              </a:rPr>
              <a:t>employee tip — not by software</a:t>
            </a:r>
          </a:p>
        </p:txBody>
      </p:sp>
      <p:sp>
        <p:nvSpPr>
          <p:cNvPr id="26" name="TextBox 25"/>
          <p:cNvSpPr txBox="1"/>
          <p:nvPr/>
        </p:nvSpPr>
        <p:spPr>
          <a:xfrm>
            <a:off x="8833104" y="3145536"/>
            <a:ext cx="2432304" cy="274320"/>
          </a:xfrm>
          <a:prstGeom prst="rect">
            <a:avLst/>
          </a:prstGeom>
          <a:noFill/>
        </p:spPr>
        <p:txBody>
          <a:bodyPr wrap="square" lIns="0" rIns="0" tIns="0" bIns="0" anchor="t">
            <a:spAutoFit/>
          </a:bodyPr>
          <a:lstStyle/>
          <a:p>
            <a:pPr algn="l">
              <a:lnSpc>
                <a:spcPct val="128000"/>
              </a:lnSpc>
              <a:spcAft>
                <a:spcPts val="0"/>
              </a:spcAft>
            </a:pPr>
            <a:r>
              <a:rPr sz="750" b="0">
                <a:solidFill>
                  <a:srgbClr val="6E7079"/>
                </a:solidFill>
                <a:latin typeface="Consolas"/>
              </a:rPr>
              <a:t>ACFE 2026</a:t>
            </a:r>
          </a:p>
        </p:txBody>
      </p:sp>
      <p:sp>
        <p:nvSpPr>
          <p:cNvPr id="27" name="TextBox 26"/>
          <p:cNvSpPr txBox="1"/>
          <p:nvPr/>
        </p:nvSpPr>
        <p:spPr>
          <a:xfrm>
            <a:off x="658368" y="3712464"/>
            <a:ext cx="7315200" cy="256032"/>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Consolas"/>
              </a:rPr>
              <a:t>W H E R E   I T   L E A V E S</a:t>
            </a:r>
          </a:p>
        </p:txBody>
      </p:sp>
      <p:sp>
        <p:nvSpPr>
          <p:cNvPr id="28" name="Rectangle 27"/>
          <p:cNvSpPr/>
          <p:nvPr/>
        </p:nvSpPr>
        <p:spPr>
          <a:xfrm>
            <a:off x="658368" y="4096512"/>
            <a:ext cx="1810512" cy="51206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4251960"/>
            <a:ext cx="1810512" cy="274320"/>
          </a:xfrm>
          <a:prstGeom prst="rect">
            <a:avLst/>
          </a:prstGeom>
          <a:noFill/>
        </p:spPr>
        <p:txBody>
          <a:bodyPr wrap="square" lIns="0" rIns="0" tIns="0" bIns="0" anchor="t">
            <a:spAutoFit/>
          </a:bodyPr>
          <a:lstStyle/>
          <a:p>
            <a:pPr algn="ctr">
              <a:lnSpc>
                <a:spcPct val="128000"/>
              </a:lnSpc>
              <a:spcAft>
                <a:spcPts val="0"/>
              </a:spcAft>
            </a:pPr>
            <a:r>
              <a:rPr sz="1150" b="0">
                <a:solidFill>
                  <a:srgbClr val="E9E5DC"/>
                </a:solidFill>
                <a:latin typeface="Segoe UI"/>
              </a:rPr>
              <a:t>Requisition</a:t>
            </a:r>
          </a:p>
        </p:txBody>
      </p:sp>
      <p:cxnSp>
        <p:nvCxnSpPr>
          <p:cNvPr id="30" name="Connector 29"/>
          <p:cNvCxnSpPr/>
          <p:nvPr/>
        </p:nvCxnSpPr>
        <p:spPr>
          <a:xfrm>
            <a:off x="2523744" y="4352544"/>
            <a:ext cx="365760" cy="0"/>
          </a:xfrm>
          <a:prstGeom prst="line">
            <a:avLst/>
          </a:prstGeom>
          <a:ln w="12700">
            <a:solidFill>
              <a:srgbClr val="A8A498"/>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706624" y="4663440"/>
            <a:ext cx="0" cy="384048"/>
          </a:xfrm>
          <a:prstGeom prst="line">
            <a:avLst/>
          </a:prstGeom>
          <a:ln w="12700">
            <a:solidFill>
              <a:srgbClr val="C4503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865376" y="5065776"/>
            <a:ext cx="1682496" cy="566928"/>
          </a:xfrm>
          <a:prstGeom prst="rect">
            <a:avLst/>
          </a:prstGeom>
          <a:noFill/>
          <a:ln w="11430">
            <a:solidFill>
              <a:srgbClr val="7A32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920240" y="5148072"/>
            <a:ext cx="1572768" cy="420624"/>
          </a:xfrm>
          <a:prstGeom prst="rect">
            <a:avLst/>
          </a:prstGeom>
          <a:noFill/>
        </p:spPr>
        <p:txBody>
          <a:bodyPr wrap="square" lIns="0" rIns="0" tIns="0" bIns="0" anchor="t">
            <a:spAutoFit/>
          </a:bodyPr>
          <a:lstStyle/>
          <a:p>
            <a:pPr algn="ctr">
              <a:lnSpc>
                <a:spcPct val="124000"/>
              </a:lnSpc>
              <a:spcAft>
                <a:spcPts val="0"/>
              </a:spcAft>
            </a:pPr>
            <a:r>
              <a:rPr sz="900" b="0">
                <a:solidFill>
                  <a:srgbClr val="C4503A"/>
                </a:solidFill>
                <a:latin typeface="Consolas"/>
              </a:rPr>
              <a:t>no competitive</a:t>
            </a:r>
            <a:br/>
            <a:r>
              <a:rPr sz="900" b="0">
                <a:solidFill>
                  <a:srgbClr val="C4503A"/>
                </a:solidFill>
                <a:latin typeface="Consolas"/>
              </a:rPr>
              <a:t>quotes obtained</a:t>
            </a:r>
          </a:p>
        </p:txBody>
      </p:sp>
      <p:sp>
        <p:nvSpPr>
          <p:cNvPr id="34" name="Rectangle 33"/>
          <p:cNvSpPr/>
          <p:nvPr/>
        </p:nvSpPr>
        <p:spPr>
          <a:xfrm>
            <a:off x="2944368" y="4096512"/>
            <a:ext cx="1810512" cy="51206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2944368" y="4251960"/>
            <a:ext cx="1810512" cy="274320"/>
          </a:xfrm>
          <a:prstGeom prst="rect">
            <a:avLst/>
          </a:prstGeom>
          <a:noFill/>
        </p:spPr>
        <p:txBody>
          <a:bodyPr wrap="square" lIns="0" rIns="0" tIns="0" bIns="0" anchor="t">
            <a:spAutoFit/>
          </a:bodyPr>
          <a:lstStyle/>
          <a:p>
            <a:pPr algn="ctr">
              <a:lnSpc>
                <a:spcPct val="128000"/>
              </a:lnSpc>
              <a:spcAft>
                <a:spcPts val="0"/>
              </a:spcAft>
            </a:pPr>
            <a:r>
              <a:rPr sz="1150" b="0">
                <a:solidFill>
                  <a:srgbClr val="E9E5DC"/>
                </a:solidFill>
                <a:latin typeface="Segoe UI"/>
              </a:rPr>
              <a:t>Purchase Order</a:t>
            </a:r>
          </a:p>
        </p:txBody>
      </p:sp>
      <p:cxnSp>
        <p:nvCxnSpPr>
          <p:cNvPr id="36" name="Connector 35"/>
          <p:cNvCxnSpPr/>
          <p:nvPr/>
        </p:nvCxnSpPr>
        <p:spPr>
          <a:xfrm>
            <a:off x="4809743" y="4352544"/>
            <a:ext cx="365760" cy="0"/>
          </a:xfrm>
          <a:prstGeom prst="line">
            <a:avLst/>
          </a:prstGeom>
          <a:ln w="12700">
            <a:solidFill>
              <a:srgbClr val="A8A498"/>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992623" y="4663440"/>
            <a:ext cx="0" cy="384048"/>
          </a:xfrm>
          <a:prstGeom prst="line">
            <a:avLst/>
          </a:prstGeom>
          <a:ln w="12700">
            <a:solidFill>
              <a:srgbClr val="C4503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4151375" y="5065776"/>
            <a:ext cx="1682496" cy="566928"/>
          </a:xfrm>
          <a:prstGeom prst="rect">
            <a:avLst/>
          </a:prstGeom>
          <a:noFill/>
          <a:ln w="11430">
            <a:solidFill>
              <a:srgbClr val="7A32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206239" y="5148072"/>
            <a:ext cx="1572768" cy="420624"/>
          </a:xfrm>
          <a:prstGeom prst="rect">
            <a:avLst/>
          </a:prstGeom>
          <a:noFill/>
        </p:spPr>
        <p:txBody>
          <a:bodyPr wrap="square" lIns="0" rIns="0" tIns="0" bIns="0" anchor="t">
            <a:spAutoFit/>
          </a:bodyPr>
          <a:lstStyle/>
          <a:p>
            <a:pPr algn="ctr">
              <a:lnSpc>
                <a:spcPct val="124000"/>
              </a:lnSpc>
              <a:spcAft>
                <a:spcPts val="0"/>
              </a:spcAft>
            </a:pPr>
            <a:r>
              <a:rPr sz="900" b="0">
                <a:solidFill>
                  <a:srgbClr val="C4503A"/>
                </a:solidFill>
                <a:latin typeface="Consolas"/>
              </a:rPr>
              <a:t>goods never</a:t>
            </a:r>
            <a:br/>
            <a:r>
              <a:rPr sz="900" b="0">
                <a:solidFill>
                  <a:srgbClr val="C4503A"/>
                </a:solidFill>
                <a:latin typeface="Consolas"/>
              </a:rPr>
              <a:t>verified</a:t>
            </a:r>
          </a:p>
        </p:txBody>
      </p:sp>
      <p:sp>
        <p:nvSpPr>
          <p:cNvPr id="40" name="Rectangle 39"/>
          <p:cNvSpPr/>
          <p:nvPr/>
        </p:nvSpPr>
        <p:spPr>
          <a:xfrm>
            <a:off x="5230368" y="4096512"/>
            <a:ext cx="1810512" cy="51206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230368" y="4251960"/>
            <a:ext cx="1810512" cy="274320"/>
          </a:xfrm>
          <a:prstGeom prst="rect">
            <a:avLst/>
          </a:prstGeom>
          <a:noFill/>
        </p:spPr>
        <p:txBody>
          <a:bodyPr wrap="square" lIns="0" rIns="0" tIns="0" bIns="0" anchor="t">
            <a:spAutoFit/>
          </a:bodyPr>
          <a:lstStyle/>
          <a:p>
            <a:pPr algn="ctr">
              <a:lnSpc>
                <a:spcPct val="128000"/>
              </a:lnSpc>
              <a:spcAft>
                <a:spcPts val="0"/>
              </a:spcAft>
            </a:pPr>
            <a:r>
              <a:rPr sz="1150" b="0">
                <a:solidFill>
                  <a:srgbClr val="E9E5DC"/>
                </a:solidFill>
                <a:latin typeface="Segoe UI"/>
              </a:rPr>
              <a:t>Goods Receipt</a:t>
            </a:r>
          </a:p>
        </p:txBody>
      </p:sp>
      <p:cxnSp>
        <p:nvCxnSpPr>
          <p:cNvPr id="42" name="Connector 41"/>
          <p:cNvCxnSpPr/>
          <p:nvPr/>
        </p:nvCxnSpPr>
        <p:spPr>
          <a:xfrm>
            <a:off x="7095743" y="4352544"/>
            <a:ext cx="365760" cy="0"/>
          </a:xfrm>
          <a:prstGeom prst="line">
            <a:avLst/>
          </a:prstGeom>
          <a:ln w="12700">
            <a:solidFill>
              <a:srgbClr val="A8A498"/>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278623" y="4663440"/>
            <a:ext cx="0" cy="384048"/>
          </a:xfrm>
          <a:prstGeom prst="line">
            <a:avLst/>
          </a:prstGeom>
          <a:ln w="12700">
            <a:solidFill>
              <a:srgbClr val="C4503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437375" y="5065776"/>
            <a:ext cx="1682496" cy="566928"/>
          </a:xfrm>
          <a:prstGeom prst="rect">
            <a:avLst/>
          </a:prstGeom>
          <a:noFill/>
          <a:ln w="11430">
            <a:solidFill>
              <a:srgbClr val="7A32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92239" y="5148072"/>
            <a:ext cx="1572768" cy="420624"/>
          </a:xfrm>
          <a:prstGeom prst="rect">
            <a:avLst/>
          </a:prstGeom>
          <a:noFill/>
        </p:spPr>
        <p:txBody>
          <a:bodyPr wrap="square" lIns="0" rIns="0" tIns="0" bIns="0" anchor="t">
            <a:spAutoFit/>
          </a:bodyPr>
          <a:lstStyle/>
          <a:p>
            <a:pPr algn="ctr">
              <a:lnSpc>
                <a:spcPct val="124000"/>
              </a:lnSpc>
              <a:spcAft>
                <a:spcPts val="0"/>
              </a:spcAft>
            </a:pPr>
            <a:r>
              <a:rPr sz="900" b="0">
                <a:solidFill>
                  <a:srgbClr val="C4503A"/>
                </a:solidFill>
                <a:latin typeface="Consolas"/>
              </a:rPr>
              <a:t>billed ≠</a:t>
            </a:r>
            <a:br/>
            <a:r>
              <a:rPr sz="900" b="0">
                <a:solidFill>
                  <a:srgbClr val="C4503A"/>
                </a:solidFill>
                <a:latin typeface="Consolas"/>
              </a:rPr>
              <a:t>ordered</a:t>
            </a:r>
          </a:p>
        </p:txBody>
      </p:sp>
      <p:sp>
        <p:nvSpPr>
          <p:cNvPr id="46" name="Rectangle 45"/>
          <p:cNvSpPr/>
          <p:nvPr/>
        </p:nvSpPr>
        <p:spPr>
          <a:xfrm>
            <a:off x="7516367" y="4096512"/>
            <a:ext cx="1810512" cy="51206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516367" y="4251960"/>
            <a:ext cx="1810512" cy="274320"/>
          </a:xfrm>
          <a:prstGeom prst="rect">
            <a:avLst/>
          </a:prstGeom>
          <a:noFill/>
        </p:spPr>
        <p:txBody>
          <a:bodyPr wrap="square" lIns="0" rIns="0" tIns="0" bIns="0" anchor="t">
            <a:spAutoFit/>
          </a:bodyPr>
          <a:lstStyle/>
          <a:p>
            <a:pPr algn="ctr">
              <a:lnSpc>
                <a:spcPct val="128000"/>
              </a:lnSpc>
              <a:spcAft>
                <a:spcPts val="0"/>
              </a:spcAft>
            </a:pPr>
            <a:r>
              <a:rPr sz="1150" b="0">
                <a:solidFill>
                  <a:srgbClr val="E9E5DC"/>
                </a:solidFill>
                <a:latin typeface="Segoe UI"/>
              </a:rPr>
              <a:t>Invoice</a:t>
            </a:r>
          </a:p>
        </p:txBody>
      </p:sp>
      <p:cxnSp>
        <p:nvCxnSpPr>
          <p:cNvPr id="48" name="Connector 47"/>
          <p:cNvCxnSpPr/>
          <p:nvPr/>
        </p:nvCxnSpPr>
        <p:spPr>
          <a:xfrm>
            <a:off x="9381744" y="4352544"/>
            <a:ext cx="365760" cy="0"/>
          </a:xfrm>
          <a:prstGeom prst="line">
            <a:avLst/>
          </a:prstGeom>
          <a:ln w="12700">
            <a:solidFill>
              <a:srgbClr val="A8A498"/>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564624" y="4663440"/>
            <a:ext cx="0" cy="384048"/>
          </a:xfrm>
          <a:prstGeom prst="line">
            <a:avLst/>
          </a:prstGeom>
          <a:ln w="12700">
            <a:solidFill>
              <a:srgbClr val="C4503A"/>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8723376" y="5065776"/>
            <a:ext cx="1682496" cy="566928"/>
          </a:xfrm>
          <a:prstGeom prst="rect">
            <a:avLst/>
          </a:prstGeom>
          <a:noFill/>
          <a:ln w="11430">
            <a:solidFill>
              <a:srgbClr val="7A32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778240" y="5148072"/>
            <a:ext cx="1572768" cy="420624"/>
          </a:xfrm>
          <a:prstGeom prst="rect">
            <a:avLst/>
          </a:prstGeom>
          <a:noFill/>
        </p:spPr>
        <p:txBody>
          <a:bodyPr wrap="square" lIns="0" rIns="0" tIns="0" bIns="0" anchor="t">
            <a:spAutoFit/>
          </a:bodyPr>
          <a:lstStyle/>
          <a:p>
            <a:pPr algn="ctr">
              <a:lnSpc>
                <a:spcPct val="124000"/>
              </a:lnSpc>
              <a:spcAft>
                <a:spcPts val="0"/>
              </a:spcAft>
            </a:pPr>
            <a:r>
              <a:rPr sz="900" b="0">
                <a:solidFill>
                  <a:srgbClr val="C4503A"/>
                </a:solidFill>
                <a:latin typeface="Consolas"/>
              </a:rPr>
              <a:t>paid</a:t>
            </a:r>
            <a:br/>
            <a:r>
              <a:rPr sz="900" b="0">
                <a:solidFill>
                  <a:srgbClr val="C4503A"/>
                </a:solidFill>
                <a:latin typeface="Consolas"/>
              </a:rPr>
              <a:t>twice</a:t>
            </a:r>
          </a:p>
        </p:txBody>
      </p:sp>
      <p:sp>
        <p:nvSpPr>
          <p:cNvPr id="52" name="Rectangle 51"/>
          <p:cNvSpPr/>
          <p:nvPr/>
        </p:nvSpPr>
        <p:spPr>
          <a:xfrm>
            <a:off x="9802367" y="4096512"/>
            <a:ext cx="1810512" cy="51206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802367" y="4251960"/>
            <a:ext cx="1810512" cy="274320"/>
          </a:xfrm>
          <a:prstGeom prst="rect">
            <a:avLst/>
          </a:prstGeom>
          <a:noFill/>
        </p:spPr>
        <p:txBody>
          <a:bodyPr wrap="square" lIns="0" rIns="0" tIns="0" bIns="0" anchor="t">
            <a:spAutoFit/>
          </a:bodyPr>
          <a:lstStyle/>
          <a:p>
            <a:pPr algn="ctr">
              <a:lnSpc>
                <a:spcPct val="128000"/>
              </a:lnSpc>
              <a:spcAft>
                <a:spcPts val="0"/>
              </a:spcAft>
            </a:pPr>
            <a:r>
              <a:rPr sz="1150" b="0">
                <a:solidFill>
                  <a:srgbClr val="E9E5DC"/>
                </a:solidFill>
                <a:latin typeface="Segoe UI"/>
              </a:rPr>
              <a:t>Payment</a:t>
            </a:r>
          </a:p>
        </p:txBody>
      </p:sp>
      <p:sp>
        <p:nvSpPr>
          <p:cNvPr id="54" name="TextBox 53"/>
          <p:cNvSpPr txBox="1"/>
          <p:nvPr/>
        </p:nvSpPr>
        <p:spPr>
          <a:xfrm>
            <a:off x="658368" y="5815584"/>
            <a:ext cx="10881360" cy="365760"/>
          </a:xfrm>
          <a:prstGeom prst="rect">
            <a:avLst/>
          </a:prstGeom>
          <a:noFill/>
        </p:spPr>
        <p:txBody>
          <a:bodyPr wrap="square" lIns="0" rIns="0" tIns="0" bIns="0" anchor="t">
            <a:spAutoFit/>
          </a:bodyPr>
          <a:lstStyle/>
          <a:p>
            <a:pPr algn="l">
              <a:lnSpc>
                <a:spcPct val="128000"/>
              </a:lnSpc>
              <a:spcAft>
                <a:spcPts val="0"/>
              </a:spcAft>
            </a:pPr>
            <a:r>
              <a:rPr sz="1250" b="0">
                <a:solidFill>
                  <a:srgbClr val="A8A498"/>
                </a:solidFill>
                <a:latin typeface="Georgia"/>
              </a:rPr>
              <a:t>Four documents. Four different people. Often four different systems. </a:t>
            </a:r>
            <a:r>
              <a:rPr sz="1250" b="0">
                <a:solidFill>
                  <a:srgbClr val="C4503A"/>
                </a:solidFill>
                <a:latin typeface="Georgia"/>
              </a:rPr>
              <a:t>Every gap is where money leaves.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ontent.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658368"/>
            <a:ext cx="1097280" cy="274320"/>
          </a:xfrm>
          <a:prstGeom prst="rect">
            <a:avLst/>
          </a:prstGeom>
          <a:noFill/>
        </p:spPr>
        <p:txBody>
          <a:bodyPr wrap="square" lIns="0" rIns="0" tIns="0" bIns="0" anchor="t">
            <a:spAutoFit/>
          </a:bodyPr>
          <a:lstStyle/>
          <a:p>
            <a:pPr algn="l">
              <a:lnSpc>
                <a:spcPct val="128000"/>
              </a:lnSpc>
              <a:spcAft>
                <a:spcPts val="0"/>
              </a:spcAft>
            </a:pPr>
            <a:r>
              <a:rPr sz="1000" b="0">
                <a:solidFill>
                  <a:srgbClr val="6E7079"/>
                </a:solidFill>
                <a:latin typeface="Consolas"/>
              </a:rPr>
              <a:t>02</a:t>
            </a:r>
          </a:p>
        </p:txBody>
      </p:sp>
      <p:sp>
        <p:nvSpPr>
          <p:cNvPr id="5" name="TextBox 4"/>
          <p:cNvSpPr txBox="1"/>
          <p:nvPr/>
        </p:nvSpPr>
        <p:spPr>
          <a:xfrm>
            <a:off x="1225295" y="669340"/>
            <a:ext cx="7315200" cy="201168"/>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P R O P O S E D   S O L U T I O N</a:t>
            </a:r>
          </a:p>
        </p:txBody>
      </p:sp>
      <p:sp>
        <p:nvSpPr>
          <p:cNvPr id="6" name="TextBox 5"/>
          <p:cNvSpPr txBox="1"/>
          <p:nvPr/>
        </p:nvSpPr>
        <p:spPr>
          <a:xfrm>
            <a:off x="658368" y="1005840"/>
            <a:ext cx="10874959" cy="548640"/>
          </a:xfrm>
          <a:prstGeom prst="rect">
            <a:avLst/>
          </a:prstGeom>
          <a:noFill/>
        </p:spPr>
        <p:txBody>
          <a:bodyPr wrap="square" lIns="0" rIns="0" tIns="0" bIns="0" anchor="t">
            <a:spAutoFit/>
          </a:bodyPr>
          <a:lstStyle/>
          <a:p>
            <a:pPr algn="l">
              <a:lnSpc>
                <a:spcPct val="102000"/>
              </a:lnSpc>
              <a:spcAft>
                <a:spcPts val="0"/>
              </a:spcAft>
            </a:pPr>
            <a:r>
              <a:rPr sz="3100" b="0">
                <a:solidFill>
                  <a:srgbClr val="E9E5DC"/>
                </a:solidFill>
                <a:latin typeface="Georgia"/>
              </a:rPr>
              <a:t>Read the whole corpus at once, then prove what you found.</a:t>
            </a:r>
          </a:p>
        </p:txBody>
      </p:sp>
      <p:cxnSp>
        <p:nvCxnSpPr>
          <p:cNvPr id="7" name="Connector 6"/>
          <p:cNvCxnSpPr/>
          <p:nvPr/>
        </p:nvCxnSpPr>
        <p:spPr>
          <a:xfrm>
            <a:off x="658368" y="1627632"/>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 y="6437376"/>
            <a:ext cx="10874959"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519672"/>
            <a:ext cx="548640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LedgerLens · procurement forensics</a:t>
            </a:r>
          </a:p>
        </p:txBody>
      </p:sp>
      <p:sp>
        <p:nvSpPr>
          <p:cNvPr id="10" name="TextBox 9"/>
          <p:cNvSpPr txBox="1"/>
          <p:nvPr/>
        </p:nvSpPr>
        <p:spPr>
          <a:xfrm>
            <a:off x="9704527" y="6519672"/>
            <a:ext cx="1828800" cy="219456"/>
          </a:xfrm>
          <a:prstGeom prst="rect">
            <a:avLst/>
          </a:prstGeom>
          <a:noFill/>
        </p:spPr>
        <p:txBody>
          <a:bodyPr wrap="square" lIns="0" rIns="0" tIns="0" bIns="0" anchor="t">
            <a:spAutoFit/>
          </a:bodyPr>
          <a:lstStyle/>
          <a:p>
            <a:pPr algn="r">
              <a:lnSpc>
                <a:spcPct val="128000"/>
              </a:lnSpc>
              <a:spcAft>
                <a:spcPts val="0"/>
              </a:spcAft>
            </a:pPr>
            <a:r>
              <a:rPr sz="800" b="0">
                <a:solidFill>
                  <a:srgbClr val="6E7079"/>
                </a:solidFill>
                <a:latin typeface="Consolas"/>
              </a:rPr>
              <a:t>02 / 07</a:t>
            </a:r>
          </a:p>
        </p:txBody>
      </p:sp>
      <p:sp>
        <p:nvSpPr>
          <p:cNvPr id="11" name="TextBox 10"/>
          <p:cNvSpPr txBox="1"/>
          <p:nvPr/>
        </p:nvSpPr>
        <p:spPr>
          <a:xfrm>
            <a:off x="658368" y="1901952"/>
            <a:ext cx="6949440" cy="749808"/>
          </a:xfrm>
          <a:prstGeom prst="rect">
            <a:avLst/>
          </a:prstGeom>
          <a:noFill/>
        </p:spPr>
        <p:txBody>
          <a:bodyPr wrap="square" lIns="0" rIns="0" tIns="0" bIns="0" anchor="t">
            <a:spAutoFit/>
          </a:bodyPr>
          <a:lstStyle/>
          <a:p>
            <a:pPr algn="l">
              <a:lnSpc>
                <a:spcPct val="145000"/>
              </a:lnSpc>
              <a:spcAft>
                <a:spcPts val="0"/>
              </a:spcAft>
            </a:pPr>
            <a:r>
              <a:rPr sz="1300" b="0">
                <a:solidFill>
                  <a:srgbClr val="A8A498"/>
                </a:solidFill>
                <a:latin typeface="Segoe UI"/>
              </a:rPr>
              <a:t>LedgerLens ingests raw procurement records, resolves them into comparable entities, runs 42 deterministic and statistical detectors across the entire corpus, and returns findings that carry their own evidence and their own arithmetic.</a:t>
            </a:r>
          </a:p>
        </p:txBody>
      </p:sp>
      <p:sp>
        <p:nvSpPr>
          <p:cNvPr id="12" name="Rectangle 11"/>
          <p:cNvSpPr/>
          <p:nvPr/>
        </p:nvSpPr>
        <p:spPr>
          <a:xfrm>
            <a:off x="658368" y="2743200"/>
            <a:ext cx="3493008" cy="2450592"/>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743200"/>
            <a:ext cx="41148" cy="2450592"/>
          </a:xfrm>
          <a:prstGeom prst="rect">
            <a:avLst/>
          </a:prstGeom>
          <a:solidFill>
            <a:srgbClr val="5B8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6080"/>
            <a:ext cx="3035808" cy="274320"/>
          </a:xfrm>
          <a:prstGeom prst="rect">
            <a:avLst/>
          </a:prstGeom>
          <a:noFill/>
        </p:spPr>
        <p:txBody>
          <a:bodyPr wrap="square" lIns="0" rIns="0" tIns="0" bIns="0" anchor="t">
            <a:spAutoFit/>
          </a:bodyPr>
          <a:lstStyle/>
          <a:p>
            <a:pPr algn="l">
              <a:lnSpc>
                <a:spcPct val="128000"/>
              </a:lnSpc>
              <a:spcAft>
                <a:spcPts val="0"/>
              </a:spcAft>
            </a:pPr>
            <a:r>
              <a:rPr sz="1050" b="0">
                <a:solidFill>
                  <a:srgbClr val="5B8F6E"/>
                </a:solidFill>
                <a:latin typeface="Consolas"/>
              </a:rPr>
              <a:t>R E S O L V E</a:t>
            </a:r>
          </a:p>
        </p:txBody>
      </p:sp>
      <p:sp>
        <p:nvSpPr>
          <p:cNvPr id="15" name="TextBox 14"/>
          <p:cNvSpPr txBox="1"/>
          <p:nvPr/>
        </p:nvSpPr>
        <p:spPr>
          <a:xfrm>
            <a:off x="914400" y="3273552"/>
            <a:ext cx="3017520" cy="658368"/>
          </a:xfrm>
          <a:prstGeom prst="rect">
            <a:avLst/>
          </a:prstGeom>
          <a:noFill/>
        </p:spPr>
        <p:txBody>
          <a:bodyPr wrap="square" lIns="0" rIns="0" tIns="0" bIns="0" anchor="t">
            <a:spAutoFit/>
          </a:bodyPr>
          <a:lstStyle/>
          <a:p>
            <a:pPr algn="l">
              <a:lnSpc>
                <a:spcPct val="134000"/>
              </a:lnSpc>
              <a:spcAft>
                <a:spcPts val="0"/>
              </a:spcAft>
            </a:pPr>
            <a:r>
              <a:rPr sz="1050" b="0">
                <a:solidFill>
                  <a:srgbClr val="E9E5DC"/>
                </a:solidFill>
                <a:latin typeface="Segoe UI"/>
              </a:rPr>
              <a:t>Vendor entity resolution · SKU and unit normalisation · tax and currency alignment</a:t>
            </a:r>
          </a:p>
        </p:txBody>
      </p:sp>
      <p:sp>
        <p:nvSpPr>
          <p:cNvPr id="16" name="TextBox 15"/>
          <p:cNvSpPr txBox="1"/>
          <p:nvPr/>
        </p:nvSpPr>
        <p:spPr>
          <a:xfrm>
            <a:off x="914400" y="4005072"/>
            <a:ext cx="3017520" cy="603504"/>
          </a:xfrm>
          <a:prstGeom prst="rect">
            <a:avLst/>
          </a:prstGeom>
          <a:noFill/>
        </p:spPr>
        <p:txBody>
          <a:bodyPr wrap="square" lIns="0" rIns="0" tIns="0" bIns="0" anchor="t">
            <a:spAutoFit/>
          </a:bodyPr>
          <a:lstStyle/>
          <a:p>
            <a:pPr algn="l">
              <a:lnSpc>
                <a:spcPct val="132000"/>
              </a:lnSpc>
              <a:spcAft>
                <a:spcPts val="0"/>
              </a:spcAft>
            </a:pPr>
            <a:r>
              <a:rPr sz="950" b="0">
                <a:solidFill>
                  <a:srgbClr val="A8A498"/>
                </a:solidFill>
                <a:latin typeface="Segoe UI"/>
              </a:rPr>
              <a:t>118 vendor records collapse to 96 real counterparties. 15 catalogue items absorb 47 raw description variants.</a:t>
            </a:r>
          </a:p>
        </p:txBody>
      </p:sp>
      <p:cxnSp>
        <p:nvCxnSpPr>
          <p:cNvPr id="17" name="Connector 16"/>
          <p:cNvCxnSpPr/>
          <p:nvPr/>
        </p:nvCxnSpPr>
        <p:spPr>
          <a:xfrm>
            <a:off x="914400" y="4663440"/>
            <a:ext cx="2980944"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14400" y="4773168"/>
            <a:ext cx="3017520" cy="384048"/>
          </a:xfrm>
          <a:prstGeom prst="rect">
            <a:avLst/>
          </a:prstGeom>
          <a:noFill/>
        </p:spPr>
        <p:txBody>
          <a:bodyPr wrap="square" lIns="0" rIns="0" tIns="0" bIns="0" anchor="t">
            <a:spAutoFit/>
          </a:bodyPr>
          <a:lstStyle/>
          <a:p>
            <a:pPr algn="l">
              <a:lnSpc>
                <a:spcPct val="130000"/>
              </a:lnSpc>
              <a:spcAft>
                <a:spcPts val="0"/>
              </a:spcAft>
            </a:pPr>
            <a:r>
              <a:rPr sz="900" b="0">
                <a:solidFill>
                  <a:srgbClr val="6E7079"/>
                </a:solidFill>
                <a:latin typeface="Segoe UI"/>
              </a:rPr>
              <a:t>Without this, every price comparison is a string comparison — and wrong.</a:t>
            </a:r>
          </a:p>
        </p:txBody>
      </p:sp>
      <p:cxnSp>
        <p:nvCxnSpPr>
          <p:cNvPr id="19" name="Connector 18"/>
          <p:cNvCxnSpPr/>
          <p:nvPr/>
        </p:nvCxnSpPr>
        <p:spPr>
          <a:xfrm>
            <a:off x="4187952" y="3968496"/>
            <a:ext cx="164592" cy="0"/>
          </a:xfrm>
          <a:prstGeom prst="line">
            <a:avLst/>
          </a:prstGeom>
          <a:ln w="1270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52544" y="2743200"/>
            <a:ext cx="3493008" cy="2450592"/>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352544" y="2743200"/>
            <a:ext cx="41148" cy="2450592"/>
          </a:xfrm>
          <a:prstGeom prst="rect">
            <a:avLst/>
          </a:prstGeom>
          <a:solidFill>
            <a:srgbClr val="C4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608576" y="2926080"/>
            <a:ext cx="3035808" cy="274320"/>
          </a:xfrm>
          <a:prstGeom prst="rect">
            <a:avLst/>
          </a:prstGeom>
          <a:noFill/>
        </p:spPr>
        <p:txBody>
          <a:bodyPr wrap="square" lIns="0" rIns="0" tIns="0" bIns="0" anchor="t">
            <a:spAutoFit/>
          </a:bodyPr>
          <a:lstStyle/>
          <a:p>
            <a:pPr algn="l">
              <a:lnSpc>
                <a:spcPct val="128000"/>
              </a:lnSpc>
              <a:spcAft>
                <a:spcPts val="0"/>
              </a:spcAft>
            </a:pPr>
            <a:r>
              <a:rPr sz="1050" b="0">
                <a:solidFill>
                  <a:srgbClr val="C4503A"/>
                </a:solidFill>
                <a:latin typeface="Consolas"/>
              </a:rPr>
              <a:t>D E T E C T</a:t>
            </a:r>
          </a:p>
        </p:txBody>
      </p:sp>
      <p:sp>
        <p:nvSpPr>
          <p:cNvPr id="23" name="TextBox 22"/>
          <p:cNvSpPr txBox="1"/>
          <p:nvPr/>
        </p:nvSpPr>
        <p:spPr>
          <a:xfrm>
            <a:off x="4608576" y="3273552"/>
            <a:ext cx="3017520" cy="658368"/>
          </a:xfrm>
          <a:prstGeom prst="rect">
            <a:avLst/>
          </a:prstGeom>
          <a:noFill/>
        </p:spPr>
        <p:txBody>
          <a:bodyPr wrap="square" lIns="0" rIns="0" tIns="0" bIns="0" anchor="t">
            <a:spAutoFit/>
          </a:bodyPr>
          <a:lstStyle/>
          <a:p>
            <a:pPr algn="l">
              <a:lnSpc>
                <a:spcPct val="134000"/>
              </a:lnSpc>
              <a:spcAft>
                <a:spcPts val="0"/>
              </a:spcAft>
            </a:pPr>
            <a:r>
              <a:rPr sz="1050" b="0">
                <a:solidFill>
                  <a:srgbClr val="E9E5DC"/>
                </a:solidFill>
                <a:latin typeface="Segoe UI"/>
              </a:rPr>
              <a:t>Rules engine (deterministic) → statistical models (robust z, Benford, Isolation Forest)</a:t>
            </a:r>
          </a:p>
        </p:txBody>
      </p:sp>
      <p:sp>
        <p:nvSpPr>
          <p:cNvPr id="24" name="TextBox 23"/>
          <p:cNvSpPr txBox="1"/>
          <p:nvPr/>
        </p:nvSpPr>
        <p:spPr>
          <a:xfrm>
            <a:off x="4608576" y="4005072"/>
            <a:ext cx="3017520" cy="603504"/>
          </a:xfrm>
          <a:prstGeom prst="rect">
            <a:avLst/>
          </a:prstGeom>
          <a:noFill/>
        </p:spPr>
        <p:txBody>
          <a:bodyPr wrap="square" lIns="0" rIns="0" tIns="0" bIns="0" anchor="t">
            <a:spAutoFit/>
          </a:bodyPr>
          <a:lstStyle/>
          <a:p>
            <a:pPr algn="l">
              <a:lnSpc>
                <a:spcPct val="132000"/>
              </a:lnSpc>
              <a:spcAft>
                <a:spcPts val="0"/>
              </a:spcAft>
            </a:pPr>
            <a:r>
              <a:rPr sz="950" b="0">
                <a:solidFill>
                  <a:srgbClr val="A8A498"/>
                </a:solidFill>
                <a:latin typeface="Segoe UI"/>
              </a:rPr>
              <a:t>42 detectors · 5 pillars · each a plugin emitting a typed Finding.</a:t>
            </a:r>
          </a:p>
        </p:txBody>
      </p:sp>
      <p:cxnSp>
        <p:nvCxnSpPr>
          <p:cNvPr id="25" name="Connector 24"/>
          <p:cNvCxnSpPr/>
          <p:nvPr/>
        </p:nvCxnSpPr>
        <p:spPr>
          <a:xfrm>
            <a:off x="4608576" y="4663440"/>
            <a:ext cx="2980944"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08576" y="4773168"/>
            <a:ext cx="3017520" cy="384048"/>
          </a:xfrm>
          <a:prstGeom prst="rect">
            <a:avLst/>
          </a:prstGeom>
          <a:noFill/>
        </p:spPr>
        <p:txBody>
          <a:bodyPr wrap="square" lIns="0" rIns="0" tIns="0" bIns="0" anchor="t">
            <a:spAutoFit/>
          </a:bodyPr>
          <a:lstStyle/>
          <a:p>
            <a:pPr algn="l">
              <a:lnSpc>
                <a:spcPct val="130000"/>
              </a:lnSpc>
              <a:spcAft>
                <a:spcPts val="0"/>
              </a:spcAft>
            </a:pPr>
            <a:r>
              <a:rPr sz="900" b="0">
                <a:solidFill>
                  <a:srgbClr val="6E7079"/>
                </a:solidFill>
                <a:latin typeface="Segoe UI"/>
              </a:rPr>
              <a:t>The unit of analysis is the relationship between records, not the record.</a:t>
            </a:r>
          </a:p>
        </p:txBody>
      </p:sp>
      <p:cxnSp>
        <p:nvCxnSpPr>
          <p:cNvPr id="27" name="Connector 26"/>
          <p:cNvCxnSpPr/>
          <p:nvPr/>
        </p:nvCxnSpPr>
        <p:spPr>
          <a:xfrm>
            <a:off x="7882127" y="3968496"/>
            <a:ext cx="164592" cy="0"/>
          </a:xfrm>
          <a:prstGeom prst="line">
            <a:avLst/>
          </a:prstGeom>
          <a:ln w="1270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046720" y="2743200"/>
            <a:ext cx="3493008" cy="2450592"/>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46720" y="2743200"/>
            <a:ext cx="41148" cy="24505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02752" y="2926080"/>
            <a:ext cx="3035808" cy="274320"/>
          </a:xfrm>
          <a:prstGeom prst="rect">
            <a:avLst/>
          </a:prstGeom>
          <a:noFill/>
        </p:spPr>
        <p:txBody>
          <a:bodyPr wrap="square" lIns="0" rIns="0" tIns="0" bIns="0" anchor="t">
            <a:spAutoFit/>
          </a:bodyPr>
          <a:lstStyle/>
          <a:p>
            <a:pPr algn="l">
              <a:lnSpc>
                <a:spcPct val="128000"/>
              </a:lnSpc>
              <a:spcAft>
                <a:spcPts val="0"/>
              </a:spcAft>
            </a:pPr>
            <a:r>
              <a:rPr sz="1050" b="0">
                <a:solidFill>
                  <a:srgbClr val="C9A227"/>
                </a:solidFill>
                <a:latin typeface="Consolas"/>
              </a:rPr>
              <a:t>A C T</a:t>
            </a:r>
          </a:p>
        </p:txBody>
      </p:sp>
      <p:sp>
        <p:nvSpPr>
          <p:cNvPr id="31" name="TextBox 30"/>
          <p:cNvSpPr txBox="1"/>
          <p:nvPr/>
        </p:nvSpPr>
        <p:spPr>
          <a:xfrm>
            <a:off x="8302752" y="3273552"/>
            <a:ext cx="3017520" cy="658368"/>
          </a:xfrm>
          <a:prstGeom prst="rect">
            <a:avLst/>
          </a:prstGeom>
          <a:noFill/>
        </p:spPr>
        <p:txBody>
          <a:bodyPr wrap="square" lIns="0" rIns="0" tIns="0" bIns="0" anchor="t">
            <a:spAutoFit/>
          </a:bodyPr>
          <a:lstStyle/>
          <a:p>
            <a:pPr algn="l">
              <a:lnSpc>
                <a:spcPct val="134000"/>
              </a:lnSpc>
              <a:spcAft>
                <a:spcPts val="0"/>
              </a:spcAft>
            </a:pPr>
            <a:r>
              <a:rPr sz="1050" b="0">
                <a:solidFill>
                  <a:srgbClr val="E9E5DC"/>
                </a:solidFill>
                <a:latin typeface="Segoe UI"/>
              </a:rPr>
              <a:t>Risk scoring → savings quantification → recommended action → drafted artifact</a:t>
            </a:r>
          </a:p>
        </p:txBody>
      </p:sp>
      <p:sp>
        <p:nvSpPr>
          <p:cNvPr id="32" name="TextBox 31"/>
          <p:cNvSpPr txBox="1"/>
          <p:nvPr/>
        </p:nvSpPr>
        <p:spPr>
          <a:xfrm>
            <a:off x="8302752" y="4005072"/>
            <a:ext cx="3017520" cy="603504"/>
          </a:xfrm>
          <a:prstGeom prst="rect">
            <a:avLst/>
          </a:prstGeom>
          <a:noFill/>
        </p:spPr>
        <p:txBody>
          <a:bodyPr wrap="square" lIns="0" rIns="0" tIns="0" bIns="0" anchor="t">
            <a:spAutoFit/>
          </a:bodyPr>
          <a:lstStyle/>
          <a:p>
            <a:pPr algn="l">
              <a:lnSpc>
                <a:spcPct val="132000"/>
              </a:lnSpc>
              <a:spcAft>
                <a:spcPts val="0"/>
              </a:spcAft>
            </a:pPr>
            <a:r>
              <a:rPr sz="950" b="0">
                <a:solidFill>
                  <a:srgbClr val="A8A498"/>
                </a:solidFill>
                <a:latin typeface="Segoe UI"/>
              </a:rPr>
              <a:t>163 findings · ₹18,42,650 identified · ₹6,21,400 already recovered.</a:t>
            </a:r>
          </a:p>
        </p:txBody>
      </p:sp>
      <p:cxnSp>
        <p:nvCxnSpPr>
          <p:cNvPr id="33" name="Connector 32"/>
          <p:cNvCxnSpPr/>
          <p:nvPr/>
        </p:nvCxnSpPr>
        <p:spPr>
          <a:xfrm>
            <a:off x="8302752" y="4663440"/>
            <a:ext cx="2980944"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02752" y="4773168"/>
            <a:ext cx="3017520" cy="384048"/>
          </a:xfrm>
          <a:prstGeom prst="rect">
            <a:avLst/>
          </a:prstGeom>
          <a:noFill/>
        </p:spPr>
        <p:txBody>
          <a:bodyPr wrap="square" lIns="0" rIns="0" tIns="0" bIns="0" anchor="t">
            <a:spAutoFit/>
          </a:bodyPr>
          <a:lstStyle/>
          <a:p>
            <a:pPr algn="l">
              <a:lnSpc>
                <a:spcPct val="130000"/>
              </a:lnSpc>
              <a:spcAft>
                <a:spcPts val="0"/>
              </a:spcAft>
            </a:pPr>
            <a:r>
              <a:rPr sz="900" b="0">
                <a:solidFill>
                  <a:srgbClr val="6E7079"/>
                </a:solidFill>
                <a:latin typeface="Segoe UI"/>
              </a:rPr>
              <a:t>The language model writes the letter. It never writes the number.</a:t>
            </a:r>
          </a:p>
        </p:txBody>
      </p:sp>
      <p:sp>
        <p:nvSpPr>
          <p:cNvPr id="35" name="Rectangle 34"/>
          <p:cNvSpPr/>
          <p:nvPr/>
        </p:nvSpPr>
        <p:spPr>
          <a:xfrm>
            <a:off x="658368" y="5650992"/>
            <a:ext cx="10874959" cy="749808"/>
          </a:xfrm>
          <a:prstGeom prst="rect">
            <a:avLst/>
          </a:prstGeom>
          <a:noFill/>
          <a:ln w="12700">
            <a:solidFill>
              <a:srgbClr val="8A72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32688" y="5779008"/>
            <a:ext cx="10332720" cy="292608"/>
          </a:xfrm>
          <a:prstGeom prst="rect">
            <a:avLst/>
          </a:prstGeom>
          <a:noFill/>
        </p:spPr>
        <p:txBody>
          <a:bodyPr wrap="square" lIns="0" rIns="0" tIns="0" bIns="0" anchor="t">
            <a:spAutoFit/>
          </a:bodyPr>
          <a:lstStyle/>
          <a:p>
            <a:pPr algn="l">
              <a:lnSpc>
                <a:spcPct val="128000"/>
              </a:lnSpc>
              <a:spcAft>
                <a:spcPts val="0"/>
              </a:spcAft>
            </a:pPr>
            <a:r>
              <a:rPr sz="1500" b="0">
                <a:solidFill>
                  <a:srgbClr val="C9A227"/>
                </a:solidFill>
                <a:latin typeface="Georgia"/>
              </a:rPr>
              <a:t>No language model ever produces a number in this system.</a:t>
            </a:r>
          </a:p>
        </p:txBody>
      </p:sp>
      <p:sp>
        <p:nvSpPr>
          <p:cNvPr id="37" name="TextBox 36"/>
          <p:cNvSpPr txBox="1"/>
          <p:nvPr/>
        </p:nvSpPr>
        <p:spPr>
          <a:xfrm>
            <a:off x="932688" y="6108192"/>
            <a:ext cx="10332720" cy="256032"/>
          </a:xfrm>
          <a:prstGeom prst="rect">
            <a:avLst/>
          </a:prstGeom>
          <a:noFill/>
        </p:spPr>
        <p:txBody>
          <a:bodyPr wrap="square" lIns="0" rIns="0" tIns="0" bIns="0" anchor="t">
            <a:spAutoFit/>
          </a:bodyPr>
          <a:lstStyle/>
          <a:p>
            <a:pPr algn="l">
              <a:lnSpc>
                <a:spcPct val="128000"/>
              </a:lnSpc>
              <a:spcAft>
                <a:spcPts val="0"/>
              </a:spcAft>
            </a:pPr>
            <a:r>
              <a:rPr sz="1000" b="0">
                <a:solidFill>
                  <a:srgbClr val="A8A498"/>
                </a:solidFill>
                <a:latin typeface="Segoe UI"/>
              </a:rPr>
              <a:t>Rules and statistics compute. The model explains, drafts and translates. Every score is decomposable, reproducible and auditable to the rule that fired.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ontent.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658368"/>
            <a:ext cx="1097280" cy="274320"/>
          </a:xfrm>
          <a:prstGeom prst="rect">
            <a:avLst/>
          </a:prstGeom>
          <a:noFill/>
        </p:spPr>
        <p:txBody>
          <a:bodyPr wrap="square" lIns="0" rIns="0" tIns="0" bIns="0" anchor="t">
            <a:spAutoFit/>
          </a:bodyPr>
          <a:lstStyle/>
          <a:p>
            <a:pPr algn="l">
              <a:lnSpc>
                <a:spcPct val="128000"/>
              </a:lnSpc>
              <a:spcAft>
                <a:spcPts val="0"/>
              </a:spcAft>
            </a:pPr>
            <a:r>
              <a:rPr sz="1000" b="0">
                <a:solidFill>
                  <a:srgbClr val="6E7079"/>
                </a:solidFill>
                <a:latin typeface="Consolas"/>
              </a:rPr>
              <a:t>03</a:t>
            </a:r>
          </a:p>
        </p:txBody>
      </p:sp>
      <p:sp>
        <p:nvSpPr>
          <p:cNvPr id="5" name="TextBox 4"/>
          <p:cNvSpPr txBox="1"/>
          <p:nvPr/>
        </p:nvSpPr>
        <p:spPr>
          <a:xfrm>
            <a:off x="1225295" y="669340"/>
            <a:ext cx="7315200" cy="201168"/>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F E A T U R E S</a:t>
            </a:r>
          </a:p>
        </p:txBody>
      </p:sp>
      <p:sp>
        <p:nvSpPr>
          <p:cNvPr id="6" name="TextBox 5"/>
          <p:cNvSpPr txBox="1"/>
          <p:nvPr/>
        </p:nvSpPr>
        <p:spPr>
          <a:xfrm>
            <a:off x="658368" y="1005840"/>
            <a:ext cx="10874959" cy="548640"/>
          </a:xfrm>
          <a:prstGeom prst="rect">
            <a:avLst/>
          </a:prstGeom>
          <a:noFill/>
        </p:spPr>
        <p:txBody>
          <a:bodyPr wrap="square" lIns="0" rIns="0" tIns="0" bIns="0" anchor="t">
            <a:spAutoFit/>
          </a:bodyPr>
          <a:lstStyle/>
          <a:p>
            <a:pPr algn="l">
              <a:lnSpc>
                <a:spcPct val="102000"/>
              </a:lnSpc>
              <a:spcAft>
                <a:spcPts val="0"/>
              </a:spcAft>
            </a:pPr>
            <a:r>
              <a:rPr sz="3100" b="0">
                <a:solidFill>
                  <a:srgbClr val="E9E5DC"/>
                </a:solidFill>
                <a:latin typeface="Georgia"/>
              </a:rPr>
              <a:t>Forty-two detectors. Seven working views. One evidence trail.</a:t>
            </a:r>
          </a:p>
        </p:txBody>
      </p:sp>
      <p:cxnSp>
        <p:nvCxnSpPr>
          <p:cNvPr id="7" name="Connector 6"/>
          <p:cNvCxnSpPr/>
          <p:nvPr/>
        </p:nvCxnSpPr>
        <p:spPr>
          <a:xfrm>
            <a:off x="658368" y="1627632"/>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 y="6437376"/>
            <a:ext cx="10874959"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519672"/>
            <a:ext cx="548640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LedgerLens · procurement forensics</a:t>
            </a:r>
          </a:p>
        </p:txBody>
      </p:sp>
      <p:sp>
        <p:nvSpPr>
          <p:cNvPr id="10" name="TextBox 9"/>
          <p:cNvSpPr txBox="1"/>
          <p:nvPr/>
        </p:nvSpPr>
        <p:spPr>
          <a:xfrm>
            <a:off x="9704527" y="6519672"/>
            <a:ext cx="1828800" cy="219456"/>
          </a:xfrm>
          <a:prstGeom prst="rect">
            <a:avLst/>
          </a:prstGeom>
          <a:noFill/>
        </p:spPr>
        <p:txBody>
          <a:bodyPr wrap="square" lIns="0" rIns="0" tIns="0" bIns="0" anchor="t">
            <a:spAutoFit/>
          </a:bodyPr>
          <a:lstStyle/>
          <a:p>
            <a:pPr algn="r">
              <a:lnSpc>
                <a:spcPct val="128000"/>
              </a:lnSpc>
              <a:spcAft>
                <a:spcPts val="0"/>
              </a:spcAft>
            </a:pPr>
            <a:r>
              <a:rPr sz="800" b="0">
                <a:solidFill>
                  <a:srgbClr val="6E7079"/>
                </a:solidFill>
                <a:latin typeface="Consolas"/>
              </a:rPr>
              <a:t>03 / 07</a:t>
            </a:r>
          </a:p>
        </p:txBody>
      </p:sp>
      <p:sp>
        <p:nvSpPr>
          <p:cNvPr id="11" name="Rectangle 10"/>
          <p:cNvSpPr/>
          <p:nvPr/>
        </p:nvSpPr>
        <p:spPr>
          <a:xfrm>
            <a:off x="658368" y="1901952"/>
            <a:ext cx="2084831" cy="261518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1901952"/>
            <a:ext cx="2084831"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7" y="2084832"/>
            <a:ext cx="914400" cy="219456"/>
          </a:xfrm>
          <a:prstGeom prst="rect">
            <a:avLst/>
          </a:prstGeom>
          <a:noFill/>
        </p:spPr>
        <p:txBody>
          <a:bodyPr wrap="square" lIns="0" rIns="0" tIns="0" bIns="0" anchor="t">
            <a:spAutoFit/>
          </a:bodyPr>
          <a:lstStyle/>
          <a:p>
            <a:pPr algn="l">
              <a:lnSpc>
                <a:spcPct val="128000"/>
              </a:lnSpc>
              <a:spcAft>
                <a:spcPts val="0"/>
              </a:spcAft>
            </a:pPr>
            <a:r>
              <a:rPr sz="900" b="0">
                <a:solidFill>
                  <a:srgbClr val="C9A227"/>
                </a:solidFill>
                <a:latin typeface="Consolas"/>
              </a:rPr>
              <a:t>01</a:t>
            </a:r>
          </a:p>
        </p:txBody>
      </p:sp>
      <p:sp>
        <p:nvSpPr>
          <p:cNvPr id="14" name="TextBox 13"/>
          <p:cNvSpPr txBox="1"/>
          <p:nvPr/>
        </p:nvSpPr>
        <p:spPr>
          <a:xfrm>
            <a:off x="841247" y="2377440"/>
            <a:ext cx="1719072" cy="640080"/>
          </a:xfrm>
          <a:prstGeom prst="rect">
            <a:avLst/>
          </a:prstGeom>
          <a:noFill/>
        </p:spPr>
        <p:txBody>
          <a:bodyPr wrap="square" lIns="0" rIns="0" tIns="0" bIns="0" anchor="t">
            <a:spAutoFit/>
          </a:bodyPr>
          <a:lstStyle/>
          <a:p>
            <a:pPr algn="l">
              <a:lnSpc>
                <a:spcPct val="116000"/>
              </a:lnSpc>
              <a:spcAft>
                <a:spcPts val="0"/>
              </a:spcAft>
            </a:pPr>
            <a:r>
              <a:rPr sz="1250" b="0">
                <a:solidFill>
                  <a:srgbClr val="E9E5DC"/>
                </a:solidFill>
                <a:latin typeface="Segoe UI"/>
              </a:rPr>
              <a:t>Duplicates &amp;</a:t>
            </a:r>
            <a:br/>
            <a:r>
              <a:rPr sz="1250" b="0">
                <a:solidFill>
                  <a:srgbClr val="E9E5DC"/>
                </a:solidFill>
                <a:latin typeface="Segoe UI"/>
              </a:rPr>
              <a:t>Overpayment</a:t>
            </a:r>
          </a:p>
        </p:txBody>
      </p:sp>
      <p:sp>
        <p:nvSpPr>
          <p:cNvPr id="15" name="TextBox 14"/>
          <p:cNvSpPr txBox="1"/>
          <p:nvPr/>
        </p:nvSpPr>
        <p:spPr>
          <a:xfrm>
            <a:off x="841247" y="3072384"/>
            <a:ext cx="1719072" cy="256032"/>
          </a:xfrm>
          <a:prstGeom prst="rect">
            <a:avLst/>
          </a:prstGeom>
          <a:noFill/>
        </p:spPr>
        <p:txBody>
          <a:bodyPr wrap="square" lIns="0" rIns="0" tIns="0" bIns="0" anchor="t">
            <a:spAutoFit/>
          </a:bodyPr>
          <a:lstStyle/>
          <a:p>
            <a:pPr algn="l">
              <a:lnSpc>
                <a:spcPct val="128000"/>
              </a:lnSpc>
              <a:spcAft>
                <a:spcPts val="0"/>
              </a:spcAft>
            </a:pPr>
            <a:r>
              <a:rPr sz="1700" b="0">
                <a:solidFill>
                  <a:srgbClr val="C9A227"/>
                </a:solidFill>
                <a:latin typeface="Consolas"/>
              </a:rPr>
              <a:t>8</a:t>
            </a:r>
            <a:r>
              <a:rPr sz="900" b="0">
                <a:solidFill>
                  <a:srgbClr val="6E7079"/>
                </a:solidFill>
                <a:latin typeface="Segoe UI"/>
              </a:rPr>
              <a:t>  detectors</a:t>
            </a:r>
          </a:p>
        </p:txBody>
      </p:sp>
      <p:sp>
        <p:nvSpPr>
          <p:cNvPr id="16" name="TextBox 15"/>
          <p:cNvSpPr txBox="1"/>
          <p:nvPr/>
        </p:nvSpPr>
        <p:spPr>
          <a:xfrm>
            <a:off x="841247" y="3383280"/>
            <a:ext cx="1719072" cy="402336"/>
          </a:xfrm>
          <a:prstGeom prst="rect">
            <a:avLst/>
          </a:prstGeom>
          <a:noFill/>
        </p:spPr>
        <p:txBody>
          <a:bodyPr wrap="square" lIns="0" rIns="0" tIns="0" bIns="0" anchor="t">
            <a:spAutoFit/>
          </a:bodyPr>
          <a:lstStyle/>
          <a:p>
            <a:pPr algn="l">
              <a:lnSpc>
                <a:spcPct val="128000"/>
              </a:lnSpc>
              <a:spcAft>
                <a:spcPts val="0"/>
              </a:spcAft>
            </a:pPr>
            <a:r>
              <a:rPr sz="850" b="0">
                <a:solidFill>
                  <a:srgbClr val="A8A498"/>
                </a:solidFill>
                <a:latin typeface="Consolas"/>
              </a:rPr>
              <a:t>41 findings</a:t>
            </a:r>
            <a:br/>
            <a:r>
              <a:rPr sz="850" b="0">
                <a:solidFill>
                  <a:srgbClr val="A8A498"/>
                </a:solidFill>
                <a:latin typeface="Consolas"/>
              </a:rPr>
              <a:t>97.2% precision</a:t>
            </a:r>
          </a:p>
        </p:txBody>
      </p:sp>
      <p:cxnSp>
        <p:nvCxnSpPr>
          <p:cNvPr id="17" name="Connector 16"/>
          <p:cNvCxnSpPr/>
          <p:nvPr/>
        </p:nvCxnSpPr>
        <p:spPr>
          <a:xfrm>
            <a:off x="841247" y="3840480"/>
            <a:ext cx="1719073"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41247" y="3950208"/>
            <a:ext cx="1719072" cy="512064"/>
          </a:xfrm>
          <a:prstGeom prst="rect">
            <a:avLst/>
          </a:prstGeom>
          <a:noFill/>
        </p:spPr>
        <p:txBody>
          <a:bodyPr wrap="square" lIns="0" rIns="0" tIns="0" bIns="0" anchor="t">
            <a:spAutoFit/>
          </a:bodyPr>
          <a:lstStyle/>
          <a:p>
            <a:pPr algn="l">
              <a:lnSpc>
                <a:spcPct val="132000"/>
              </a:lnSpc>
              <a:spcAft>
                <a:spcPts val="0"/>
              </a:spcAft>
            </a:pPr>
            <a:r>
              <a:rPr sz="800" b="0">
                <a:solidFill>
                  <a:srgbClr val="6E7079"/>
                </a:solidFill>
                <a:latin typeface="Segoe UI"/>
              </a:rPr>
              <a:t>near-duplicate matching</a:t>
            </a:r>
            <a:br/>
            <a:r>
              <a:rPr sz="800" b="0">
                <a:solidFill>
                  <a:srgbClr val="6E7079"/>
                </a:solidFill>
                <a:latin typeface="Segoe UI"/>
              </a:rPr>
              <a:t>transposition-tolerant numbers</a:t>
            </a:r>
            <a:br/>
            <a:r>
              <a:rPr sz="800" b="0">
                <a:solidFill>
                  <a:srgbClr val="6E7079"/>
                </a:solidFill>
                <a:latin typeface="Segoe UI"/>
              </a:rPr>
              <a:t>cross-alias duplicates</a:t>
            </a:r>
          </a:p>
        </p:txBody>
      </p:sp>
      <p:sp>
        <p:nvSpPr>
          <p:cNvPr id="19" name="Rectangle 18"/>
          <p:cNvSpPr/>
          <p:nvPr/>
        </p:nvSpPr>
        <p:spPr>
          <a:xfrm>
            <a:off x="2852928" y="1901952"/>
            <a:ext cx="2084831" cy="261518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852928" y="1901952"/>
            <a:ext cx="2084831" cy="32004"/>
          </a:xfrm>
          <a:prstGeom prst="rect">
            <a:avLst/>
          </a:prstGeom>
          <a:solidFill>
            <a:srgbClr val="6B8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035808" y="2084832"/>
            <a:ext cx="914400" cy="219456"/>
          </a:xfrm>
          <a:prstGeom prst="rect">
            <a:avLst/>
          </a:prstGeom>
          <a:noFill/>
        </p:spPr>
        <p:txBody>
          <a:bodyPr wrap="square" lIns="0" rIns="0" tIns="0" bIns="0" anchor="t">
            <a:spAutoFit/>
          </a:bodyPr>
          <a:lstStyle/>
          <a:p>
            <a:pPr algn="l">
              <a:lnSpc>
                <a:spcPct val="128000"/>
              </a:lnSpc>
              <a:spcAft>
                <a:spcPts val="0"/>
              </a:spcAft>
            </a:pPr>
            <a:r>
              <a:rPr sz="900" b="0">
                <a:solidFill>
                  <a:srgbClr val="6B8394"/>
                </a:solidFill>
                <a:latin typeface="Consolas"/>
              </a:rPr>
              <a:t>02</a:t>
            </a:r>
          </a:p>
        </p:txBody>
      </p:sp>
      <p:sp>
        <p:nvSpPr>
          <p:cNvPr id="22" name="TextBox 21"/>
          <p:cNvSpPr txBox="1"/>
          <p:nvPr/>
        </p:nvSpPr>
        <p:spPr>
          <a:xfrm>
            <a:off x="3035808" y="2377440"/>
            <a:ext cx="1719072" cy="640080"/>
          </a:xfrm>
          <a:prstGeom prst="rect">
            <a:avLst/>
          </a:prstGeom>
          <a:noFill/>
        </p:spPr>
        <p:txBody>
          <a:bodyPr wrap="square" lIns="0" rIns="0" tIns="0" bIns="0" anchor="t">
            <a:spAutoFit/>
          </a:bodyPr>
          <a:lstStyle/>
          <a:p>
            <a:pPr algn="l">
              <a:lnSpc>
                <a:spcPct val="116000"/>
              </a:lnSpc>
              <a:spcAft>
                <a:spcPts val="0"/>
              </a:spcAft>
            </a:pPr>
            <a:r>
              <a:rPr sz="1250" b="0">
                <a:solidFill>
                  <a:srgbClr val="E9E5DC"/>
                </a:solidFill>
                <a:latin typeface="Segoe UI"/>
              </a:rPr>
              <a:t>Price &amp; Vendor</a:t>
            </a:r>
            <a:br/>
            <a:r>
              <a:rPr sz="1250" b="0">
                <a:solidFill>
                  <a:srgbClr val="E9E5DC"/>
                </a:solidFill>
                <a:latin typeface="Segoe UI"/>
              </a:rPr>
              <a:t>Intelligence</a:t>
            </a:r>
          </a:p>
        </p:txBody>
      </p:sp>
      <p:sp>
        <p:nvSpPr>
          <p:cNvPr id="23" name="TextBox 22"/>
          <p:cNvSpPr txBox="1"/>
          <p:nvPr/>
        </p:nvSpPr>
        <p:spPr>
          <a:xfrm>
            <a:off x="3035808" y="3072384"/>
            <a:ext cx="1719072" cy="256032"/>
          </a:xfrm>
          <a:prstGeom prst="rect">
            <a:avLst/>
          </a:prstGeom>
          <a:noFill/>
        </p:spPr>
        <p:txBody>
          <a:bodyPr wrap="square" lIns="0" rIns="0" tIns="0" bIns="0" anchor="t">
            <a:spAutoFit/>
          </a:bodyPr>
          <a:lstStyle/>
          <a:p>
            <a:pPr algn="l">
              <a:lnSpc>
                <a:spcPct val="128000"/>
              </a:lnSpc>
              <a:spcAft>
                <a:spcPts val="0"/>
              </a:spcAft>
            </a:pPr>
            <a:r>
              <a:rPr sz="1700" b="0">
                <a:solidFill>
                  <a:srgbClr val="6B8394"/>
                </a:solidFill>
                <a:latin typeface="Consolas"/>
              </a:rPr>
              <a:t>9</a:t>
            </a:r>
            <a:r>
              <a:rPr sz="900" b="0">
                <a:solidFill>
                  <a:srgbClr val="6E7079"/>
                </a:solidFill>
                <a:latin typeface="Segoe UI"/>
              </a:rPr>
              <a:t>  detectors</a:t>
            </a:r>
          </a:p>
        </p:txBody>
      </p:sp>
      <p:sp>
        <p:nvSpPr>
          <p:cNvPr id="24" name="TextBox 23"/>
          <p:cNvSpPr txBox="1"/>
          <p:nvPr/>
        </p:nvSpPr>
        <p:spPr>
          <a:xfrm>
            <a:off x="3035808" y="3383280"/>
            <a:ext cx="1719072" cy="402336"/>
          </a:xfrm>
          <a:prstGeom prst="rect">
            <a:avLst/>
          </a:prstGeom>
          <a:noFill/>
        </p:spPr>
        <p:txBody>
          <a:bodyPr wrap="square" lIns="0" rIns="0" tIns="0" bIns="0" anchor="t">
            <a:spAutoFit/>
          </a:bodyPr>
          <a:lstStyle/>
          <a:p>
            <a:pPr algn="l">
              <a:lnSpc>
                <a:spcPct val="128000"/>
              </a:lnSpc>
              <a:spcAft>
                <a:spcPts val="0"/>
              </a:spcAft>
            </a:pPr>
            <a:r>
              <a:rPr sz="850" b="0">
                <a:solidFill>
                  <a:srgbClr val="A8A498"/>
                </a:solidFill>
                <a:latin typeface="Consolas"/>
              </a:rPr>
              <a:t>38 findings</a:t>
            </a:r>
            <a:br/>
            <a:r>
              <a:rPr sz="850" b="0">
                <a:solidFill>
                  <a:srgbClr val="A8A498"/>
                </a:solidFill>
                <a:latin typeface="Consolas"/>
              </a:rPr>
              <a:t>95.1% precision</a:t>
            </a:r>
          </a:p>
        </p:txBody>
      </p:sp>
      <p:cxnSp>
        <p:nvCxnSpPr>
          <p:cNvPr id="25" name="Connector 24"/>
          <p:cNvCxnSpPr/>
          <p:nvPr/>
        </p:nvCxnSpPr>
        <p:spPr>
          <a:xfrm>
            <a:off x="3035808" y="3840480"/>
            <a:ext cx="1719072"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035808" y="3950208"/>
            <a:ext cx="1719072" cy="512064"/>
          </a:xfrm>
          <a:prstGeom prst="rect">
            <a:avLst/>
          </a:prstGeom>
          <a:noFill/>
        </p:spPr>
        <p:txBody>
          <a:bodyPr wrap="square" lIns="0" rIns="0" tIns="0" bIns="0" anchor="t">
            <a:spAutoFit/>
          </a:bodyPr>
          <a:lstStyle/>
          <a:p>
            <a:pPr algn="l">
              <a:lnSpc>
                <a:spcPct val="132000"/>
              </a:lnSpc>
              <a:spcAft>
                <a:spcPts val="0"/>
              </a:spcAft>
            </a:pPr>
            <a:r>
              <a:rPr sz="800" b="0">
                <a:solidFill>
                  <a:srgbClr val="6E7079"/>
                </a:solidFill>
                <a:latin typeface="Segoe UI"/>
              </a:rPr>
              <a:t>peer-median benchmarking</a:t>
            </a:r>
            <a:br/>
            <a:r>
              <a:rPr sz="800" b="0">
                <a:solidFill>
                  <a:srgbClr val="6E7079"/>
                </a:solidFill>
                <a:latin typeface="Segoe UI"/>
              </a:rPr>
              <a:t>price-creep regression</a:t>
            </a:r>
            <a:br/>
            <a:r>
              <a:rPr sz="800" b="0">
                <a:solidFill>
                  <a:srgbClr val="6E7079"/>
                </a:solidFill>
                <a:latin typeface="Segoe UI"/>
              </a:rPr>
              <a:t>rate-card violation</a:t>
            </a:r>
          </a:p>
        </p:txBody>
      </p:sp>
      <p:sp>
        <p:nvSpPr>
          <p:cNvPr id="27" name="Rectangle 26"/>
          <p:cNvSpPr/>
          <p:nvPr/>
        </p:nvSpPr>
        <p:spPr>
          <a:xfrm>
            <a:off x="5047488" y="1901952"/>
            <a:ext cx="2084831" cy="261518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047488" y="1901952"/>
            <a:ext cx="2084831" cy="32004"/>
          </a:xfrm>
          <a:prstGeom prst="rect">
            <a:avLst/>
          </a:prstGeom>
          <a:solidFill>
            <a:srgbClr val="C4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230368" y="2084832"/>
            <a:ext cx="914400" cy="219456"/>
          </a:xfrm>
          <a:prstGeom prst="rect">
            <a:avLst/>
          </a:prstGeom>
          <a:noFill/>
        </p:spPr>
        <p:txBody>
          <a:bodyPr wrap="square" lIns="0" rIns="0" tIns="0" bIns="0" anchor="t">
            <a:spAutoFit/>
          </a:bodyPr>
          <a:lstStyle/>
          <a:p>
            <a:pPr algn="l">
              <a:lnSpc>
                <a:spcPct val="128000"/>
              </a:lnSpc>
              <a:spcAft>
                <a:spcPts val="0"/>
              </a:spcAft>
            </a:pPr>
            <a:r>
              <a:rPr sz="900" b="0">
                <a:solidFill>
                  <a:srgbClr val="C4503A"/>
                </a:solidFill>
                <a:latin typeface="Consolas"/>
              </a:rPr>
              <a:t>03</a:t>
            </a:r>
          </a:p>
        </p:txBody>
      </p:sp>
      <p:sp>
        <p:nvSpPr>
          <p:cNvPr id="30" name="TextBox 29"/>
          <p:cNvSpPr txBox="1"/>
          <p:nvPr/>
        </p:nvSpPr>
        <p:spPr>
          <a:xfrm>
            <a:off x="5230368" y="2377440"/>
            <a:ext cx="1719072" cy="640080"/>
          </a:xfrm>
          <a:prstGeom prst="rect">
            <a:avLst/>
          </a:prstGeom>
          <a:noFill/>
        </p:spPr>
        <p:txBody>
          <a:bodyPr wrap="square" lIns="0" rIns="0" tIns="0" bIns="0" anchor="t">
            <a:spAutoFit/>
          </a:bodyPr>
          <a:lstStyle/>
          <a:p>
            <a:pPr algn="l">
              <a:lnSpc>
                <a:spcPct val="116000"/>
              </a:lnSpc>
              <a:spcAft>
                <a:spcPts val="0"/>
              </a:spcAft>
            </a:pPr>
            <a:r>
              <a:rPr sz="1250" b="0">
                <a:solidFill>
                  <a:srgbClr val="E9E5DC"/>
                </a:solidFill>
                <a:latin typeface="Segoe UI"/>
              </a:rPr>
              <a:t>Behavioural</a:t>
            </a:r>
            <a:br/>
            <a:r>
              <a:rPr sz="1250" b="0">
                <a:solidFill>
                  <a:srgbClr val="E9E5DC"/>
                </a:solidFill>
                <a:latin typeface="Segoe UI"/>
              </a:rPr>
              <a:t>Anomalies</a:t>
            </a:r>
          </a:p>
        </p:txBody>
      </p:sp>
      <p:sp>
        <p:nvSpPr>
          <p:cNvPr id="31" name="TextBox 30"/>
          <p:cNvSpPr txBox="1"/>
          <p:nvPr/>
        </p:nvSpPr>
        <p:spPr>
          <a:xfrm>
            <a:off x="5230368" y="3072384"/>
            <a:ext cx="1719072" cy="256032"/>
          </a:xfrm>
          <a:prstGeom prst="rect">
            <a:avLst/>
          </a:prstGeom>
          <a:noFill/>
        </p:spPr>
        <p:txBody>
          <a:bodyPr wrap="square" lIns="0" rIns="0" tIns="0" bIns="0" anchor="t">
            <a:spAutoFit/>
          </a:bodyPr>
          <a:lstStyle/>
          <a:p>
            <a:pPr algn="l">
              <a:lnSpc>
                <a:spcPct val="128000"/>
              </a:lnSpc>
              <a:spcAft>
                <a:spcPts val="0"/>
              </a:spcAft>
            </a:pPr>
            <a:r>
              <a:rPr sz="1700" b="0">
                <a:solidFill>
                  <a:srgbClr val="C4503A"/>
                </a:solidFill>
                <a:latin typeface="Consolas"/>
              </a:rPr>
              <a:t>11</a:t>
            </a:r>
            <a:r>
              <a:rPr sz="900" b="0">
                <a:solidFill>
                  <a:srgbClr val="6E7079"/>
                </a:solidFill>
                <a:latin typeface="Segoe UI"/>
              </a:rPr>
              <a:t>  detectors</a:t>
            </a:r>
          </a:p>
        </p:txBody>
      </p:sp>
      <p:sp>
        <p:nvSpPr>
          <p:cNvPr id="32" name="TextBox 31"/>
          <p:cNvSpPr txBox="1"/>
          <p:nvPr/>
        </p:nvSpPr>
        <p:spPr>
          <a:xfrm>
            <a:off x="5230368" y="3383280"/>
            <a:ext cx="1719072" cy="402336"/>
          </a:xfrm>
          <a:prstGeom prst="rect">
            <a:avLst/>
          </a:prstGeom>
          <a:noFill/>
        </p:spPr>
        <p:txBody>
          <a:bodyPr wrap="square" lIns="0" rIns="0" tIns="0" bIns="0" anchor="t">
            <a:spAutoFit/>
          </a:bodyPr>
          <a:lstStyle/>
          <a:p>
            <a:pPr algn="l">
              <a:lnSpc>
                <a:spcPct val="128000"/>
              </a:lnSpc>
              <a:spcAft>
                <a:spcPts val="0"/>
              </a:spcAft>
            </a:pPr>
            <a:r>
              <a:rPr sz="850" b="0">
                <a:solidFill>
                  <a:srgbClr val="A8A498"/>
                </a:solidFill>
                <a:latin typeface="Consolas"/>
              </a:rPr>
              <a:t>47 findings</a:t>
            </a:r>
            <a:br/>
            <a:r>
              <a:rPr sz="850" b="0">
                <a:solidFill>
                  <a:srgbClr val="A8A498"/>
                </a:solidFill>
                <a:latin typeface="Consolas"/>
              </a:rPr>
              <a:t>90.8% precision</a:t>
            </a:r>
          </a:p>
        </p:txBody>
      </p:sp>
      <p:cxnSp>
        <p:nvCxnSpPr>
          <p:cNvPr id="33" name="Connector 32"/>
          <p:cNvCxnSpPr/>
          <p:nvPr/>
        </p:nvCxnSpPr>
        <p:spPr>
          <a:xfrm>
            <a:off x="5230368" y="3840480"/>
            <a:ext cx="1719072"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230368" y="3950208"/>
            <a:ext cx="1719072" cy="512064"/>
          </a:xfrm>
          <a:prstGeom prst="rect">
            <a:avLst/>
          </a:prstGeom>
          <a:noFill/>
        </p:spPr>
        <p:txBody>
          <a:bodyPr wrap="square" lIns="0" rIns="0" tIns="0" bIns="0" anchor="t">
            <a:spAutoFit/>
          </a:bodyPr>
          <a:lstStyle/>
          <a:p>
            <a:pPr algn="l">
              <a:lnSpc>
                <a:spcPct val="132000"/>
              </a:lnSpc>
              <a:spcAft>
                <a:spcPts val="0"/>
              </a:spcAft>
            </a:pPr>
            <a:r>
              <a:rPr sz="800" b="0">
                <a:solidFill>
                  <a:srgbClr val="6E7079"/>
                </a:solidFill>
                <a:latin typeface="Segoe UI"/>
              </a:rPr>
              <a:t>PO splitting · threshold hugging</a:t>
            </a:r>
            <a:br/>
            <a:r>
              <a:rPr sz="800" b="0">
                <a:solidFill>
                  <a:srgbClr val="6E7079"/>
                </a:solidFill>
                <a:latin typeface="Segoe UI"/>
              </a:rPr>
              <a:t>Benford's Law</a:t>
            </a:r>
            <a:br/>
            <a:r>
              <a:rPr sz="800" b="0">
                <a:solidFill>
                  <a:srgbClr val="6E7079"/>
                </a:solidFill>
                <a:latin typeface="Segoe UI"/>
              </a:rPr>
              <a:t>Isolation Forest outliers</a:t>
            </a:r>
          </a:p>
        </p:txBody>
      </p:sp>
      <p:sp>
        <p:nvSpPr>
          <p:cNvPr id="35" name="Rectangle 34"/>
          <p:cNvSpPr/>
          <p:nvPr/>
        </p:nvSpPr>
        <p:spPr>
          <a:xfrm>
            <a:off x="7242048" y="1901952"/>
            <a:ext cx="2084831" cy="261518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242048" y="1901952"/>
            <a:ext cx="2084831" cy="32004"/>
          </a:xfrm>
          <a:prstGeom prst="rect">
            <a:avLst/>
          </a:prstGeom>
          <a:solidFill>
            <a:srgbClr val="A87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424927" y="2084832"/>
            <a:ext cx="914400" cy="219456"/>
          </a:xfrm>
          <a:prstGeom prst="rect">
            <a:avLst/>
          </a:prstGeom>
          <a:noFill/>
        </p:spPr>
        <p:txBody>
          <a:bodyPr wrap="square" lIns="0" rIns="0" tIns="0" bIns="0" anchor="t">
            <a:spAutoFit/>
          </a:bodyPr>
          <a:lstStyle/>
          <a:p>
            <a:pPr algn="l">
              <a:lnSpc>
                <a:spcPct val="128000"/>
              </a:lnSpc>
              <a:spcAft>
                <a:spcPts val="0"/>
              </a:spcAft>
            </a:pPr>
            <a:r>
              <a:rPr sz="900" b="0">
                <a:solidFill>
                  <a:srgbClr val="A8705A"/>
                </a:solidFill>
                <a:latin typeface="Consolas"/>
              </a:rPr>
              <a:t>04</a:t>
            </a:r>
          </a:p>
        </p:txBody>
      </p:sp>
      <p:sp>
        <p:nvSpPr>
          <p:cNvPr id="38" name="TextBox 37"/>
          <p:cNvSpPr txBox="1"/>
          <p:nvPr/>
        </p:nvSpPr>
        <p:spPr>
          <a:xfrm>
            <a:off x="7424927" y="2377440"/>
            <a:ext cx="1719072" cy="640080"/>
          </a:xfrm>
          <a:prstGeom prst="rect">
            <a:avLst/>
          </a:prstGeom>
          <a:noFill/>
        </p:spPr>
        <p:txBody>
          <a:bodyPr wrap="square" lIns="0" rIns="0" tIns="0" bIns="0" anchor="t">
            <a:spAutoFit/>
          </a:bodyPr>
          <a:lstStyle/>
          <a:p>
            <a:pPr algn="l">
              <a:lnSpc>
                <a:spcPct val="116000"/>
              </a:lnSpc>
              <a:spcAft>
                <a:spcPts val="0"/>
              </a:spcAft>
            </a:pPr>
            <a:r>
              <a:rPr sz="1250" b="0">
                <a:solidFill>
                  <a:srgbClr val="E9E5DC"/>
                </a:solidFill>
                <a:latin typeface="Segoe UI"/>
              </a:rPr>
              <a:t>Vendor Integrity</a:t>
            </a:r>
            <a:br/>
            <a:r>
              <a:rPr sz="1250" b="0">
                <a:solidFill>
                  <a:srgbClr val="E9E5DC"/>
                </a:solidFill>
                <a:latin typeface="Segoe UI"/>
              </a:rPr>
              <a:t>&amp; Collusion</a:t>
            </a:r>
          </a:p>
        </p:txBody>
      </p:sp>
      <p:sp>
        <p:nvSpPr>
          <p:cNvPr id="39" name="TextBox 38"/>
          <p:cNvSpPr txBox="1"/>
          <p:nvPr/>
        </p:nvSpPr>
        <p:spPr>
          <a:xfrm>
            <a:off x="7424927" y="3072384"/>
            <a:ext cx="1719072" cy="256032"/>
          </a:xfrm>
          <a:prstGeom prst="rect">
            <a:avLst/>
          </a:prstGeom>
          <a:noFill/>
        </p:spPr>
        <p:txBody>
          <a:bodyPr wrap="square" lIns="0" rIns="0" tIns="0" bIns="0" anchor="t">
            <a:spAutoFit/>
          </a:bodyPr>
          <a:lstStyle/>
          <a:p>
            <a:pPr algn="l">
              <a:lnSpc>
                <a:spcPct val="128000"/>
              </a:lnSpc>
              <a:spcAft>
                <a:spcPts val="0"/>
              </a:spcAft>
            </a:pPr>
            <a:r>
              <a:rPr sz="1700" b="0">
                <a:solidFill>
                  <a:srgbClr val="A8705A"/>
                </a:solidFill>
                <a:latin typeface="Consolas"/>
              </a:rPr>
              <a:t>8</a:t>
            </a:r>
            <a:r>
              <a:rPr sz="900" b="0">
                <a:solidFill>
                  <a:srgbClr val="6E7079"/>
                </a:solidFill>
                <a:latin typeface="Segoe UI"/>
              </a:rPr>
              <a:t>  detectors</a:t>
            </a:r>
          </a:p>
        </p:txBody>
      </p:sp>
      <p:sp>
        <p:nvSpPr>
          <p:cNvPr id="40" name="TextBox 39"/>
          <p:cNvSpPr txBox="1"/>
          <p:nvPr/>
        </p:nvSpPr>
        <p:spPr>
          <a:xfrm>
            <a:off x="7424927" y="3383280"/>
            <a:ext cx="1719072" cy="402336"/>
          </a:xfrm>
          <a:prstGeom prst="rect">
            <a:avLst/>
          </a:prstGeom>
          <a:noFill/>
        </p:spPr>
        <p:txBody>
          <a:bodyPr wrap="square" lIns="0" rIns="0" tIns="0" bIns="0" anchor="t">
            <a:spAutoFit/>
          </a:bodyPr>
          <a:lstStyle/>
          <a:p>
            <a:pPr algn="l">
              <a:lnSpc>
                <a:spcPct val="128000"/>
              </a:lnSpc>
              <a:spcAft>
                <a:spcPts val="0"/>
              </a:spcAft>
            </a:pPr>
            <a:r>
              <a:rPr sz="850" b="0">
                <a:solidFill>
                  <a:srgbClr val="A8A498"/>
                </a:solidFill>
                <a:latin typeface="Consolas"/>
              </a:rPr>
              <a:t>22 findings</a:t>
            </a:r>
            <a:br/>
            <a:r>
              <a:rPr sz="850" b="0">
                <a:solidFill>
                  <a:srgbClr val="A8A498"/>
                </a:solidFill>
                <a:latin typeface="Consolas"/>
              </a:rPr>
              <a:t>96.4% precision</a:t>
            </a:r>
          </a:p>
        </p:txBody>
      </p:sp>
      <p:cxnSp>
        <p:nvCxnSpPr>
          <p:cNvPr id="41" name="Connector 40"/>
          <p:cNvCxnSpPr/>
          <p:nvPr/>
        </p:nvCxnSpPr>
        <p:spPr>
          <a:xfrm>
            <a:off x="7424927" y="3840480"/>
            <a:ext cx="1719073"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3950208"/>
            <a:ext cx="1719072" cy="512064"/>
          </a:xfrm>
          <a:prstGeom prst="rect">
            <a:avLst/>
          </a:prstGeom>
          <a:noFill/>
        </p:spPr>
        <p:txBody>
          <a:bodyPr wrap="square" lIns="0" rIns="0" tIns="0" bIns="0" anchor="t">
            <a:spAutoFit/>
          </a:bodyPr>
          <a:lstStyle/>
          <a:p>
            <a:pPr algn="l">
              <a:lnSpc>
                <a:spcPct val="132000"/>
              </a:lnSpc>
              <a:spcAft>
                <a:spcPts val="0"/>
              </a:spcAft>
            </a:pPr>
            <a:r>
              <a:rPr sz="800" b="0">
                <a:solidFill>
                  <a:srgbClr val="6E7079"/>
                </a:solidFill>
                <a:latin typeface="Segoe UI"/>
              </a:rPr>
              <a:t>shared-attribute rings</a:t>
            </a:r>
            <a:br/>
            <a:r>
              <a:rPr sz="800" b="0">
                <a:solidFill>
                  <a:srgbClr val="6E7079"/>
                </a:solidFill>
                <a:latin typeface="Segoe UI"/>
              </a:rPr>
              <a:t>vendor ↔ employee links</a:t>
            </a:r>
            <a:br/>
            <a:r>
              <a:rPr sz="800" b="0">
                <a:solidFill>
                  <a:srgbClr val="6E7079"/>
                </a:solidFill>
                <a:latin typeface="Segoe UI"/>
              </a:rPr>
              <a:t>bank change before payment</a:t>
            </a:r>
          </a:p>
        </p:txBody>
      </p:sp>
      <p:sp>
        <p:nvSpPr>
          <p:cNvPr id="43" name="Rectangle 42"/>
          <p:cNvSpPr/>
          <p:nvPr/>
        </p:nvSpPr>
        <p:spPr>
          <a:xfrm>
            <a:off x="9436608" y="1901952"/>
            <a:ext cx="2084831" cy="261518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436608" y="1901952"/>
            <a:ext cx="2084831" cy="32004"/>
          </a:xfrm>
          <a:prstGeom prst="rect">
            <a:avLst/>
          </a:prstGeom>
          <a:solidFill>
            <a:srgbClr val="5B8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619488" y="2084832"/>
            <a:ext cx="914400" cy="219456"/>
          </a:xfrm>
          <a:prstGeom prst="rect">
            <a:avLst/>
          </a:prstGeom>
          <a:noFill/>
        </p:spPr>
        <p:txBody>
          <a:bodyPr wrap="square" lIns="0" rIns="0" tIns="0" bIns="0" anchor="t">
            <a:spAutoFit/>
          </a:bodyPr>
          <a:lstStyle/>
          <a:p>
            <a:pPr algn="l">
              <a:lnSpc>
                <a:spcPct val="128000"/>
              </a:lnSpc>
              <a:spcAft>
                <a:spcPts val="0"/>
              </a:spcAft>
            </a:pPr>
            <a:r>
              <a:rPr sz="900" b="0">
                <a:solidFill>
                  <a:srgbClr val="5B8F6E"/>
                </a:solidFill>
                <a:latin typeface="Consolas"/>
              </a:rPr>
              <a:t>05</a:t>
            </a:r>
          </a:p>
        </p:txBody>
      </p:sp>
      <p:sp>
        <p:nvSpPr>
          <p:cNvPr id="46" name="TextBox 45"/>
          <p:cNvSpPr txBox="1"/>
          <p:nvPr/>
        </p:nvSpPr>
        <p:spPr>
          <a:xfrm>
            <a:off x="9619488" y="2377440"/>
            <a:ext cx="1719072" cy="640080"/>
          </a:xfrm>
          <a:prstGeom prst="rect">
            <a:avLst/>
          </a:prstGeom>
          <a:noFill/>
        </p:spPr>
        <p:txBody>
          <a:bodyPr wrap="square" lIns="0" rIns="0" tIns="0" bIns="0" anchor="t">
            <a:spAutoFit/>
          </a:bodyPr>
          <a:lstStyle/>
          <a:p>
            <a:pPr algn="l">
              <a:lnSpc>
                <a:spcPct val="116000"/>
              </a:lnSpc>
              <a:spcAft>
                <a:spcPts val="0"/>
              </a:spcAft>
            </a:pPr>
            <a:r>
              <a:rPr sz="1250" b="0">
                <a:solidFill>
                  <a:srgbClr val="E9E5DC"/>
                </a:solidFill>
                <a:latin typeface="Segoe UI"/>
              </a:rPr>
              <a:t>Compliance</a:t>
            </a:r>
            <a:br/>
            <a:r>
              <a:rPr sz="1250" b="0">
                <a:solidFill>
                  <a:srgbClr val="E9E5DC"/>
                </a:solidFill>
                <a:latin typeface="Segoe UI"/>
              </a:rPr>
              <a:t>&amp; Process</a:t>
            </a:r>
          </a:p>
        </p:txBody>
      </p:sp>
      <p:sp>
        <p:nvSpPr>
          <p:cNvPr id="47" name="TextBox 46"/>
          <p:cNvSpPr txBox="1"/>
          <p:nvPr/>
        </p:nvSpPr>
        <p:spPr>
          <a:xfrm>
            <a:off x="9619488" y="3072384"/>
            <a:ext cx="1719072" cy="256032"/>
          </a:xfrm>
          <a:prstGeom prst="rect">
            <a:avLst/>
          </a:prstGeom>
          <a:noFill/>
        </p:spPr>
        <p:txBody>
          <a:bodyPr wrap="square" lIns="0" rIns="0" tIns="0" bIns="0" anchor="t">
            <a:spAutoFit/>
          </a:bodyPr>
          <a:lstStyle/>
          <a:p>
            <a:pPr algn="l">
              <a:lnSpc>
                <a:spcPct val="128000"/>
              </a:lnSpc>
              <a:spcAft>
                <a:spcPts val="0"/>
              </a:spcAft>
            </a:pPr>
            <a:r>
              <a:rPr sz="1700" b="0">
                <a:solidFill>
                  <a:srgbClr val="5B8F6E"/>
                </a:solidFill>
                <a:latin typeface="Consolas"/>
              </a:rPr>
              <a:t>6</a:t>
            </a:r>
            <a:r>
              <a:rPr sz="900" b="0">
                <a:solidFill>
                  <a:srgbClr val="6E7079"/>
                </a:solidFill>
                <a:latin typeface="Segoe UI"/>
              </a:rPr>
              <a:t>  detectors</a:t>
            </a:r>
          </a:p>
        </p:txBody>
      </p:sp>
      <p:sp>
        <p:nvSpPr>
          <p:cNvPr id="48" name="TextBox 47"/>
          <p:cNvSpPr txBox="1"/>
          <p:nvPr/>
        </p:nvSpPr>
        <p:spPr>
          <a:xfrm>
            <a:off x="9619488" y="3383280"/>
            <a:ext cx="1719072" cy="402336"/>
          </a:xfrm>
          <a:prstGeom prst="rect">
            <a:avLst/>
          </a:prstGeom>
          <a:noFill/>
        </p:spPr>
        <p:txBody>
          <a:bodyPr wrap="square" lIns="0" rIns="0" tIns="0" bIns="0" anchor="t">
            <a:spAutoFit/>
          </a:bodyPr>
          <a:lstStyle/>
          <a:p>
            <a:pPr algn="l">
              <a:lnSpc>
                <a:spcPct val="128000"/>
              </a:lnSpc>
              <a:spcAft>
                <a:spcPts val="0"/>
              </a:spcAft>
            </a:pPr>
            <a:r>
              <a:rPr sz="850" b="0">
                <a:solidFill>
                  <a:srgbClr val="A8A498"/>
                </a:solidFill>
                <a:latin typeface="Consolas"/>
              </a:rPr>
              <a:t>15 findings</a:t>
            </a:r>
            <a:br/>
            <a:r>
              <a:rPr sz="850" b="0">
                <a:solidFill>
                  <a:srgbClr val="A8A498"/>
                </a:solidFill>
                <a:latin typeface="Consolas"/>
              </a:rPr>
              <a:t>98.1% precision</a:t>
            </a:r>
          </a:p>
        </p:txBody>
      </p:sp>
      <p:cxnSp>
        <p:nvCxnSpPr>
          <p:cNvPr id="49" name="Connector 48"/>
          <p:cNvCxnSpPr/>
          <p:nvPr/>
        </p:nvCxnSpPr>
        <p:spPr>
          <a:xfrm>
            <a:off x="9619488" y="3840480"/>
            <a:ext cx="1719071" cy="0"/>
          </a:xfrm>
          <a:prstGeom prst="line">
            <a:avLst/>
          </a:prstGeom>
          <a:ln w="889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619488" y="3950208"/>
            <a:ext cx="1719072" cy="512064"/>
          </a:xfrm>
          <a:prstGeom prst="rect">
            <a:avLst/>
          </a:prstGeom>
          <a:noFill/>
        </p:spPr>
        <p:txBody>
          <a:bodyPr wrap="square" lIns="0" rIns="0" tIns="0" bIns="0" anchor="t">
            <a:spAutoFit/>
          </a:bodyPr>
          <a:lstStyle/>
          <a:p>
            <a:pPr algn="l">
              <a:lnSpc>
                <a:spcPct val="132000"/>
              </a:lnSpc>
              <a:spcAft>
                <a:spcPts val="0"/>
              </a:spcAft>
            </a:pPr>
            <a:r>
              <a:rPr sz="800" b="0">
                <a:solidFill>
                  <a:srgbClr val="6E7079"/>
                </a:solidFill>
                <a:latin typeface="Segoe UI"/>
              </a:rPr>
              <a:t>three-way match</a:t>
            </a:r>
            <a:br/>
            <a:r>
              <a:rPr sz="800" b="0">
                <a:solidFill>
                  <a:srgbClr val="6E7079"/>
                </a:solidFill>
                <a:latin typeface="Segoe UI"/>
              </a:rPr>
              <a:t>duplicate GST numbering</a:t>
            </a:r>
            <a:br/>
            <a:r>
              <a:rPr sz="800" b="0">
                <a:solidFill>
                  <a:srgbClr val="6E7079"/>
                </a:solidFill>
                <a:latin typeface="Segoe UI"/>
              </a:rPr>
              <a:t>MSME 45-day breach, s.43B(h)</a:t>
            </a:r>
          </a:p>
        </p:txBody>
      </p:sp>
      <p:sp>
        <p:nvSpPr>
          <p:cNvPr id="51" name="TextBox 50"/>
          <p:cNvSpPr txBox="1"/>
          <p:nvPr/>
        </p:nvSpPr>
        <p:spPr>
          <a:xfrm>
            <a:off x="658368" y="4700016"/>
            <a:ext cx="5486400" cy="237744"/>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T H E   P R O D U C T   —   S E V E N   W O R K I N G   V I E W S</a:t>
            </a:r>
          </a:p>
        </p:txBody>
      </p:sp>
      <p:sp>
        <p:nvSpPr>
          <p:cNvPr id="52" name="Rectangle 51"/>
          <p:cNvSpPr/>
          <p:nvPr/>
        </p:nvSpPr>
        <p:spPr>
          <a:xfrm>
            <a:off x="658368" y="4992624"/>
            <a:ext cx="1490472" cy="71323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77240" y="5102352"/>
            <a:ext cx="1252728" cy="237744"/>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Command Center</a:t>
            </a:r>
          </a:p>
        </p:txBody>
      </p:sp>
      <p:sp>
        <p:nvSpPr>
          <p:cNvPr id="54" name="TextBox 53"/>
          <p:cNvSpPr txBox="1"/>
          <p:nvPr/>
        </p:nvSpPr>
        <p:spPr>
          <a:xfrm>
            <a:off x="777240" y="5303520"/>
            <a:ext cx="1252728" cy="402336"/>
          </a:xfrm>
          <a:prstGeom prst="rect">
            <a:avLst/>
          </a:prstGeom>
          <a:noFill/>
        </p:spPr>
        <p:txBody>
          <a:bodyPr wrap="square" lIns="0" rIns="0" tIns="0" bIns="0" anchor="t">
            <a:spAutoFit/>
          </a:bodyPr>
          <a:lstStyle/>
          <a:p>
            <a:pPr algn="l">
              <a:lnSpc>
                <a:spcPct val="122000"/>
              </a:lnSpc>
              <a:spcAft>
                <a:spcPts val="0"/>
              </a:spcAft>
            </a:pPr>
            <a:r>
              <a:rPr sz="750" b="0">
                <a:solidFill>
                  <a:srgbClr val="6E7079"/>
                </a:solidFill>
                <a:latin typeface="Segoe UI"/>
              </a:rPr>
              <a:t>hero figure, savings funnel, health index</a:t>
            </a:r>
          </a:p>
        </p:txBody>
      </p:sp>
      <p:sp>
        <p:nvSpPr>
          <p:cNvPr id="55" name="Rectangle 54"/>
          <p:cNvSpPr/>
          <p:nvPr/>
        </p:nvSpPr>
        <p:spPr>
          <a:xfrm>
            <a:off x="2221991" y="4992624"/>
            <a:ext cx="1490472" cy="71323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2340863" y="5102352"/>
            <a:ext cx="1252728" cy="237744"/>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Findings Register</a:t>
            </a:r>
          </a:p>
        </p:txBody>
      </p:sp>
      <p:sp>
        <p:nvSpPr>
          <p:cNvPr id="57" name="TextBox 56"/>
          <p:cNvSpPr txBox="1"/>
          <p:nvPr/>
        </p:nvSpPr>
        <p:spPr>
          <a:xfrm>
            <a:off x="2340863" y="5303520"/>
            <a:ext cx="1252728" cy="402336"/>
          </a:xfrm>
          <a:prstGeom prst="rect">
            <a:avLst/>
          </a:prstGeom>
          <a:noFill/>
        </p:spPr>
        <p:txBody>
          <a:bodyPr wrap="square" lIns="0" rIns="0" tIns="0" bIns="0" anchor="t">
            <a:spAutoFit/>
          </a:bodyPr>
          <a:lstStyle/>
          <a:p>
            <a:pPr algn="l">
              <a:lnSpc>
                <a:spcPct val="122000"/>
              </a:lnSpc>
              <a:spcAft>
                <a:spcPts val="0"/>
              </a:spcAft>
            </a:pPr>
            <a:r>
              <a:rPr sz="750" b="0">
                <a:solidFill>
                  <a:srgbClr val="6E7079"/>
                </a:solidFill>
                <a:latin typeface="Segoe UI"/>
              </a:rPr>
              <a:t>sortable, filterable, 163 rows</a:t>
            </a:r>
          </a:p>
        </p:txBody>
      </p:sp>
      <p:sp>
        <p:nvSpPr>
          <p:cNvPr id="58" name="Rectangle 57"/>
          <p:cNvSpPr/>
          <p:nvPr/>
        </p:nvSpPr>
        <p:spPr>
          <a:xfrm>
            <a:off x="3785615" y="4992624"/>
            <a:ext cx="1490472" cy="71323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3904487" y="5102352"/>
            <a:ext cx="1252728" cy="237744"/>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Evidence Drawer</a:t>
            </a:r>
          </a:p>
        </p:txBody>
      </p:sp>
      <p:sp>
        <p:nvSpPr>
          <p:cNvPr id="60" name="TextBox 59"/>
          <p:cNvSpPr txBox="1"/>
          <p:nvPr/>
        </p:nvSpPr>
        <p:spPr>
          <a:xfrm>
            <a:off x="3904487" y="5303520"/>
            <a:ext cx="1252728" cy="402336"/>
          </a:xfrm>
          <a:prstGeom prst="rect">
            <a:avLst/>
          </a:prstGeom>
          <a:noFill/>
        </p:spPr>
        <p:txBody>
          <a:bodyPr wrap="square" lIns="0" rIns="0" tIns="0" bIns="0" anchor="t">
            <a:spAutoFit/>
          </a:bodyPr>
          <a:lstStyle/>
          <a:p>
            <a:pPr algn="l">
              <a:lnSpc>
                <a:spcPct val="122000"/>
              </a:lnSpc>
              <a:spcAft>
                <a:spcPts val="0"/>
              </a:spcAft>
            </a:pPr>
            <a:r>
              <a:rPr sz="750" b="0">
                <a:solidFill>
                  <a:srgbClr val="6E7079"/>
                </a:solidFill>
                <a:latin typeface="Segoe UI"/>
              </a:rPr>
              <a:t>two documents side by side, fields diffed</a:t>
            </a:r>
          </a:p>
        </p:txBody>
      </p:sp>
      <p:sp>
        <p:nvSpPr>
          <p:cNvPr id="61" name="Rectangle 60"/>
          <p:cNvSpPr/>
          <p:nvPr/>
        </p:nvSpPr>
        <p:spPr>
          <a:xfrm>
            <a:off x="5349240" y="4992624"/>
            <a:ext cx="1490472" cy="71323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468112" y="5102352"/>
            <a:ext cx="1252728" cy="237744"/>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Price Intelligence</a:t>
            </a:r>
          </a:p>
        </p:txBody>
      </p:sp>
      <p:sp>
        <p:nvSpPr>
          <p:cNvPr id="63" name="TextBox 62"/>
          <p:cNvSpPr txBox="1"/>
          <p:nvPr/>
        </p:nvSpPr>
        <p:spPr>
          <a:xfrm>
            <a:off x="5468112" y="5303520"/>
            <a:ext cx="1252728" cy="402336"/>
          </a:xfrm>
          <a:prstGeom prst="rect">
            <a:avLst/>
          </a:prstGeom>
          <a:noFill/>
        </p:spPr>
        <p:txBody>
          <a:bodyPr wrap="square" lIns="0" rIns="0" tIns="0" bIns="0" anchor="t">
            <a:spAutoFit/>
          </a:bodyPr>
          <a:lstStyle/>
          <a:p>
            <a:pPr algn="l">
              <a:lnSpc>
                <a:spcPct val="122000"/>
              </a:lnSpc>
              <a:spcAft>
                <a:spcPts val="0"/>
              </a:spcAft>
            </a:pPr>
            <a:r>
              <a:rPr sz="750" b="0">
                <a:solidFill>
                  <a:srgbClr val="6E7079"/>
                </a:solidFill>
                <a:latin typeface="Segoe UI"/>
              </a:rPr>
              <a:t>peer median, creep, rate-card delta</a:t>
            </a:r>
          </a:p>
        </p:txBody>
      </p:sp>
      <p:sp>
        <p:nvSpPr>
          <p:cNvPr id="64" name="Rectangle 63"/>
          <p:cNvSpPr/>
          <p:nvPr/>
        </p:nvSpPr>
        <p:spPr>
          <a:xfrm>
            <a:off x="6912864" y="4992624"/>
            <a:ext cx="1490472" cy="71323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031736" y="5102352"/>
            <a:ext cx="1252728" cy="237744"/>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Vendor Integrity</a:t>
            </a:r>
          </a:p>
        </p:txBody>
      </p:sp>
      <p:sp>
        <p:nvSpPr>
          <p:cNvPr id="66" name="TextBox 65"/>
          <p:cNvSpPr txBox="1"/>
          <p:nvPr/>
        </p:nvSpPr>
        <p:spPr>
          <a:xfrm>
            <a:off x="7031736" y="5303520"/>
            <a:ext cx="1252728" cy="402336"/>
          </a:xfrm>
          <a:prstGeom prst="rect">
            <a:avLst/>
          </a:prstGeom>
          <a:noFill/>
        </p:spPr>
        <p:txBody>
          <a:bodyPr wrap="square" lIns="0" rIns="0" tIns="0" bIns="0" anchor="t">
            <a:spAutoFit/>
          </a:bodyPr>
          <a:lstStyle/>
          <a:p>
            <a:pPr algn="l">
              <a:lnSpc>
                <a:spcPct val="122000"/>
              </a:lnSpc>
              <a:spcAft>
                <a:spcPts val="0"/>
              </a:spcAft>
            </a:pPr>
            <a:r>
              <a:rPr sz="750" b="0">
                <a:solidFill>
                  <a:srgbClr val="6E7079"/>
                </a:solidFill>
                <a:latin typeface="Segoe UI"/>
              </a:rPr>
              <a:t>collusion graph, shared bank accounts</a:t>
            </a:r>
          </a:p>
        </p:txBody>
      </p:sp>
      <p:sp>
        <p:nvSpPr>
          <p:cNvPr id="67" name="Rectangle 66"/>
          <p:cNvSpPr/>
          <p:nvPr/>
        </p:nvSpPr>
        <p:spPr>
          <a:xfrm>
            <a:off x="8476488" y="4992624"/>
            <a:ext cx="1490472" cy="71323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595360" y="5102352"/>
            <a:ext cx="1252728" cy="237744"/>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Pattern Lab</a:t>
            </a:r>
          </a:p>
        </p:txBody>
      </p:sp>
      <p:sp>
        <p:nvSpPr>
          <p:cNvPr id="69" name="TextBox 68"/>
          <p:cNvSpPr txBox="1"/>
          <p:nvPr/>
        </p:nvSpPr>
        <p:spPr>
          <a:xfrm>
            <a:off x="8595360" y="5303520"/>
            <a:ext cx="1252728" cy="402336"/>
          </a:xfrm>
          <a:prstGeom prst="rect">
            <a:avLst/>
          </a:prstGeom>
          <a:noFill/>
        </p:spPr>
        <p:txBody>
          <a:bodyPr wrap="square" lIns="0" rIns="0" tIns="0" bIns="0" anchor="t">
            <a:spAutoFit/>
          </a:bodyPr>
          <a:lstStyle/>
          <a:p>
            <a:pPr algn="l">
              <a:lnSpc>
                <a:spcPct val="122000"/>
              </a:lnSpc>
              <a:spcAft>
                <a:spcPts val="0"/>
              </a:spcAft>
            </a:pPr>
            <a:r>
              <a:rPr sz="750" b="0">
                <a:solidFill>
                  <a:srgbClr val="6E7079"/>
                </a:solidFill>
                <a:latin typeface="Segoe UI"/>
              </a:rPr>
              <a:t>threshold histogram, Benford, off-hours</a:t>
            </a:r>
          </a:p>
        </p:txBody>
      </p:sp>
      <p:sp>
        <p:nvSpPr>
          <p:cNvPr id="70" name="Rectangle 69"/>
          <p:cNvSpPr/>
          <p:nvPr/>
        </p:nvSpPr>
        <p:spPr>
          <a:xfrm>
            <a:off x="10040112" y="4992624"/>
            <a:ext cx="1490472" cy="71323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0158984" y="5102352"/>
            <a:ext cx="1252728" cy="237744"/>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Risk Score Studio</a:t>
            </a:r>
          </a:p>
        </p:txBody>
      </p:sp>
      <p:sp>
        <p:nvSpPr>
          <p:cNvPr id="72" name="TextBox 71"/>
          <p:cNvSpPr txBox="1"/>
          <p:nvPr/>
        </p:nvSpPr>
        <p:spPr>
          <a:xfrm>
            <a:off x="10158984" y="5303520"/>
            <a:ext cx="1252728" cy="402336"/>
          </a:xfrm>
          <a:prstGeom prst="rect">
            <a:avLst/>
          </a:prstGeom>
          <a:noFill/>
        </p:spPr>
        <p:txBody>
          <a:bodyPr wrap="square" lIns="0" rIns="0" tIns="0" bIns="0" anchor="t">
            <a:spAutoFit/>
          </a:bodyPr>
          <a:lstStyle/>
          <a:p>
            <a:pPr algn="l">
              <a:lnSpc>
                <a:spcPct val="122000"/>
              </a:lnSpc>
              <a:spcAft>
                <a:spcPts val="0"/>
              </a:spcAft>
            </a:pPr>
            <a:r>
              <a:rPr sz="750" b="0">
                <a:solidFill>
                  <a:srgbClr val="6E7079"/>
                </a:solidFill>
                <a:latin typeface="Segoe UI"/>
              </a:rPr>
              <a:t>live pillar weights, leaderboard reorders</a:t>
            </a:r>
          </a:p>
        </p:txBody>
      </p:sp>
      <p:cxnSp>
        <p:nvCxnSpPr>
          <p:cNvPr id="73" name="Connector 72"/>
          <p:cNvCxnSpPr/>
          <p:nvPr/>
        </p:nvCxnSpPr>
        <p:spPr>
          <a:xfrm>
            <a:off x="658368" y="5870448"/>
            <a:ext cx="0" cy="566928"/>
          </a:xfrm>
          <a:prstGeom prst="line">
            <a:avLst/>
          </a:prstGeom>
          <a:ln w="16510">
            <a:solidFill>
              <a:srgbClr val="8A7220"/>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04672" y="5870448"/>
            <a:ext cx="2487168" cy="237744"/>
          </a:xfrm>
          <a:prstGeom prst="rect">
            <a:avLst/>
          </a:prstGeom>
          <a:noFill/>
        </p:spPr>
        <p:txBody>
          <a:bodyPr wrap="square" lIns="0" rIns="0" tIns="0" bIns="0" anchor="t">
            <a:spAutoFit/>
          </a:bodyPr>
          <a:lstStyle/>
          <a:p>
            <a:pPr algn="l">
              <a:lnSpc>
                <a:spcPct val="128000"/>
              </a:lnSpc>
              <a:spcAft>
                <a:spcPts val="0"/>
              </a:spcAft>
            </a:pPr>
            <a:r>
              <a:rPr sz="1000" b="0">
                <a:solidFill>
                  <a:srgbClr val="C9A227"/>
                </a:solidFill>
                <a:latin typeface="Segoe UI"/>
              </a:rPr>
              <a:t>Evidence, not alerts</a:t>
            </a:r>
          </a:p>
        </p:txBody>
      </p:sp>
      <p:sp>
        <p:nvSpPr>
          <p:cNvPr id="75" name="TextBox 74"/>
          <p:cNvSpPr txBox="1"/>
          <p:nvPr/>
        </p:nvSpPr>
        <p:spPr>
          <a:xfrm>
            <a:off x="804672" y="6108192"/>
            <a:ext cx="2487168"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every finding opens the two source documents with matching and differing fields highlighted</a:t>
            </a:r>
          </a:p>
        </p:txBody>
      </p:sp>
      <p:cxnSp>
        <p:nvCxnSpPr>
          <p:cNvPr id="76" name="Connector 75"/>
          <p:cNvCxnSpPr/>
          <p:nvPr/>
        </p:nvCxnSpPr>
        <p:spPr>
          <a:xfrm>
            <a:off x="3383280" y="5870448"/>
            <a:ext cx="0" cy="566928"/>
          </a:xfrm>
          <a:prstGeom prst="line">
            <a:avLst/>
          </a:prstGeom>
          <a:ln w="16510">
            <a:solidFill>
              <a:srgbClr val="8A7220"/>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529584" y="5870448"/>
            <a:ext cx="2487168" cy="237744"/>
          </a:xfrm>
          <a:prstGeom prst="rect">
            <a:avLst/>
          </a:prstGeom>
          <a:noFill/>
        </p:spPr>
        <p:txBody>
          <a:bodyPr wrap="square" lIns="0" rIns="0" tIns="0" bIns="0" anchor="t">
            <a:spAutoFit/>
          </a:bodyPr>
          <a:lstStyle/>
          <a:p>
            <a:pPr algn="l">
              <a:lnSpc>
                <a:spcPct val="128000"/>
              </a:lnSpc>
              <a:spcAft>
                <a:spcPts val="0"/>
              </a:spcAft>
            </a:pPr>
            <a:r>
              <a:rPr sz="1000" b="0">
                <a:solidFill>
                  <a:srgbClr val="C9A227"/>
                </a:solidFill>
                <a:latin typeface="Segoe UI"/>
              </a:rPr>
              <a:t>Drafted artifacts</a:t>
            </a:r>
          </a:p>
        </p:txBody>
      </p:sp>
      <p:sp>
        <p:nvSpPr>
          <p:cNvPr id="78" name="TextBox 77"/>
          <p:cNvSpPr txBox="1"/>
          <p:nvPr/>
        </p:nvSpPr>
        <p:spPr>
          <a:xfrm>
            <a:off x="3529584" y="6108192"/>
            <a:ext cx="2487168"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recovery email, commercial-review letter or audit-committee memo, typed from the finding</a:t>
            </a:r>
          </a:p>
        </p:txBody>
      </p:sp>
      <p:cxnSp>
        <p:nvCxnSpPr>
          <p:cNvPr id="79" name="Connector 78"/>
          <p:cNvCxnSpPr/>
          <p:nvPr/>
        </p:nvCxnSpPr>
        <p:spPr>
          <a:xfrm>
            <a:off x="6108192" y="5870448"/>
            <a:ext cx="0" cy="566928"/>
          </a:xfrm>
          <a:prstGeom prst="line">
            <a:avLst/>
          </a:prstGeom>
          <a:ln w="16510">
            <a:solidFill>
              <a:srgbClr val="8A7220"/>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254496" y="5870448"/>
            <a:ext cx="2487168" cy="237744"/>
          </a:xfrm>
          <a:prstGeom prst="rect">
            <a:avLst/>
          </a:prstGeom>
          <a:noFill/>
        </p:spPr>
        <p:txBody>
          <a:bodyPr wrap="square" lIns="0" rIns="0" tIns="0" bIns="0" anchor="t">
            <a:spAutoFit/>
          </a:bodyPr>
          <a:lstStyle/>
          <a:p>
            <a:pPr algn="l">
              <a:lnSpc>
                <a:spcPct val="128000"/>
              </a:lnSpc>
              <a:spcAft>
                <a:spcPts val="0"/>
              </a:spcAft>
            </a:pPr>
            <a:r>
              <a:rPr sz="1000" b="0">
                <a:solidFill>
                  <a:srgbClr val="C9A227"/>
                </a:solidFill>
                <a:latin typeface="Segoe UI"/>
              </a:rPr>
              <a:t>Natural language + visible SQL</a:t>
            </a:r>
          </a:p>
        </p:txBody>
      </p:sp>
      <p:sp>
        <p:nvSpPr>
          <p:cNvPr id="81" name="TextBox 80"/>
          <p:cNvSpPr txBox="1"/>
          <p:nvPr/>
        </p:nvSpPr>
        <p:spPr>
          <a:xfrm>
            <a:off x="6254496" y="6108192"/>
            <a:ext cx="2487168"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the query is shown beneath the answer, so nothing can be hallucinated</a:t>
            </a:r>
          </a:p>
        </p:txBody>
      </p:sp>
      <p:cxnSp>
        <p:nvCxnSpPr>
          <p:cNvPr id="82" name="Connector 81"/>
          <p:cNvCxnSpPr/>
          <p:nvPr/>
        </p:nvCxnSpPr>
        <p:spPr>
          <a:xfrm>
            <a:off x="8833104" y="5870448"/>
            <a:ext cx="0" cy="566928"/>
          </a:xfrm>
          <a:prstGeom prst="line">
            <a:avLst/>
          </a:prstGeom>
          <a:ln w="16510">
            <a:solidFill>
              <a:srgbClr val="8A7220"/>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8979408" y="5870448"/>
            <a:ext cx="2487168" cy="237744"/>
          </a:xfrm>
          <a:prstGeom prst="rect">
            <a:avLst/>
          </a:prstGeom>
          <a:noFill/>
        </p:spPr>
        <p:txBody>
          <a:bodyPr wrap="square" lIns="0" rIns="0" tIns="0" bIns="0" anchor="t">
            <a:spAutoFit/>
          </a:bodyPr>
          <a:lstStyle/>
          <a:p>
            <a:pPr algn="l">
              <a:lnSpc>
                <a:spcPct val="128000"/>
              </a:lnSpc>
              <a:spcAft>
                <a:spcPts val="0"/>
              </a:spcAft>
            </a:pPr>
            <a:r>
              <a:rPr sz="1000" b="0">
                <a:solidFill>
                  <a:srgbClr val="C9A227"/>
                </a:solidFill>
                <a:latin typeface="Segoe UI"/>
              </a:rPr>
              <a:t>India compliance layer</a:t>
            </a:r>
          </a:p>
        </p:txBody>
      </p:sp>
      <p:sp>
        <p:nvSpPr>
          <p:cNvPr id="84" name="TextBox 83"/>
          <p:cNvSpPr txBox="1"/>
          <p:nvPr/>
        </p:nvSpPr>
        <p:spPr>
          <a:xfrm>
            <a:off x="8979408" y="6108192"/>
            <a:ext cx="2487168"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GSTIN format, duplicate GST numbering under Rule 46(b), HSN tax match, MSME s.43B(h)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ontent.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658368"/>
            <a:ext cx="1097280" cy="274320"/>
          </a:xfrm>
          <a:prstGeom prst="rect">
            <a:avLst/>
          </a:prstGeom>
          <a:noFill/>
        </p:spPr>
        <p:txBody>
          <a:bodyPr wrap="square" lIns="0" rIns="0" tIns="0" bIns="0" anchor="t">
            <a:spAutoFit/>
          </a:bodyPr>
          <a:lstStyle/>
          <a:p>
            <a:pPr algn="l">
              <a:lnSpc>
                <a:spcPct val="128000"/>
              </a:lnSpc>
              <a:spcAft>
                <a:spcPts val="0"/>
              </a:spcAft>
            </a:pPr>
            <a:r>
              <a:rPr sz="1000" b="0">
                <a:solidFill>
                  <a:srgbClr val="6E7079"/>
                </a:solidFill>
                <a:latin typeface="Consolas"/>
              </a:rPr>
              <a:t>04</a:t>
            </a:r>
          </a:p>
        </p:txBody>
      </p:sp>
      <p:sp>
        <p:nvSpPr>
          <p:cNvPr id="5" name="TextBox 4"/>
          <p:cNvSpPr txBox="1"/>
          <p:nvPr/>
        </p:nvSpPr>
        <p:spPr>
          <a:xfrm>
            <a:off x="1225295" y="669340"/>
            <a:ext cx="7315200" cy="201168"/>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I D E A   A N D   A P P R O A C H</a:t>
            </a:r>
          </a:p>
        </p:txBody>
      </p:sp>
      <p:sp>
        <p:nvSpPr>
          <p:cNvPr id="6" name="TextBox 5"/>
          <p:cNvSpPr txBox="1"/>
          <p:nvPr/>
        </p:nvSpPr>
        <p:spPr>
          <a:xfrm>
            <a:off x="658368" y="1005840"/>
            <a:ext cx="10874959" cy="548640"/>
          </a:xfrm>
          <a:prstGeom prst="rect">
            <a:avLst/>
          </a:prstGeom>
          <a:noFill/>
        </p:spPr>
        <p:txBody>
          <a:bodyPr wrap="square" lIns="0" rIns="0" tIns="0" bIns="0" anchor="t">
            <a:spAutoFit/>
          </a:bodyPr>
          <a:lstStyle/>
          <a:p>
            <a:pPr algn="l">
              <a:lnSpc>
                <a:spcPct val="102000"/>
              </a:lnSpc>
              <a:spcAft>
                <a:spcPts val="0"/>
              </a:spcAft>
            </a:pPr>
            <a:r>
              <a:rPr sz="3100" b="0">
                <a:solidFill>
                  <a:srgbClr val="E9E5DC"/>
                </a:solidFill>
                <a:latin typeface="Georgia"/>
              </a:rPr>
              <a:t>Change the unit of analysis, and the fraud becomes visible.</a:t>
            </a:r>
          </a:p>
        </p:txBody>
      </p:sp>
      <p:cxnSp>
        <p:nvCxnSpPr>
          <p:cNvPr id="7" name="Connector 6"/>
          <p:cNvCxnSpPr/>
          <p:nvPr/>
        </p:nvCxnSpPr>
        <p:spPr>
          <a:xfrm>
            <a:off x="658368" y="1627632"/>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 y="6437376"/>
            <a:ext cx="10874959"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519672"/>
            <a:ext cx="548640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LedgerLens · procurement forensics</a:t>
            </a:r>
          </a:p>
        </p:txBody>
      </p:sp>
      <p:sp>
        <p:nvSpPr>
          <p:cNvPr id="10" name="TextBox 9"/>
          <p:cNvSpPr txBox="1"/>
          <p:nvPr/>
        </p:nvSpPr>
        <p:spPr>
          <a:xfrm>
            <a:off x="9704527" y="6519672"/>
            <a:ext cx="1828800" cy="219456"/>
          </a:xfrm>
          <a:prstGeom prst="rect">
            <a:avLst/>
          </a:prstGeom>
          <a:noFill/>
        </p:spPr>
        <p:txBody>
          <a:bodyPr wrap="square" lIns="0" rIns="0" tIns="0" bIns="0" anchor="t">
            <a:spAutoFit/>
          </a:bodyPr>
          <a:lstStyle/>
          <a:p>
            <a:pPr algn="r">
              <a:lnSpc>
                <a:spcPct val="128000"/>
              </a:lnSpc>
              <a:spcAft>
                <a:spcPts val="0"/>
              </a:spcAft>
            </a:pPr>
            <a:r>
              <a:rPr sz="800" b="0">
                <a:solidFill>
                  <a:srgbClr val="6E7079"/>
                </a:solidFill>
                <a:latin typeface="Consolas"/>
              </a:rPr>
              <a:t>04 / 07</a:t>
            </a:r>
          </a:p>
        </p:txBody>
      </p:sp>
      <p:sp>
        <p:nvSpPr>
          <p:cNvPr id="11" name="TextBox 10"/>
          <p:cNvSpPr txBox="1"/>
          <p:nvPr/>
        </p:nvSpPr>
        <p:spPr>
          <a:xfrm>
            <a:off x="658368" y="1901952"/>
            <a:ext cx="5029200" cy="256032"/>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O N E   R E C O R D   A T   A   T I M E</a:t>
            </a:r>
          </a:p>
        </p:txBody>
      </p:sp>
      <p:sp>
        <p:nvSpPr>
          <p:cNvPr id="12" name="Rectangle 11"/>
          <p:cNvSpPr/>
          <p:nvPr/>
        </p:nvSpPr>
        <p:spPr>
          <a:xfrm>
            <a:off x="658368" y="2212848"/>
            <a:ext cx="5029200" cy="1133856"/>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96112" y="2414016"/>
            <a:ext cx="749808" cy="457200"/>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2523744"/>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A8A498"/>
                </a:solidFill>
                <a:latin typeface="Consolas"/>
              </a:rPr>
              <a:t>PO 1</a:t>
            </a:r>
          </a:p>
        </p:txBody>
      </p:sp>
      <p:sp>
        <p:nvSpPr>
          <p:cNvPr id="15" name="TextBox 14"/>
          <p:cNvSpPr txBox="1"/>
          <p:nvPr/>
        </p:nvSpPr>
        <p:spPr>
          <a:xfrm>
            <a:off x="896112" y="2926080"/>
            <a:ext cx="749808"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₹48,000</a:t>
            </a:r>
          </a:p>
        </p:txBody>
      </p:sp>
      <p:sp>
        <p:nvSpPr>
          <p:cNvPr id="16" name="TextBox 15"/>
          <p:cNvSpPr txBox="1"/>
          <p:nvPr/>
        </p:nvSpPr>
        <p:spPr>
          <a:xfrm>
            <a:off x="896112" y="3127248"/>
            <a:ext cx="749808" cy="182880"/>
          </a:xfrm>
          <a:prstGeom prst="rect">
            <a:avLst/>
          </a:prstGeom>
          <a:noFill/>
        </p:spPr>
        <p:txBody>
          <a:bodyPr wrap="square" lIns="0" rIns="0" tIns="0" bIns="0" anchor="t">
            <a:spAutoFit/>
          </a:bodyPr>
          <a:lstStyle/>
          <a:p>
            <a:pPr algn="ctr">
              <a:lnSpc>
                <a:spcPct val="128000"/>
              </a:lnSpc>
              <a:spcAft>
                <a:spcPts val="0"/>
              </a:spcAft>
            </a:pPr>
            <a:r>
              <a:rPr sz="750" b="0">
                <a:solidFill>
                  <a:srgbClr val="5B8F6E"/>
                </a:solidFill>
                <a:latin typeface="Consolas"/>
              </a:rPr>
              <a:t>PASS</a:t>
            </a:r>
          </a:p>
        </p:txBody>
      </p:sp>
      <p:sp>
        <p:nvSpPr>
          <p:cNvPr id="17" name="Rectangle 16"/>
          <p:cNvSpPr/>
          <p:nvPr/>
        </p:nvSpPr>
        <p:spPr>
          <a:xfrm>
            <a:off x="1828800" y="2414016"/>
            <a:ext cx="749808" cy="457200"/>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828800" y="2523744"/>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A8A498"/>
                </a:solidFill>
                <a:latin typeface="Consolas"/>
              </a:rPr>
              <a:t>PO 2</a:t>
            </a:r>
          </a:p>
        </p:txBody>
      </p:sp>
      <p:sp>
        <p:nvSpPr>
          <p:cNvPr id="19" name="TextBox 18"/>
          <p:cNvSpPr txBox="1"/>
          <p:nvPr/>
        </p:nvSpPr>
        <p:spPr>
          <a:xfrm>
            <a:off x="1828800" y="2926080"/>
            <a:ext cx="749808"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₹48,000</a:t>
            </a:r>
          </a:p>
        </p:txBody>
      </p:sp>
      <p:sp>
        <p:nvSpPr>
          <p:cNvPr id="20" name="TextBox 19"/>
          <p:cNvSpPr txBox="1"/>
          <p:nvPr/>
        </p:nvSpPr>
        <p:spPr>
          <a:xfrm>
            <a:off x="1828800" y="3127248"/>
            <a:ext cx="749808" cy="182880"/>
          </a:xfrm>
          <a:prstGeom prst="rect">
            <a:avLst/>
          </a:prstGeom>
          <a:noFill/>
        </p:spPr>
        <p:txBody>
          <a:bodyPr wrap="square" lIns="0" rIns="0" tIns="0" bIns="0" anchor="t">
            <a:spAutoFit/>
          </a:bodyPr>
          <a:lstStyle/>
          <a:p>
            <a:pPr algn="ctr">
              <a:lnSpc>
                <a:spcPct val="128000"/>
              </a:lnSpc>
              <a:spcAft>
                <a:spcPts val="0"/>
              </a:spcAft>
            </a:pPr>
            <a:r>
              <a:rPr sz="750" b="0">
                <a:solidFill>
                  <a:srgbClr val="5B8F6E"/>
                </a:solidFill>
                <a:latin typeface="Consolas"/>
              </a:rPr>
              <a:t>PASS</a:t>
            </a:r>
          </a:p>
        </p:txBody>
      </p:sp>
      <p:sp>
        <p:nvSpPr>
          <p:cNvPr id="21" name="Rectangle 20"/>
          <p:cNvSpPr/>
          <p:nvPr/>
        </p:nvSpPr>
        <p:spPr>
          <a:xfrm>
            <a:off x="2761488" y="2414016"/>
            <a:ext cx="749808" cy="457200"/>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761488" y="2523744"/>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A8A498"/>
                </a:solidFill>
                <a:latin typeface="Consolas"/>
              </a:rPr>
              <a:t>PO 3</a:t>
            </a:r>
          </a:p>
        </p:txBody>
      </p:sp>
      <p:sp>
        <p:nvSpPr>
          <p:cNvPr id="23" name="TextBox 22"/>
          <p:cNvSpPr txBox="1"/>
          <p:nvPr/>
        </p:nvSpPr>
        <p:spPr>
          <a:xfrm>
            <a:off x="2761488" y="2926080"/>
            <a:ext cx="749808"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₹48,000</a:t>
            </a:r>
          </a:p>
        </p:txBody>
      </p:sp>
      <p:sp>
        <p:nvSpPr>
          <p:cNvPr id="24" name="TextBox 23"/>
          <p:cNvSpPr txBox="1"/>
          <p:nvPr/>
        </p:nvSpPr>
        <p:spPr>
          <a:xfrm>
            <a:off x="2761488" y="3127248"/>
            <a:ext cx="749808" cy="182880"/>
          </a:xfrm>
          <a:prstGeom prst="rect">
            <a:avLst/>
          </a:prstGeom>
          <a:noFill/>
        </p:spPr>
        <p:txBody>
          <a:bodyPr wrap="square" lIns="0" rIns="0" tIns="0" bIns="0" anchor="t">
            <a:spAutoFit/>
          </a:bodyPr>
          <a:lstStyle/>
          <a:p>
            <a:pPr algn="ctr">
              <a:lnSpc>
                <a:spcPct val="128000"/>
              </a:lnSpc>
              <a:spcAft>
                <a:spcPts val="0"/>
              </a:spcAft>
            </a:pPr>
            <a:r>
              <a:rPr sz="750" b="0">
                <a:solidFill>
                  <a:srgbClr val="5B8F6E"/>
                </a:solidFill>
                <a:latin typeface="Consolas"/>
              </a:rPr>
              <a:t>PASS</a:t>
            </a:r>
          </a:p>
        </p:txBody>
      </p:sp>
      <p:sp>
        <p:nvSpPr>
          <p:cNvPr id="25" name="Rectangle 24"/>
          <p:cNvSpPr/>
          <p:nvPr/>
        </p:nvSpPr>
        <p:spPr>
          <a:xfrm>
            <a:off x="3694176" y="2414016"/>
            <a:ext cx="749808" cy="457200"/>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694176" y="2523744"/>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A8A498"/>
                </a:solidFill>
                <a:latin typeface="Consolas"/>
              </a:rPr>
              <a:t>PO 4</a:t>
            </a:r>
          </a:p>
        </p:txBody>
      </p:sp>
      <p:sp>
        <p:nvSpPr>
          <p:cNvPr id="27" name="TextBox 26"/>
          <p:cNvSpPr txBox="1"/>
          <p:nvPr/>
        </p:nvSpPr>
        <p:spPr>
          <a:xfrm>
            <a:off x="3694176" y="2926080"/>
            <a:ext cx="749808"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₹48,000</a:t>
            </a:r>
          </a:p>
        </p:txBody>
      </p:sp>
      <p:sp>
        <p:nvSpPr>
          <p:cNvPr id="28" name="TextBox 27"/>
          <p:cNvSpPr txBox="1"/>
          <p:nvPr/>
        </p:nvSpPr>
        <p:spPr>
          <a:xfrm>
            <a:off x="3694176" y="3127248"/>
            <a:ext cx="749808" cy="182880"/>
          </a:xfrm>
          <a:prstGeom prst="rect">
            <a:avLst/>
          </a:prstGeom>
          <a:noFill/>
        </p:spPr>
        <p:txBody>
          <a:bodyPr wrap="square" lIns="0" rIns="0" tIns="0" bIns="0" anchor="t">
            <a:spAutoFit/>
          </a:bodyPr>
          <a:lstStyle/>
          <a:p>
            <a:pPr algn="ctr">
              <a:lnSpc>
                <a:spcPct val="128000"/>
              </a:lnSpc>
              <a:spcAft>
                <a:spcPts val="0"/>
              </a:spcAft>
            </a:pPr>
            <a:r>
              <a:rPr sz="750" b="0">
                <a:solidFill>
                  <a:srgbClr val="5B8F6E"/>
                </a:solidFill>
                <a:latin typeface="Consolas"/>
              </a:rPr>
              <a:t>PASS</a:t>
            </a:r>
          </a:p>
        </p:txBody>
      </p:sp>
      <p:sp>
        <p:nvSpPr>
          <p:cNvPr id="29" name="Rectangle 28"/>
          <p:cNvSpPr/>
          <p:nvPr/>
        </p:nvSpPr>
        <p:spPr>
          <a:xfrm>
            <a:off x="4626864" y="2414016"/>
            <a:ext cx="749808" cy="457200"/>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626864" y="2523744"/>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A8A498"/>
                </a:solidFill>
                <a:latin typeface="Consolas"/>
              </a:rPr>
              <a:t>PO 5</a:t>
            </a:r>
          </a:p>
        </p:txBody>
      </p:sp>
      <p:sp>
        <p:nvSpPr>
          <p:cNvPr id="31" name="TextBox 30"/>
          <p:cNvSpPr txBox="1"/>
          <p:nvPr/>
        </p:nvSpPr>
        <p:spPr>
          <a:xfrm>
            <a:off x="4626864" y="2926080"/>
            <a:ext cx="749808"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₹48,000</a:t>
            </a:r>
          </a:p>
        </p:txBody>
      </p:sp>
      <p:sp>
        <p:nvSpPr>
          <p:cNvPr id="32" name="TextBox 31"/>
          <p:cNvSpPr txBox="1"/>
          <p:nvPr/>
        </p:nvSpPr>
        <p:spPr>
          <a:xfrm>
            <a:off x="4626864" y="3127248"/>
            <a:ext cx="749808" cy="182880"/>
          </a:xfrm>
          <a:prstGeom prst="rect">
            <a:avLst/>
          </a:prstGeom>
          <a:noFill/>
        </p:spPr>
        <p:txBody>
          <a:bodyPr wrap="square" lIns="0" rIns="0" tIns="0" bIns="0" anchor="t">
            <a:spAutoFit/>
          </a:bodyPr>
          <a:lstStyle/>
          <a:p>
            <a:pPr algn="ctr">
              <a:lnSpc>
                <a:spcPct val="128000"/>
              </a:lnSpc>
              <a:spcAft>
                <a:spcPts val="0"/>
              </a:spcAft>
            </a:pPr>
            <a:r>
              <a:rPr sz="750" b="0">
                <a:solidFill>
                  <a:srgbClr val="5B8F6E"/>
                </a:solidFill>
                <a:latin typeface="Consolas"/>
              </a:rPr>
              <a:t>PASS</a:t>
            </a:r>
          </a:p>
        </p:txBody>
      </p:sp>
      <p:sp>
        <p:nvSpPr>
          <p:cNvPr id="33" name="TextBox 32"/>
          <p:cNvSpPr txBox="1"/>
          <p:nvPr/>
        </p:nvSpPr>
        <p:spPr>
          <a:xfrm>
            <a:off x="658368" y="3511296"/>
            <a:ext cx="5029200" cy="274320"/>
          </a:xfrm>
          <a:prstGeom prst="rect">
            <a:avLst/>
          </a:prstGeom>
          <a:noFill/>
        </p:spPr>
        <p:txBody>
          <a:bodyPr wrap="square" lIns="0" rIns="0" tIns="0" bIns="0" anchor="t">
            <a:spAutoFit/>
          </a:bodyPr>
          <a:lstStyle/>
          <a:p>
            <a:pPr algn="l">
              <a:lnSpc>
                <a:spcPct val="130000"/>
              </a:lnSpc>
              <a:spcAft>
                <a:spcPts val="0"/>
              </a:spcAft>
            </a:pPr>
            <a:r>
              <a:rPr sz="950" b="0">
                <a:solidFill>
                  <a:srgbClr val="A8A498"/>
                </a:solidFill>
                <a:latin typeface="Segoe UI"/>
              </a:rPr>
              <a:t>Every one is below the ₹50,000 threshold. Every one is correctly approved. Nothing fires.</a:t>
            </a:r>
          </a:p>
        </p:txBody>
      </p:sp>
      <p:sp>
        <p:nvSpPr>
          <p:cNvPr id="34" name="TextBox 33"/>
          <p:cNvSpPr txBox="1"/>
          <p:nvPr/>
        </p:nvSpPr>
        <p:spPr>
          <a:xfrm>
            <a:off x="658368" y="4023360"/>
            <a:ext cx="5029200" cy="256032"/>
          </a:xfrm>
          <a:prstGeom prst="rect">
            <a:avLst/>
          </a:prstGeom>
          <a:noFill/>
        </p:spPr>
        <p:txBody>
          <a:bodyPr wrap="square" lIns="0" rIns="0" tIns="0" bIns="0" anchor="t">
            <a:spAutoFit/>
          </a:bodyPr>
          <a:lstStyle/>
          <a:p>
            <a:pPr algn="l">
              <a:lnSpc>
                <a:spcPct val="128000"/>
              </a:lnSpc>
              <a:spcAft>
                <a:spcPts val="0"/>
              </a:spcAft>
            </a:pPr>
            <a:r>
              <a:rPr sz="850" b="0">
                <a:solidFill>
                  <a:srgbClr val="C9A227"/>
                </a:solidFill>
                <a:latin typeface="Consolas"/>
              </a:rPr>
              <a:t>T H E   R E L A T I O N S H I P   B E T W E E N   T H E M</a:t>
            </a:r>
          </a:p>
        </p:txBody>
      </p:sp>
      <p:sp>
        <p:nvSpPr>
          <p:cNvPr id="35" name="Rectangle 34"/>
          <p:cNvSpPr/>
          <p:nvPr/>
        </p:nvSpPr>
        <p:spPr>
          <a:xfrm>
            <a:off x="658368" y="4334256"/>
            <a:ext cx="5029200" cy="1371600"/>
          </a:xfrm>
          <a:prstGeom prst="rect">
            <a:avLst/>
          </a:prstGeom>
          <a:solidFill>
            <a:srgbClr val="121417"/>
          </a:solidFill>
          <a:ln w="12700">
            <a:solidFill>
              <a:srgbClr val="7A32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96112" y="4517136"/>
            <a:ext cx="749808" cy="384048"/>
          </a:xfrm>
          <a:prstGeom prst="rect">
            <a:avLst/>
          </a:prstGeom>
          <a:solidFill>
            <a:srgbClr val="191C21"/>
          </a:solidFill>
          <a:ln w="9525">
            <a:solidFill>
              <a:srgbClr val="C450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6112" y="4599432"/>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C4503A"/>
                </a:solidFill>
                <a:latin typeface="Consolas"/>
              </a:rPr>
              <a:t>PO 1</a:t>
            </a:r>
          </a:p>
        </p:txBody>
      </p:sp>
      <p:cxnSp>
        <p:nvCxnSpPr>
          <p:cNvPr id="38" name="Connector 37"/>
          <p:cNvCxnSpPr/>
          <p:nvPr/>
        </p:nvCxnSpPr>
        <p:spPr>
          <a:xfrm>
            <a:off x="1645919" y="4709160"/>
            <a:ext cx="182880" cy="0"/>
          </a:xfrm>
          <a:prstGeom prst="line">
            <a:avLst/>
          </a:prstGeom>
          <a:ln w="12700">
            <a:solidFill>
              <a:srgbClr val="C4503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828800" y="4517136"/>
            <a:ext cx="749808" cy="384048"/>
          </a:xfrm>
          <a:prstGeom prst="rect">
            <a:avLst/>
          </a:prstGeom>
          <a:solidFill>
            <a:srgbClr val="191C21"/>
          </a:solidFill>
          <a:ln w="9525">
            <a:solidFill>
              <a:srgbClr val="C450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828800" y="4599432"/>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C4503A"/>
                </a:solidFill>
                <a:latin typeface="Consolas"/>
              </a:rPr>
              <a:t>PO 2</a:t>
            </a:r>
          </a:p>
        </p:txBody>
      </p:sp>
      <p:cxnSp>
        <p:nvCxnSpPr>
          <p:cNvPr id="41" name="Connector 40"/>
          <p:cNvCxnSpPr/>
          <p:nvPr/>
        </p:nvCxnSpPr>
        <p:spPr>
          <a:xfrm>
            <a:off x="2578608" y="4709160"/>
            <a:ext cx="182880" cy="0"/>
          </a:xfrm>
          <a:prstGeom prst="line">
            <a:avLst/>
          </a:prstGeom>
          <a:ln w="12700">
            <a:solidFill>
              <a:srgbClr val="C4503A"/>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761488" y="4517136"/>
            <a:ext cx="749808" cy="384048"/>
          </a:xfrm>
          <a:prstGeom prst="rect">
            <a:avLst/>
          </a:prstGeom>
          <a:solidFill>
            <a:srgbClr val="191C21"/>
          </a:solidFill>
          <a:ln w="9525">
            <a:solidFill>
              <a:srgbClr val="C450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761488" y="4599432"/>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C4503A"/>
                </a:solidFill>
                <a:latin typeface="Consolas"/>
              </a:rPr>
              <a:t>PO 3</a:t>
            </a:r>
          </a:p>
        </p:txBody>
      </p:sp>
      <p:cxnSp>
        <p:nvCxnSpPr>
          <p:cNvPr id="44" name="Connector 43"/>
          <p:cNvCxnSpPr/>
          <p:nvPr/>
        </p:nvCxnSpPr>
        <p:spPr>
          <a:xfrm>
            <a:off x="3511296" y="4709160"/>
            <a:ext cx="182880" cy="0"/>
          </a:xfrm>
          <a:prstGeom prst="line">
            <a:avLst/>
          </a:prstGeom>
          <a:ln w="12700">
            <a:solidFill>
              <a:srgbClr val="C4503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3694176" y="4517136"/>
            <a:ext cx="749808" cy="384048"/>
          </a:xfrm>
          <a:prstGeom prst="rect">
            <a:avLst/>
          </a:prstGeom>
          <a:solidFill>
            <a:srgbClr val="191C21"/>
          </a:solidFill>
          <a:ln w="9525">
            <a:solidFill>
              <a:srgbClr val="C450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3694176" y="4599432"/>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C4503A"/>
                </a:solidFill>
                <a:latin typeface="Consolas"/>
              </a:rPr>
              <a:t>PO 4</a:t>
            </a:r>
          </a:p>
        </p:txBody>
      </p:sp>
      <p:cxnSp>
        <p:nvCxnSpPr>
          <p:cNvPr id="47" name="Connector 46"/>
          <p:cNvCxnSpPr/>
          <p:nvPr/>
        </p:nvCxnSpPr>
        <p:spPr>
          <a:xfrm>
            <a:off x="4443984" y="4709160"/>
            <a:ext cx="182880" cy="0"/>
          </a:xfrm>
          <a:prstGeom prst="line">
            <a:avLst/>
          </a:prstGeom>
          <a:ln w="12700">
            <a:solidFill>
              <a:srgbClr val="C4503A"/>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4626864" y="4517136"/>
            <a:ext cx="749808" cy="384048"/>
          </a:xfrm>
          <a:prstGeom prst="rect">
            <a:avLst/>
          </a:prstGeom>
          <a:solidFill>
            <a:srgbClr val="191C21"/>
          </a:solidFill>
          <a:ln w="9525">
            <a:solidFill>
              <a:srgbClr val="C450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626864" y="4599432"/>
            <a:ext cx="749808" cy="219456"/>
          </a:xfrm>
          <a:prstGeom prst="rect">
            <a:avLst/>
          </a:prstGeom>
          <a:noFill/>
        </p:spPr>
        <p:txBody>
          <a:bodyPr wrap="square" lIns="0" rIns="0" tIns="0" bIns="0" anchor="t">
            <a:spAutoFit/>
          </a:bodyPr>
          <a:lstStyle/>
          <a:p>
            <a:pPr algn="ctr">
              <a:lnSpc>
                <a:spcPct val="128000"/>
              </a:lnSpc>
              <a:spcAft>
                <a:spcPts val="0"/>
              </a:spcAft>
            </a:pPr>
            <a:r>
              <a:rPr sz="850" b="0">
                <a:solidFill>
                  <a:srgbClr val="C4503A"/>
                </a:solidFill>
                <a:latin typeface="Consolas"/>
              </a:rPr>
              <a:t>PO 5</a:t>
            </a:r>
          </a:p>
        </p:txBody>
      </p:sp>
      <p:sp>
        <p:nvSpPr>
          <p:cNvPr id="50" name="TextBox 49"/>
          <p:cNvSpPr txBox="1"/>
          <p:nvPr/>
        </p:nvSpPr>
        <p:spPr>
          <a:xfrm>
            <a:off x="896112" y="5029200"/>
            <a:ext cx="4572000" cy="256032"/>
          </a:xfrm>
          <a:prstGeom prst="rect">
            <a:avLst/>
          </a:prstGeom>
          <a:noFill/>
        </p:spPr>
        <p:txBody>
          <a:bodyPr wrap="square" lIns="0" rIns="0" tIns="0" bIns="0" anchor="t">
            <a:spAutoFit/>
          </a:bodyPr>
          <a:lstStyle/>
          <a:p>
            <a:pPr algn="l">
              <a:lnSpc>
                <a:spcPct val="128000"/>
              </a:lnSpc>
              <a:spcAft>
                <a:spcPts val="0"/>
              </a:spcAft>
            </a:pPr>
            <a:r>
              <a:rPr sz="900" b="0">
                <a:solidFill>
                  <a:srgbClr val="A8A498"/>
                </a:solidFill>
                <a:latin typeface="Consolas"/>
              </a:rPr>
              <a:t>one vendor · one 5-day window · each 96% of the limit</a:t>
            </a:r>
          </a:p>
        </p:txBody>
      </p:sp>
      <p:sp>
        <p:nvSpPr>
          <p:cNvPr id="51" name="TextBox 50"/>
          <p:cNvSpPr txBox="1"/>
          <p:nvPr/>
        </p:nvSpPr>
        <p:spPr>
          <a:xfrm>
            <a:off x="896112" y="5285232"/>
            <a:ext cx="4572000" cy="310896"/>
          </a:xfrm>
          <a:prstGeom prst="rect">
            <a:avLst/>
          </a:prstGeom>
          <a:noFill/>
        </p:spPr>
        <p:txBody>
          <a:bodyPr wrap="square" lIns="0" rIns="0" tIns="0" bIns="0" anchor="t">
            <a:spAutoFit/>
          </a:bodyPr>
          <a:lstStyle/>
          <a:p>
            <a:pPr algn="l">
              <a:lnSpc>
                <a:spcPct val="128000"/>
              </a:lnSpc>
              <a:spcAft>
                <a:spcPts val="0"/>
              </a:spcAft>
            </a:pPr>
            <a:r>
              <a:rPr sz="1250" b="0">
                <a:solidFill>
                  <a:srgbClr val="C4503A"/>
                </a:solidFill>
                <a:latin typeface="Consolas"/>
              </a:rPr>
              <a:t>₹2,40,000 routed around director approval</a:t>
            </a:r>
          </a:p>
        </p:txBody>
      </p:sp>
      <p:cxnSp>
        <p:nvCxnSpPr>
          <p:cNvPr id="52" name="Connector 51"/>
          <p:cNvCxnSpPr/>
          <p:nvPr/>
        </p:nvCxnSpPr>
        <p:spPr>
          <a:xfrm>
            <a:off x="6035040" y="1901952"/>
            <a:ext cx="0" cy="384048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00800" y="1901952"/>
            <a:ext cx="457200" cy="237744"/>
          </a:xfrm>
          <a:prstGeom prst="rect">
            <a:avLst/>
          </a:prstGeom>
          <a:noFill/>
        </p:spPr>
        <p:txBody>
          <a:bodyPr wrap="square" lIns="0" rIns="0" tIns="0" bIns="0" anchor="t">
            <a:spAutoFit/>
          </a:bodyPr>
          <a:lstStyle/>
          <a:p>
            <a:pPr algn="l">
              <a:lnSpc>
                <a:spcPct val="128000"/>
              </a:lnSpc>
              <a:spcAft>
                <a:spcPts val="0"/>
              </a:spcAft>
            </a:pPr>
            <a:r>
              <a:rPr sz="900" b="0">
                <a:solidFill>
                  <a:srgbClr val="C9A227"/>
                </a:solidFill>
                <a:latin typeface="Consolas"/>
              </a:rPr>
              <a:t>01</a:t>
            </a:r>
          </a:p>
        </p:txBody>
      </p:sp>
      <p:sp>
        <p:nvSpPr>
          <p:cNvPr id="54" name="TextBox 53"/>
          <p:cNvSpPr txBox="1"/>
          <p:nvPr/>
        </p:nvSpPr>
        <p:spPr>
          <a:xfrm>
            <a:off x="6858000" y="1901952"/>
            <a:ext cx="4480560" cy="256032"/>
          </a:xfrm>
          <a:prstGeom prst="rect">
            <a:avLst/>
          </a:prstGeom>
          <a:noFill/>
        </p:spPr>
        <p:txBody>
          <a:bodyPr wrap="square" lIns="0" rIns="0" tIns="0" bIns="0" anchor="t">
            <a:spAutoFit/>
          </a:bodyPr>
          <a:lstStyle/>
          <a:p>
            <a:pPr algn="l">
              <a:lnSpc>
                <a:spcPct val="128000"/>
              </a:lnSpc>
              <a:spcAft>
                <a:spcPts val="0"/>
              </a:spcAft>
            </a:pPr>
            <a:r>
              <a:rPr sz="1300" b="0">
                <a:solidFill>
                  <a:srgbClr val="E9E5DC"/>
                </a:solidFill>
                <a:latin typeface="Georgia"/>
              </a:rPr>
              <a:t>Resolution before comparison</a:t>
            </a:r>
          </a:p>
        </p:txBody>
      </p:sp>
      <p:sp>
        <p:nvSpPr>
          <p:cNvPr id="55" name="TextBox 54"/>
          <p:cNvSpPr txBox="1"/>
          <p:nvPr/>
        </p:nvSpPr>
        <p:spPr>
          <a:xfrm>
            <a:off x="6858000" y="2212848"/>
            <a:ext cx="4443984" cy="841248"/>
          </a:xfrm>
          <a:prstGeom prst="rect">
            <a:avLst/>
          </a:prstGeom>
          <a:noFill/>
        </p:spPr>
        <p:txBody>
          <a:bodyPr wrap="square" lIns="0" rIns="0" tIns="0" bIns="0" anchor="t">
            <a:spAutoFit/>
          </a:bodyPr>
          <a:lstStyle/>
          <a:p>
            <a:pPr algn="l">
              <a:lnSpc>
                <a:spcPct val="140000"/>
              </a:lnSpc>
              <a:spcAft>
                <a:spcPts val="0"/>
              </a:spcAft>
            </a:pPr>
            <a:r>
              <a:rPr sz="950" b="0">
                <a:solidFill>
                  <a:srgbClr val="A8A498"/>
                </a:solidFill>
                <a:latin typeface="Segoe UI"/>
              </a:rPr>
              <a:t>Vendor aliases and SKU variants are normalised first. “A4 PAPER 75GSM RM” and “Paper, A4, white, 75gsm” become one catalogue item before a single price is compared. Skip this and you are comparing strings and reporting noise.</a:t>
            </a:r>
          </a:p>
        </p:txBody>
      </p:sp>
      <p:sp>
        <p:nvSpPr>
          <p:cNvPr id="56" name="TextBox 55"/>
          <p:cNvSpPr txBox="1"/>
          <p:nvPr/>
        </p:nvSpPr>
        <p:spPr>
          <a:xfrm>
            <a:off x="6400800" y="3200400"/>
            <a:ext cx="457200" cy="237744"/>
          </a:xfrm>
          <a:prstGeom prst="rect">
            <a:avLst/>
          </a:prstGeom>
          <a:noFill/>
        </p:spPr>
        <p:txBody>
          <a:bodyPr wrap="square" lIns="0" rIns="0" tIns="0" bIns="0" anchor="t">
            <a:spAutoFit/>
          </a:bodyPr>
          <a:lstStyle/>
          <a:p>
            <a:pPr algn="l">
              <a:lnSpc>
                <a:spcPct val="128000"/>
              </a:lnSpc>
              <a:spcAft>
                <a:spcPts val="0"/>
              </a:spcAft>
            </a:pPr>
            <a:r>
              <a:rPr sz="900" b="0">
                <a:solidFill>
                  <a:srgbClr val="C9A227"/>
                </a:solidFill>
                <a:latin typeface="Consolas"/>
              </a:rPr>
              <a:t>02</a:t>
            </a:r>
          </a:p>
        </p:txBody>
      </p:sp>
      <p:sp>
        <p:nvSpPr>
          <p:cNvPr id="57" name="TextBox 56"/>
          <p:cNvSpPr txBox="1"/>
          <p:nvPr/>
        </p:nvSpPr>
        <p:spPr>
          <a:xfrm>
            <a:off x="6858000" y="3200400"/>
            <a:ext cx="4480560" cy="256032"/>
          </a:xfrm>
          <a:prstGeom prst="rect">
            <a:avLst/>
          </a:prstGeom>
          <a:noFill/>
        </p:spPr>
        <p:txBody>
          <a:bodyPr wrap="square" lIns="0" rIns="0" tIns="0" bIns="0" anchor="t">
            <a:spAutoFit/>
          </a:bodyPr>
          <a:lstStyle/>
          <a:p>
            <a:pPr algn="l">
              <a:lnSpc>
                <a:spcPct val="128000"/>
              </a:lnSpc>
              <a:spcAft>
                <a:spcPts val="0"/>
              </a:spcAft>
            </a:pPr>
            <a:r>
              <a:rPr sz="1300" b="0">
                <a:solidFill>
                  <a:srgbClr val="E9E5DC"/>
                </a:solidFill>
                <a:latin typeface="Georgia"/>
              </a:rPr>
              <a:t>Deterministic scoring, language-only LLM</a:t>
            </a:r>
          </a:p>
        </p:txBody>
      </p:sp>
      <p:sp>
        <p:nvSpPr>
          <p:cNvPr id="58" name="TextBox 57"/>
          <p:cNvSpPr txBox="1"/>
          <p:nvPr/>
        </p:nvSpPr>
        <p:spPr>
          <a:xfrm>
            <a:off x="6858000" y="3511296"/>
            <a:ext cx="4443984" cy="841248"/>
          </a:xfrm>
          <a:prstGeom prst="rect">
            <a:avLst/>
          </a:prstGeom>
          <a:noFill/>
        </p:spPr>
        <p:txBody>
          <a:bodyPr wrap="square" lIns="0" rIns="0" tIns="0" bIns="0" anchor="t">
            <a:spAutoFit/>
          </a:bodyPr>
          <a:lstStyle/>
          <a:p>
            <a:pPr algn="l">
              <a:lnSpc>
                <a:spcPct val="140000"/>
              </a:lnSpc>
              <a:spcAft>
                <a:spcPts val="0"/>
              </a:spcAft>
            </a:pPr>
            <a:r>
              <a:rPr sz="950" b="0">
                <a:solidFill>
                  <a:srgbClr val="A8A498"/>
                </a:solidFill>
                <a:latin typeface="Segoe UI"/>
              </a:rPr>
              <a:t>Rules and statistics compute every number. The model is confined to explanation, drafting and translation — the property that decides whether software like this is ever actually deployed.</a:t>
            </a:r>
          </a:p>
        </p:txBody>
      </p:sp>
      <p:sp>
        <p:nvSpPr>
          <p:cNvPr id="59" name="TextBox 58"/>
          <p:cNvSpPr txBox="1"/>
          <p:nvPr/>
        </p:nvSpPr>
        <p:spPr>
          <a:xfrm>
            <a:off x="6400800" y="4498848"/>
            <a:ext cx="457200" cy="237744"/>
          </a:xfrm>
          <a:prstGeom prst="rect">
            <a:avLst/>
          </a:prstGeom>
          <a:noFill/>
        </p:spPr>
        <p:txBody>
          <a:bodyPr wrap="square" lIns="0" rIns="0" tIns="0" bIns="0" anchor="t">
            <a:spAutoFit/>
          </a:bodyPr>
          <a:lstStyle/>
          <a:p>
            <a:pPr algn="l">
              <a:lnSpc>
                <a:spcPct val="128000"/>
              </a:lnSpc>
              <a:spcAft>
                <a:spcPts val="0"/>
              </a:spcAft>
            </a:pPr>
            <a:r>
              <a:rPr sz="900" b="0">
                <a:solidFill>
                  <a:srgbClr val="C9A227"/>
                </a:solidFill>
                <a:latin typeface="Consolas"/>
              </a:rPr>
              <a:t>03</a:t>
            </a:r>
          </a:p>
        </p:txBody>
      </p:sp>
      <p:sp>
        <p:nvSpPr>
          <p:cNvPr id="60" name="TextBox 59"/>
          <p:cNvSpPr txBox="1"/>
          <p:nvPr/>
        </p:nvSpPr>
        <p:spPr>
          <a:xfrm>
            <a:off x="6858000" y="4498848"/>
            <a:ext cx="4480560" cy="256032"/>
          </a:xfrm>
          <a:prstGeom prst="rect">
            <a:avLst/>
          </a:prstGeom>
          <a:noFill/>
        </p:spPr>
        <p:txBody>
          <a:bodyPr wrap="square" lIns="0" rIns="0" tIns="0" bIns="0" anchor="t">
            <a:spAutoFit/>
          </a:bodyPr>
          <a:lstStyle/>
          <a:p>
            <a:pPr algn="l">
              <a:lnSpc>
                <a:spcPct val="128000"/>
              </a:lnSpc>
              <a:spcAft>
                <a:spcPts val="0"/>
              </a:spcAft>
            </a:pPr>
            <a:r>
              <a:rPr sz="1300" b="0">
                <a:solidFill>
                  <a:srgbClr val="E9E5DC"/>
                </a:solidFill>
                <a:latin typeface="Georgia"/>
              </a:rPr>
              <a:t>Ground truth we planted ourselves</a:t>
            </a:r>
          </a:p>
        </p:txBody>
      </p:sp>
      <p:sp>
        <p:nvSpPr>
          <p:cNvPr id="61" name="TextBox 60"/>
          <p:cNvSpPr txBox="1"/>
          <p:nvPr/>
        </p:nvSpPr>
        <p:spPr>
          <a:xfrm>
            <a:off x="6858000" y="4809744"/>
            <a:ext cx="4443984" cy="841248"/>
          </a:xfrm>
          <a:prstGeom prst="rect">
            <a:avLst/>
          </a:prstGeom>
          <a:noFill/>
        </p:spPr>
        <p:txBody>
          <a:bodyPr wrap="square" lIns="0" rIns="0" tIns="0" bIns="0" anchor="t">
            <a:spAutoFit/>
          </a:bodyPr>
          <a:lstStyle/>
          <a:p>
            <a:pPr algn="l">
              <a:lnSpc>
                <a:spcPct val="140000"/>
              </a:lnSpc>
              <a:spcAft>
                <a:spcPts val="0"/>
              </a:spcAft>
            </a:pPr>
            <a:r>
              <a:rPr sz="950" b="0">
                <a:solidFill>
                  <a:srgbClr val="A8A498"/>
                </a:solidFill>
                <a:latin typeface="Segoe UI"/>
              </a:rPr>
              <a:t>A procurement fraud simulator injects 150 labelled frauds of known type into realistic spend. The engine then runs blind. That is what converts every claim on these slides from an assertion into a measurement.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ontent.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658368"/>
            <a:ext cx="1097280" cy="274320"/>
          </a:xfrm>
          <a:prstGeom prst="rect">
            <a:avLst/>
          </a:prstGeom>
          <a:noFill/>
        </p:spPr>
        <p:txBody>
          <a:bodyPr wrap="square" lIns="0" rIns="0" tIns="0" bIns="0" anchor="t">
            <a:spAutoFit/>
          </a:bodyPr>
          <a:lstStyle/>
          <a:p>
            <a:pPr algn="l">
              <a:lnSpc>
                <a:spcPct val="128000"/>
              </a:lnSpc>
              <a:spcAft>
                <a:spcPts val="0"/>
              </a:spcAft>
            </a:pPr>
            <a:r>
              <a:rPr sz="1000" b="0">
                <a:solidFill>
                  <a:srgbClr val="6E7079"/>
                </a:solidFill>
                <a:latin typeface="Consolas"/>
              </a:rPr>
              <a:t>05</a:t>
            </a:r>
          </a:p>
        </p:txBody>
      </p:sp>
      <p:sp>
        <p:nvSpPr>
          <p:cNvPr id="5" name="TextBox 4"/>
          <p:cNvSpPr txBox="1"/>
          <p:nvPr/>
        </p:nvSpPr>
        <p:spPr>
          <a:xfrm>
            <a:off x="1225295" y="669340"/>
            <a:ext cx="7315200" cy="201168"/>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S Y S T E M   A R C H I T E C T U R E   A N D   W O R K F L O W</a:t>
            </a:r>
          </a:p>
        </p:txBody>
      </p:sp>
      <p:sp>
        <p:nvSpPr>
          <p:cNvPr id="6" name="TextBox 5"/>
          <p:cNvSpPr txBox="1"/>
          <p:nvPr/>
        </p:nvSpPr>
        <p:spPr>
          <a:xfrm>
            <a:off x="658368" y="1005840"/>
            <a:ext cx="10874959" cy="548640"/>
          </a:xfrm>
          <a:prstGeom prst="rect">
            <a:avLst/>
          </a:prstGeom>
          <a:noFill/>
        </p:spPr>
        <p:txBody>
          <a:bodyPr wrap="square" lIns="0" rIns="0" tIns="0" bIns="0" anchor="t">
            <a:spAutoFit/>
          </a:bodyPr>
          <a:lstStyle/>
          <a:p>
            <a:pPr algn="l">
              <a:lnSpc>
                <a:spcPct val="102000"/>
              </a:lnSpc>
              <a:spcAft>
                <a:spcPts val="0"/>
              </a:spcAft>
            </a:pPr>
            <a:r>
              <a:rPr sz="3100" b="0">
                <a:solidFill>
                  <a:srgbClr val="E9E5DC"/>
                </a:solidFill>
                <a:latin typeface="Georgia"/>
              </a:rPr>
              <a:t>Four bands. A determinism boundary. One typed contract.</a:t>
            </a:r>
          </a:p>
        </p:txBody>
      </p:sp>
      <p:cxnSp>
        <p:nvCxnSpPr>
          <p:cNvPr id="7" name="Connector 6"/>
          <p:cNvCxnSpPr/>
          <p:nvPr/>
        </p:nvCxnSpPr>
        <p:spPr>
          <a:xfrm>
            <a:off x="658368" y="1627632"/>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 y="6437376"/>
            <a:ext cx="10874959"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519672"/>
            <a:ext cx="548640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LedgerLens · procurement forensics</a:t>
            </a:r>
          </a:p>
        </p:txBody>
      </p:sp>
      <p:sp>
        <p:nvSpPr>
          <p:cNvPr id="10" name="TextBox 9"/>
          <p:cNvSpPr txBox="1"/>
          <p:nvPr/>
        </p:nvSpPr>
        <p:spPr>
          <a:xfrm>
            <a:off x="9704527" y="6519672"/>
            <a:ext cx="1828800" cy="219456"/>
          </a:xfrm>
          <a:prstGeom prst="rect">
            <a:avLst/>
          </a:prstGeom>
          <a:noFill/>
        </p:spPr>
        <p:txBody>
          <a:bodyPr wrap="square" lIns="0" rIns="0" tIns="0" bIns="0" anchor="t">
            <a:spAutoFit/>
          </a:bodyPr>
          <a:lstStyle/>
          <a:p>
            <a:pPr algn="r">
              <a:lnSpc>
                <a:spcPct val="128000"/>
              </a:lnSpc>
              <a:spcAft>
                <a:spcPts val="0"/>
              </a:spcAft>
            </a:pPr>
            <a:r>
              <a:rPr sz="800" b="0">
                <a:solidFill>
                  <a:srgbClr val="6E7079"/>
                </a:solidFill>
                <a:latin typeface="Consolas"/>
              </a:rPr>
              <a:t>05 / 07</a:t>
            </a:r>
          </a:p>
        </p:txBody>
      </p:sp>
      <p:sp>
        <p:nvSpPr>
          <p:cNvPr id="11" name="Rectangle 10"/>
          <p:cNvSpPr/>
          <p:nvPr/>
        </p:nvSpPr>
        <p:spPr>
          <a:xfrm>
            <a:off x="658368" y="1901952"/>
            <a:ext cx="7699248" cy="841248"/>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1901952"/>
            <a:ext cx="41148" cy="841248"/>
          </a:xfrm>
          <a:prstGeom prst="rect">
            <a:avLst/>
          </a:prstGeom>
          <a:solidFill>
            <a:srgbClr val="6B8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 y="2029968"/>
            <a:ext cx="1371600" cy="237744"/>
          </a:xfrm>
          <a:prstGeom prst="rect">
            <a:avLst/>
          </a:prstGeom>
          <a:noFill/>
        </p:spPr>
        <p:txBody>
          <a:bodyPr wrap="square" lIns="0" rIns="0" tIns="0" bIns="0" anchor="t">
            <a:spAutoFit/>
          </a:bodyPr>
          <a:lstStyle/>
          <a:p>
            <a:pPr algn="l">
              <a:lnSpc>
                <a:spcPct val="128000"/>
              </a:lnSpc>
              <a:spcAft>
                <a:spcPts val="0"/>
              </a:spcAft>
            </a:pPr>
            <a:r>
              <a:rPr sz="1000" b="0">
                <a:solidFill>
                  <a:srgbClr val="6B8394"/>
                </a:solidFill>
                <a:latin typeface="Consolas"/>
              </a:rPr>
              <a:t>I N G E S T</a:t>
            </a:r>
          </a:p>
        </p:txBody>
      </p:sp>
      <p:sp>
        <p:nvSpPr>
          <p:cNvPr id="14" name="Rectangle 13"/>
          <p:cNvSpPr/>
          <p:nvPr/>
        </p:nvSpPr>
        <p:spPr>
          <a:xfrm>
            <a:off x="2231136" y="2011680"/>
            <a:ext cx="1111910"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286000" y="2098548"/>
            <a:ext cx="1002182"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CSV</a:t>
            </a:r>
          </a:p>
        </p:txBody>
      </p:sp>
      <p:sp>
        <p:nvSpPr>
          <p:cNvPr id="16" name="Rectangle 15"/>
          <p:cNvSpPr/>
          <p:nvPr/>
        </p:nvSpPr>
        <p:spPr>
          <a:xfrm>
            <a:off x="3434486" y="2011680"/>
            <a:ext cx="1111910"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89350" y="2098548"/>
            <a:ext cx="1002182"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Excel</a:t>
            </a:r>
          </a:p>
        </p:txBody>
      </p:sp>
      <p:sp>
        <p:nvSpPr>
          <p:cNvPr id="18" name="Rectangle 17"/>
          <p:cNvSpPr/>
          <p:nvPr/>
        </p:nvSpPr>
        <p:spPr>
          <a:xfrm>
            <a:off x="4637836" y="2011680"/>
            <a:ext cx="1111910"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92700" y="2098548"/>
            <a:ext cx="1002182"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PDF</a:t>
            </a:r>
          </a:p>
        </p:txBody>
      </p:sp>
      <p:sp>
        <p:nvSpPr>
          <p:cNvPr id="20" name="Rectangle 19"/>
          <p:cNvSpPr/>
          <p:nvPr/>
        </p:nvSpPr>
        <p:spPr>
          <a:xfrm>
            <a:off x="5841187" y="2011680"/>
            <a:ext cx="1111910"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96051" y="2098548"/>
            <a:ext cx="1002182"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Scanned image</a:t>
            </a:r>
          </a:p>
        </p:txBody>
      </p:sp>
      <p:sp>
        <p:nvSpPr>
          <p:cNvPr id="22" name="Rectangle 21"/>
          <p:cNvSpPr/>
          <p:nvPr/>
        </p:nvSpPr>
        <p:spPr>
          <a:xfrm>
            <a:off x="7044537" y="2011680"/>
            <a:ext cx="1111910"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099401" y="2098548"/>
            <a:ext cx="1002182"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Email attachment</a:t>
            </a:r>
          </a:p>
        </p:txBody>
      </p:sp>
      <p:sp>
        <p:nvSpPr>
          <p:cNvPr id="24" name="TextBox 23"/>
          <p:cNvSpPr txBox="1"/>
          <p:nvPr/>
        </p:nvSpPr>
        <p:spPr>
          <a:xfrm>
            <a:off x="877824" y="2560320"/>
            <a:ext cx="1280160" cy="219456"/>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Consolas"/>
              </a:rPr>
              <a:t>└─</a:t>
            </a:r>
          </a:p>
        </p:txBody>
      </p:sp>
      <p:sp>
        <p:nvSpPr>
          <p:cNvPr id="25" name="TextBox 24"/>
          <p:cNvSpPr txBox="1"/>
          <p:nvPr/>
        </p:nvSpPr>
        <p:spPr>
          <a:xfrm>
            <a:off x="2231136" y="2560320"/>
            <a:ext cx="5925312" cy="256032"/>
          </a:xfrm>
          <a:prstGeom prst="rect">
            <a:avLst/>
          </a:prstGeom>
          <a:noFill/>
        </p:spPr>
        <p:txBody>
          <a:bodyPr wrap="square" lIns="0" rIns="0" tIns="0" bIns="0" anchor="t">
            <a:spAutoFit/>
          </a:bodyPr>
          <a:lstStyle/>
          <a:p>
            <a:pPr algn="l">
              <a:lnSpc>
                <a:spcPct val="128000"/>
              </a:lnSpc>
              <a:spcAft>
                <a:spcPts val="0"/>
              </a:spcAft>
            </a:pPr>
            <a:r>
              <a:rPr sz="900" b="0">
                <a:solidFill>
                  <a:srgbClr val="A8A498"/>
                </a:solidFill>
                <a:latin typeface="Segoe UI"/>
              </a:rPr>
              <a:t>LLM schema mapper — any column naming survives contact</a:t>
            </a:r>
          </a:p>
        </p:txBody>
      </p:sp>
      <p:cxnSp>
        <p:nvCxnSpPr>
          <p:cNvPr id="26" name="Connector 25"/>
          <p:cNvCxnSpPr/>
          <p:nvPr/>
        </p:nvCxnSpPr>
        <p:spPr>
          <a:xfrm>
            <a:off x="1481328" y="2756916"/>
            <a:ext cx="0" cy="141732"/>
          </a:xfrm>
          <a:prstGeom prst="line">
            <a:avLst/>
          </a:prstGeom>
          <a:ln w="1270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58368" y="2916936"/>
            <a:ext cx="7699248" cy="841248"/>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58368" y="2916936"/>
            <a:ext cx="41148" cy="841248"/>
          </a:xfrm>
          <a:prstGeom prst="rect">
            <a:avLst/>
          </a:prstGeom>
          <a:solidFill>
            <a:srgbClr val="A87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77824" y="3044952"/>
            <a:ext cx="1371600" cy="237744"/>
          </a:xfrm>
          <a:prstGeom prst="rect">
            <a:avLst/>
          </a:prstGeom>
          <a:noFill/>
        </p:spPr>
        <p:txBody>
          <a:bodyPr wrap="square" lIns="0" rIns="0" tIns="0" bIns="0" anchor="t">
            <a:spAutoFit/>
          </a:bodyPr>
          <a:lstStyle/>
          <a:p>
            <a:pPr algn="l">
              <a:lnSpc>
                <a:spcPct val="128000"/>
              </a:lnSpc>
              <a:spcAft>
                <a:spcPts val="0"/>
              </a:spcAft>
            </a:pPr>
            <a:r>
              <a:rPr sz="1000" b="0">
                <a:solidFill>
                  <a:srgbClr val="A8705A"/>
                </a:solidFill>
                <a:latin typeface="Consolas"/>
              </a:rPr>
              <a:t>R E S O L V E</a:t>
            </a:r>
          </a:p>
        </p:txBody>
      </p:sp>
      <p:sp>
        <p:nvSpPr>
          <p:cNvPr id="30" name="Rectangle 29"/>
          <p:cNvSpPr/>
          <p:nvPr/>
        </p:nvSpPr>
        <p:spPr>
          <a:xfrm>
            <a:off x="2231136" y="3026664"/>
            <a:ext cx="1914144"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286000" y="3113532"/>
            <a:ext cx="1804415"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Vendor entity resolution</a:t>
            </a:r>
          </a:p>
        </p:txBody>
      </p:sp>
      <p:sp>
        <p:nvSpPr>
          <p:cNvPr id="32" name="Rectangle 31"/>
          <p:cNvSpPr/>
          <p:nvPr/>
        </p:nvSpPr>
        <p:spPr>
          <a:xfrm>
            <a:off x="4236720" y="3026664"/>
            <a:ext cx="1914144"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1583" y="3113532"/>
            <a:ext cx="1804415"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SKU + unit normalisation</a:t>
            </a:r>
          </a:p>
        </p:txBody>
      </p:sp>
      <p:sp>
        <p:nvSpPr>
          <p:cNvPr id="34" name="Rectangle 33"/>
          <p:cNvSpPr/>
          <p:nvPr/>
        </p:nvSpPr>
        <p:spPr>
          <a:xfrm>
            <a:off x="6242304" y="3026664"/>
            <a:ext cx="1914144"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97167" y="3113532"/>
            <a:ext cx="1804415"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Currency &amp; tax alignment</a:t>
            </a:r>
          </a:p>
        </p:txBody>
      </p:sp>
      <p:sp>
        <p:nvSpPr>
          <p:cNvPr id="36" name="TextBox 35"/>
          <p:cNvSpPr txBox="1"/>
          <p:nvPr/>
        </p:nvSpPr>
        <p:spPr>
          <a:xfrm>
            <a:off x="877824" y="3575304"/>
            <a:ext cx="1280160" cy="219456"/>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Consolas"/>
              </a:rPr>
              <a:t>└─</a:t>
            </a:r>
          </a:p>
        </p:txBody>
      </p:sp>
      <p:sp>
        <p:nvSpPr>
          <p:cNvPr id="37" name="TextBox 36"/>
          <p:cNvSpPr txBox="1"/>
          <p:nvPr/>
        </p:nvSpPr>
        <p:spPr>
          <a:xfrm>
            <a:off x="2231136" y="3575304"/>
            <a:ext cx="5925312" cy="256032"/>
          </a:xfrm>
          <a:prstGeom prst="rect">
            <a:avLst/>
          </a:prstGeom>
          <a:noFill/>
        </p:spPr>
        <p:txBody>
          <a:bodyPr wrap="square" lIns="0" rIns="0" tIns="0" bIns="0" anchor="t">
            <a:spAutoFit/>
          </a:bodyPr>
          <a:lstStyle/>
          <a:p>
            <a:pPr algn="l">
              <a:lnSpc>
                <a:spcPct val="128000"/>
              </a:lnSpc>
              <a:spcAft>
                <a:spcPts val="0"/>
              </a:spcAft>
            </a:pPr>
            <a:r>
              <a:rPr sz="900" b="0">
                <a:solidFill>
                  <a:srgbClr val="A8A498"/>
                </a:solidFill>
                <a:latin typeface="Segoe UI"/>
              </a:rPr>
              <a:t>The prerequisite nobody builds — without it, no comparison is valid</a:t>
            </a:r>
          </a:p>
        </p:txBody>
      </p:sp>
      <p:cxnSp>
        <p:nvCxnSpPr>
          <p:cNvPr id="38" name="Connector 37"/>
          <p:cNvCxnSpPr/>
          <p:nvPr/>
        </p:nvCxnSpPr>
        <p:spPr>
          <a:xfrm>
            <a:off x="1481328" y="3771900"/>
            <a:ext cx="0" cy="141732"/>
          </a:xfrm>
          <a:prstGeom prst="line">
            <a:avLst/>
          </a:prstGeom>
          <a:ln w="1270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58368" y="3931920"/>
            <a:ext cx="7699248" cy="841248"/>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58368" y="3931920"/>
            <a:ext cx="41148" cy="841248"/>
          </a:xfrm>
          <a:prstGeom prst="rect">
            <a:avLst/>
          </a:prstGeom>
          <a:solidFill>
            <a:srgbClr val="C4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77824" y="4059936"/>
            <a:ext cx="1371600" cy="237744"/>
          </a:xfrm>
          <a:prstGeom prst="rect">
            <a:avLst/>
          </a:prstGeom>
          <a:noFill/>
        </p:spPr>
        <p:txBody>
          <a:bodyPr wrap="square" lIns="0" rIns="0" tIns="0" bIns="0" anchor="t">
            <a:spAutoFit/>
          </a:bodyPr>
          <a:lstStyle/>
          <a:p>
            <a:pPr algn="l">
              <a:lnSpc>
                <a:spcPct val="128000"/>
              </a:lnSpc>
              <a:spcAft>
                <a:spcPts val="0"/>
              </a:spcAft>
            </a:pPr>
            <a:r>
              <a:rPr sz="1000" b="0">
                <a:solidFill>
                  <a:srgbClr val="C4503A"/>
                </a:solidFill>
                <a:latin typeface="Consolas"/>
              </a:rPr>
              <a:t>D E T E C T</a:t>
            </a:r>
          </a:p>
        </p:txBody>
      </p:sp>
      <p:sp>
        <p:nvSpPr>
          <p:cNvPr id="42" name="Rectangle 41"/>
          <p:cNvSpPr/>
          <p:nvPr/>
        </p:nvSpPr>
        <p:spPr>
          <a:xfrm>
            <a:off x="2231136" y="4041648"/>
            <a:ext cx="1914144"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286000" y="4128516"/>
            <a:ext cx="1804415"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Rules engine (deterministic)</a:t>
            </a:r>
          </a:p>
        </p:txBody>
      </p:sp>
      <p:sp>
        <p:nvSpPr>
          <p:cNvPr id="44" name="Rectangle 43"/>
          <p:cNvSpPr/>
          <p:nvPr/>
        </p:nvSpPr>
        <p:spPr>
          <a:xfrm>
            <a:off x="4236720" y="4041648"/>
            <a:ext cx="1914144"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291583" y="4128516"/>
            <a:ext cx="1804415"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Robust z · Benford</a:t>
            </a:r>
          </a:p>
        </p:txBody>
      </p:sp>
      <p:sp>
        <p:nvSpPr>
          <p:cNvPr id="46" name="Rectangle 45"/>
          <p:cNvSpPr/>
          <p:nvPr/>
        </p:nvSpPr>
        <p:spPr>
          <a:xfrm>
            <a:off x="6242304" y="4041648"/>
            <a:ext cx="1914144"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297167" y="4128516"/>
            <a:ext cx="1804415"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Isolation Forest</a:t>
            </a:r>
          </a:p>
        </p:txBody>
      </p:sp>
      <p:sp>
        <p:nvSpPr>
          <p:cNvPr id="48" name="TextBox 47"/>
          <p:cNvSpPr txBox="1"/>
          <p:nvPr/>
        </p:nvSpPr>
        <p:spPr>
          <a:xfrm>
            <a:off x="877824" y="4590288"/>
            <a:ext cx="1280160" cy="219456"/>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Consolas"/>
              </a:rPr>
              <a:t>└─</a:t>
            </a:r>
          </a:p>
        </p:txBody>
      </p:sp>
      <p:sp>
        <p:nvSpPr>
          <p:cNvPr id="49" name="TextBox 48"/>
          <p:cNvSpPr txBox="1"/>
          <p:nvPr/>
        </p:nvSpPr>
        <p:spPr>
          <a:xfrm>
            <a:off x="2231136" y="4590288"/>
            <a:ext cx="5925312" cy="256032"/>
          </a:xfrm>
          <a:prstGeom prst="rect">
            <a:avLst/>
          </a:prstGeom>
          <a:noFill/>
        </p:spPr>
        <p:txBody>
          <a:bodyPr wrap="square" lIns="0" rIns="0" tIns="0" bIns="0" anchor="t">
            <a:spAutoFit/>
          </a:bodyPr>
          <a:lstStyle/>
          <a:p>
            <a:pPr algn="l">
              <a:lnSpc>
                <a:spcPct val="128000"/>
              </a:lnSpc>
              <a:spcAft>
                <a:spcPts val="0"/>
              </a:spcAft>
            </a:pPr>
            <a:r>
              <a:rPr sz="900" b="0">
                <a:solidFill>
                  <a:srgbClr val="A8A498"/>
                </a:solidFill>
                <a:latin typeface="Segoe UI"/>
              </a:rPr>
              <a:t>42 detectors, plugin architecture, each emits a typed Finding</a:t>
            </a:r>
          </a:p>
        </p:txBody>
      </p:sp>
      <p:cxnSp>
        <p:nvCxnSpPr>
          <p:cNvPr id="50" name="Connector 49"/>
          <p:cNvCxnSpPr/>
          <p:nvPr/>
        </p:nvCxnSpPr>
        <p:spPr>
          <a:xfrm>
            <a:off x="1481328" y="4786884"/>
            <a:ext cx="0" cy="141732"/>
          </a:xfrm>
          <a:prstGeom prst="line">
            <a:avLst/>
          </a:prstGeom>
          <a:ln w="1270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58368" y="4946904"/>
            <a:ext cx="7699248" cy="841248"/>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658368" y="4946904"/>
            <a:ext cx="41148" cy="84124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877824" y="5074920"/>
            <a:ext cx="1371600" cy="237744"/>
          </a:xfrm>
          <a:prstGeom prst="rect">
            <a:avLst/>
          </a:prstGeom>
          <a:noFill/>
        </p:spPr>
        <p:txBody>
          <a:bodyPr wrap="square" lIns="0" rIns="0" tIns="0" bIns="0" anchor="t">
            <a:spAutoFit/>
          </a:bodyPr>
          <a:lstStyle/>
          <a:p>
            <a:pPr algn="l">
              <a:lnSpc>
                <a:spcPct val="128000"/>
              </a:lnSpc>
              <a:spcAft>
                <a:spcPts val="0"/>
              </a:spcAft>
            </a:pPr>
            <a:r>
              <a:rPr sz="1000" b="0">
                <a:solidFill>
                  <a:srgbClr val="C9A227"/>
                </a:solidFill>
                <a:latin typeface="Consolas"/>
              </a:rPr>
              <a:t>A C T</a:t>
            </a:r>
          </a:p>
        </p:txBody>
      </p:sp>
      <p:sp>
        <p:nvSpPr>
          <p:cNvPr id="54" name="Rectangle 53"/>
          <p:cNvSpPr/>
          <p:nvPr/>
        </p:nvSpPr>
        <p:spPr>
          <a:xfrm>
            <a:off x="2231136" y="5056632"/>
            <a:ext cx="1412748"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2286000" y="5143500"/>
            <a:ext cx="1303020"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Risk scoring</a:t>
            </a:r>
          </a:p>
        </p:txBody>
      </p:sp>
      <p:sp>
        <p:nvSpPr>
          <p:cNvPr id="56" name="Rectangle 55"/>
          <p:cNvSpPr/>
          <p:nvPr/>
        </p:nvSpPr>
        <p:spPr>
          <a:xfrm>
            <a:off x="3735324" y="5056632"/>
            <a:ext cx="1412748"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790187" y="5143500"/>
            <a:ext cx="1303020"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Savings quantification</a:t>
            </a:r>
          </a:p>
        </p:txBody>
      </p:sp>
      <p:sp>
        <p:nvSpPr>
          <p:cNvPr id="58" name="Rectangle 57"/>
          <p:cNvSpPr/>
          <p:nvPr/>
        </p:nvSpPr>
        <p:spPr>
          <a:xfrm>
            <a:off x="5239512" y="5056632"/>
            <a:ext cx="1412748"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5294376" y="5143500"/>
            <a:ext cx="1303020"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Recommended action</a:t>
            </a:r>
          </a:p>
        </p:txBody>
      </p:sp>
      <p:sp>
        <p:nvSpPr>
          <p:cNvPr id="60" name="Rectangle 59"/>
          <p:cNvSpPr/>
          <p:nvPr/>
        </p:nvSpPr>
        <p:spPr>
          <a:xfrm>
            <a:off x="6743700" y="5056632"/>
            <a:ext cx="1412748" cy="347472"/>
          </a:xfrm>
          <a:prstGeom prst="rect">
            <a:avLst/>
          </a:prstGeom>
          <a:solidFill>
            <a:srgbClr val="191C21"/>
          </a:solidFill>
          <a:ln w="9525">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6798564" y="5143500"/>
            <a:ext cx="1303020" cy="219456"/>
          </a:xfrm>
          <a:prstGeom prst="rect">
            <a:avLst/>
          </a:prstGeom>
          <a:noFill/>
        </p:spPr>
        <p:txBody>
          <a:bodyPr wrap="square" lIns="0" rIns="0" tIns="0" bIns="0" anchor="t">
            <a:spAutoFit/>
          </a:bodyPr>
          <a:lstStyle/>
          <a:p>
            <a:pPr algn="ctr">
              <a:lnSpc>
                <a:spcPct val="128000"/>
              </a:lnSpc>
              <a:spcAft>
                <a:spcPts val="0"/>
              </a:spcAft>
            </a:pPr>
            <a:r>
              <a:rPr sz="850" b="0">
                <a:solidFill>
                  <a:srgbClr val="E9E5DC"/>
                </a:solidFill>
                <a:latin typeface="Segoe UI"/>
              </a:rPr>
              <a:t>Drafted artifact</a:t>
            </a:r>
          </a:p>
        </p:txBody>
      </p:sp>
      <p:sp>
        <p:nvSpPr>
          <p:cNvPr id="62" name="TextBox 61"/>
          <p:cNvSpPr txBox="1"/>
          <p:nvPr/>
        </p:nvSpPr>
        <p:spPr>
          <a:xfrm>
            <a:off x="877824" y="5605272"/>
            <a:ext cx="1280160" cy="219456"/>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Consolas"/>
              </a:rPr>
              <a:t>└─</a:t>
            </a:r>
          </a:p>
        </p:txBody>
      </p:sp>
      <p:sp>
        <p:nvSpPr>
          <p:cNvPr id="63" name="TextBox 62"/>
          <p:cNvSpPr txBox="1"/>
          <p:nvPr/>
        </p:nvSpPr>
        <p:spPr>
          <a:xfrm>
            <a:off x="2231136" y="5605272"/>
            <a:ext cx="5925312" cy="256032"/>
          </a:xfrm>
          <a:prstGeom prst="rect">
            <a:avLst/>
          </a:prstGeom>
          <a:noFill/>
        </p:spPr>
        <p:txBody>
          <a:bodyPr wrap="square" lIns="0" rIns="0" tIns="0" bIns="0" anchor="t">
            <a:spAutoFit/>
          </a:bodyPr>
          <a:lstStyle/>
          <a:p>
            <a:pPr algn="l">
              <a:lnSpc>
                <a:spcPct val="128000"/>
              </a:lnSpc>
              <a:spcAft>
                <a:spcPts val="0"/>
              </a:spcAft>
            </a:pPr>
            <a:r>
              <a:rPr sz="900" b="0">
                <a:solidFill>
                  <a:srgbClr val="A8A498"/>
                </a:solidFill>
                <a:latin typeface="Segoe UI"/>
              </a:rPr>
              <a:t>LLM writes the language. It never writes the numbers</a:t>
            </a:r>
          </a:p>
        </p:txBody>
      </p:sp>
      <p:cxnSp>
        <p:nvCxnSpPr>
          <p:cNvPr id="64" name="Connector 63"/>
          <p:cNvCxnSpPr/>
          <p:nvPr/>
        </p:nvCxnSpPr>
        <p:spPr>
          <a:xfrm>
            <a:off x="493776" y="3845052"/>
            <a:ext cx="8028432" cy="0"/>
          </a:xfrm>
          <a:prstGeom prst="line">
            <a:avLst/>
          </a:prstGeom>
          <a:ln w="12700">
            <a:solidFill>
              <a:srgbClr val="5B8F6E"/>
            </a:solidFill>
            <a:prstDash val="dash"/>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071616" y="3630168"/>
            <a:ext cx="2286000" cy="219456"/>
          </a:xfrm>
          <a:prstGeom prst="rect">
            <a:avLst/>
          </a:prstGeom>
          <a:noFill/>
        </p:spPr>
        <p:txBody>
          <a:bodyPr wrap="square" lIns="0" rIns="0" tIns="0" bIns="0" anchor="t">
            <a:spAutoFit/>
          </a:bodyPr>
          <a:lstStyle/>
          <a:p>
            <a:pPr algn="r">
              <a:lnSpc>
                <a:spcPct val="128000"/>
              </a:lnSpc>
              <a:spcAft>
                <a:spcPts val="0"/>
              </a:spcAft>
            </a:pPr>
            <a:r>
              <a:rPr sz="800" b="0">
                <a:solidFill>
                  <a:srgbClr val="5B8F6E"/>
                </a:solidFill>
                <a:latin typeface="Consolas"/>
              </a:rPr>
              <a:t>determinism boundary</a:t>
            </a:r>
          </a:p>
        </p:txBody>
      </p:sp>
      <p:sp>
        <p:nvSpPr>
          <p:cNvPr id="66" name="TextBox 65"/>
          <p:cNvSpPr txBox="1"/>
          <p:nvPr/>
        </p:nvSpPr>
        <p:spPr>
          <a:xfrm>
            <a:off x="8741664" y="1901952"/>
            <a:ext cx="2926080" cy="274320"/>
          </a:xfrm>
          <a:prstGeom prst="rect">
            <a:avLst/>
          </a:prstGeom>
          <a:noFill/>
        </p:spPr>
        <p:txBody>
          <a:bodyPr wrap="square" lIns="0" rIns="0" tIns="0" bIns="0" anchor="t">
            <a:spAutoFit/>
          </a:bodyPr>
          <a:lstStyle/>
          <a:p>
            <a:pPr algn="l">
              <a:lnSpc>
                <a:spcPct val="128000"/>
              </a:lnSpc>
              <a:spcAft>
                <a:spcPts val="0"/>
              </a:spcAft>
            </a:pPr>
            <a:r>
              <a:rPr sz="850" b="0">
                <a:solidFill>
                  <a:srgbClr val="C9A227"/>
                </a:solidFill>
                <a:latin typeface="Consolas"/>
              </a:rPr>
              <a:t>F I N D I N G   C O N T R A C T</a:t>
            </a:r>
          </a:p>
        </p:txBody>
      </p:sp>
      <p:sp>
        <p:nvSpPr>
          <p:cNvPr id="67" name="Rectangle 66"/>
          <p:cNvSpPr/>
          <p:nvPr/>
        </p:nvSpPr>
        <p:spPr>
          <a:xfrm>
            <a:off x="8741664" y="2176272"/>
            <a:ext cx="2724912" cy="2432304"/>
          </a:xfrm>
          <a:prstGeom prst="rect">
            <a:avLst/>
          </a:prstGeom>
          <a:solidFill>
            <a:srgbClr val="121417"/>
          </a:solidFill>
          <a:ln w="1143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887968" y="2286000"/>
            <a:ext cx="2468880" cy="2194560"/>
          </a:xfrm>
          <a:prstGeom prst="rect">
            <a:avLst/>
          </a:prstGeom>
          <a:noFill/>
        </p:spPr>
        <p:txBody>
          <a:bodyPr wrap="square" lIns="0" rIns="0" tIns="0" bIns="0" anchor="t">
            <a:spAutoFit/>
          </a:bodyPr>
          <a:lstStyle/>
          <a:p>
            <a:pPr algn="l">
              <a:lnSpc>
                <a:spcPct val="122000"/>
              </a:lnSpc>
              <a:spcAft>
                <a:spcPts val="0"/>
              </a:spcAft>
            </a:pPr>
            <a:r>
              <a:rPr sz="700" b="0">
                <a:solidFill>
                  <a:srgbClr val="A8A498"/>
                </a:solidFill>
                <a:latin typeface="Consolas"/>
              </a:rPr>
              <a:t>interface Finding {</a:t>
            </a:r>
            <a:br/>
            <a:r>
              <a:rPr sz="700" b="0">
                <a:solidFill>
                  <a:srgbClr val="A8A498"/>
                </a:solidFill>
                <a:latin typeface="Consolas"/>
              </a:rPr>
              <a:t>  id: string</a:t>
            </a:r>
            <a:br/>
            <a:r>
              <a:rPr sz="700" b="0">
                <a:solidFill>
                  <a:srgbClr val="A8A498"/>
                </a:solidFill>
                <a:latin typeface="Consolas"/>
              </a:rPr>
              <a:t>  ruleId: string</a:t>
            </a:r>
            <a:br/>
            <a:r>
              <a:rPr sz="700" b="0">
                <a:solidFill>
                  <a:srgbClr val="A8A498"/>
                </a:solidFill>
                <a:latin typeface="Consolas"/>
              </a:rPr>
              <a:t>  pillar: Pillar</a:t>
            </a:r>
            <a:br/>
            <a:r>
              <a:rPr sz="700" b="0">
                <a:solidFill>
                  <a:srgbClr val="A8A498"/>
                </a:solidFill>
                <a:latin typeface="Consolas"/>
              </a:rPr>
              <a:t>  severity: Severity</a:t>
            </a:r>
            <a:br/>
            <a:r>
              <a:rPr sz="700" b="0">
                <a:solidFill>
                  <a:srgbClr val="A8A498"/>
                </a:solidFill>
                <a:latin typeface="Consolas"/>
              </a:rPr>
              <a:t>  entities: { invoiceIds,</a:t>
            </a:r>
            <a:br/>
            <a:r>
              <a:rPr sz="700" b="0">
                <a:solidFill>
                  <a:srgbClr val="A8A498"/>
                </a:solidFill>
                <a:latin typeface="Consolas"/>
              </a:rPr>
              <a:t>    vendorId, poIds? }</a:t>
            </a:r>
            <a:br/>
            <a:r>
              <a:rPr sz="700" b="0">
                <a:solidFill>
                  <a:srgbClr val="A8A498"/>
                </a:solidFill>
                <a:latin typeface="Consolas"/>
              </a:rPr>
              <a:t>  evidence: Record&lt;</a:t>
            </a:r>
            <a:br/>
            <a:r>
              <a:rPr sz="700" b="0">
                <a:solidFill>
                  <a:srgbClr val="A8A498"/>
                </a:solidFill>
                <a:latin typeface="Consolas"/>
              </a:rPr>
              <a:t>    string, unknown&gt;</a:t>
            </a:r>
            <a:br/>
            <a:r>
              <a:rPr sz="700" b="0">
                <a:solidFill>
                  <a:srgbClr val="A8A498"/>
                </a:solidFill>
                <a:latin typeface="Consolas"/>
              </a:rPr>
              <a:t>  moneyAtRisk: number</a:t>
            </a:r>
            <a:br/>
            <a:r>
              <a:rPr sz="700" b="0">
                <a:solidFill>
                  <a:srgbClr val="A8A498"/>
                </a:solidFill>
                <a:latin typeface="Consolas"/>
              </a:rPr>
              <a:t>  confidence: number</a:t>
            </a:r>
            <a:br/>
            <a:r>
              <a:rPr sz="700" b="0">
                <a:solidFill>
                  <a:srgbClr val="A8A498"/>
                </a:solidFill>
                <a:latin typeface="Consolas"/>
              </a:rPr>
              <a:t>  explanation: string</a:t>
            </a:r>
            <a:br/>
            <a:r>
              <a:rPr sz="700" b="0">
                <a:solidFill>
                  <a:srgbClr val="A8A498"/>
                </a:solidFill>
                <a:latin typeface="Consolas"/>
              </a:rPr>
              <a:t>  recommendedAction: Action</a:t>
            </a:r>
            <a:br/>
            <a:r>
              <a:rPr sz="700" b="0">
                <a:solidFill>
                  <a:srgbClr val="A8A498"/>
                </a:solidFill>
                <a:latin typeface="Consolas"/>
              </a:rPr>
              <a:t>  scoreContribution:</a:t>
            </a:r>
            <a:br/>
            <a:r>
              <a:rPr sz="700" b="0">
                <a:solidFill>
                  <a:srgbClr val="A8A498"/>
                </a:solidFill>
                <a:latin typeface="Consolas"/>
              </a:rPr>
              <a:t>    { component, points }[]</a:t>
            </a:r>
            <a:br/>
            <a:r>
              <a:rPr sz="700" b="0">
                <a:solidFill>
                  <a:srgbClr val="A8A498"/>
                </a:solidFill>
                <a:latin typeface="Consolas"/>
              </a:rPr>
              <a:t>}</a:t>
            </a:r>
          </a:p>
        </p:txBody>
      </p:sp>
      <p:sp>
        <p:nvSpPr>
          <p:cNvPr id="69" name="TextBox 68"/>
          <p:cNvSpPr txBox="1"/>
          <p:nvPr/>
        </p:nvSpPr>
        <p:spPr>
          <a:xfrm>
            <a:off x="8741664" y="4736592"/>
            <a:ext cx="2724912" cy="822960"/>
          </a:xfrm>
          <a:prstGeom prst="rect">
            <a:avLst/>
          </a:prstGeom>
          <a:noFill/>
        </p:spPr>
        <p:txBody>
          <a:bodyPr wrap="square" lIns="0" rIns="0" tIns="0" bIns="0" anchor="t">
            <a:spAutoFit/>
          </a:bodyPr>
          <a:lstStyle/>
          <a:p>
            <a:pPr algn="l">
              <a:lnSpc>
                <a:spcPct val="134000"/>
              </a:lnSpc>
              <a:spcAft>
                <a:spcPts val="0"/>
              </a:spcAft>
            </a:pPr>
            <a:r>
              <a:rPr sz="800" b="0">
                <a:solidFill>
                  <a:srgbClr val="6E7079"/>
                </a:solidFill>
                <a:latin typeface="Segoe UI"/>
              </a:rPr>
              <a:t>Every detector is a plugin implementing run(ctx) =&gt; Finding[]. A new rule takes five minutes — which is why we can take a suggestion from this panel and demonstrate it before the session ends.</a:t>
            </a:r>
          </a:p>
        </p:txBody>
      </p:sp>
      <p:sp>
        <p:nvSpPr>
          <p:cNvPr id="70" name="TextBox 69"/>
          <p:cNvSpPr txBox="1"/>
          <p:nvPr/>
        </p:nvSpPr>
        <p:spPr>
          <a:xfrm>
            <a:off x="658368" y="5870448"/>
            <a:ext cx="10881360" cy="274320"/>
          </a:xfrm>
          <a:prstGeom prst="rect">
            <a:avLst/>
          </a:prstGeom>
          <a:noFill/>
        </p:spPr>
        <p:txBody>
          <a:bodyPr wrap="square" lIns="0" rIns="0" tIns="0" bIns="0" anchor="t">
            <a:spAutoFit/>
          </a:bodyPr>
          <a:lstStyle/>
          <a:p>
            <a:pPr algn="l">
              <a:lnSpc>
                <a:spcPct val="128000"/>
              </a:lnSpc>
              <a:spcAft>
                <a:spcPts val="0"/>
              </a:spcAft>
            </a:pPr>
            <a:r>
              <a:rPr sz="1000" b="0">
                <a:solidFill>
                  <a:srgbClr val="E9E5DC"/>
                </a:solidFill>
                <a:latin typeface="Segoe UI"/>
              </a:rPr>
              <a:t>Runs fully offline. </a:t>
            </a:r>
            <a:r>
              <a:rPr sz="1000" b="0">
                <a:solidFill>
                  <a:srgbClr val="A8A498"/>
                </a:solidFill>
                <a:latin typeface="Segoe UI"/>
              </a:rPr>
              <a:t>No backend, no network calls at runtime, seeded generation — the demo is byte-identical on every reload and cannot fail on venue wifi.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ontent.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658368"/>
            <a:ext cx="1097280" cy="274320"/>
          </a:xfrm>
          <a:prstGeom prst="rect">
            <a:avLst/>
          </a:prstGeom>
          <a:noFill/>
        </p:spPr>
        <p:txBody>
          <a:bodyPr wrap="square" lIns="0" rIns="0" tIns="0" bIns="0" anchor="t">
            <a:spAutoFit/>
          </a:bodyPr>
          <a:lstStyle/>
          <a:p>
            <a:pPr algn="l">
              <a:lnSpc>
                <a:spcPct val="128000"/>
              </a:lnSpc>
              <a:spcAft>
                <a:spcPts val="0"/>
              </a:spcAft>
            </a:pPr>
            <a:r>
              <a:rPr sz="1000" b="0">
                <a:solidFill>
                  <a:srgbClr val="6E7079"/>
                </a:solidFill>
                <a:latin typeface="Consolas"/>
              </a:rPr>
              <a:t>06</a:t>
            </a:r>
          </a:p>
        </p:txBody>
      </p:sp>
      <p:sp>
        <p:nvSpPr>
          <p:cNvPr id="5" name="TextBox 4"/>
          <p:cNvSpPr txBox="1"/>
          <p:nvPr/>
        </p:nvSpPr>
        <p:spPr>
          <a:xfrm>
            <a:off x="1225295" y="669340"/>
            <a:ext cx="7315200" cy="201168"/>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I N N O V A T I O N   A N D   E X I S T I N G   S O L U T I O N S</a:t>
            </a:r>
          </a:p>
        </p:txBody>
      </p:sp>
      <p:sp>
        <p:nvSpPr>
          <p:cNvPr id="6" name="TextBox 5"/>
          <p:cNvSpPr txBox="1"/>
          <p:nvPr/>
        </p:nvSpPr>
        <p:spPr>
          <a:xfrm>
            <a:off x="658368" y="1005840"/>
            <a:ext cx="10874959" cy="548640"/>
          </a:xfrm>
          <a:prstGeom prst="rect">
            <a:avLst/>
          </a:prstGeom>
          <a:noFill/>
        </p:spPr>
        <p:txBody>
          <a:bodyPr wrap="square" lIns="0" rIns="0" tIns="0" bIns="0" anchor="t">
            <a:spAutoFit/>
          </a:bodyPr>
          <a:lstStyle/>
          <a:p>
            <a:pPr algn="l">
              <a:lnSpc>
                <a:spcPct val="102000"/>
              </a:lnSpc>
              <a:spcAft>
                <a:spcPts val="0"/>
              </a:spcAft>
            </a:pPr>
            <a:r>
              <a:rPr sz="3100" b="0">
                <a:solidFill>
                  <a:srgbClr val="E9E5DC"/>
                </a:solidFill>
                <a:latin typeface="Georgia"/>
              </a:rPr>
              <a:t>Written for a judge who has seen four similar demos today.</a:t>
            </a:r>
          </a:p>
        </p:txBody>
      </p:sp>
      <p:cxnSp>
        <p:nvCxnSpPr>
          <p:cNvPr id="7" name="Connector 6"/>
          <p:cNvCxnSpPr/>
          <p:nvPr/>
        </p:nvCxnSpPr>
        <p:spPr>
          <a:xfrm>
            <a:off x="658368" y="1627632"/>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 y="6437376"/>
            <a:ext cx="10874959"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519672"/>
            <a:ext cx="548640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LedgerLens · procurement forensics</a:t>
            </a:r>
          </a:p>
        </p:txBody>
      </p:sp>
      <p:sp>
        <p:nvSpPr>
          <p:cNvPr id="10" name="TextBox 9"/>
          <p:cNvSpPr txBox="1"/>
          <p:nvPr/>
        </p:nvSpPr>
        <p:spPr>
          <a:xfrm>
            <a:off x="9704527" y="6519672"/>
            <a:ext cx="1828800" cy="219456"/>
          </a:xfrm>
          <a:prstGeom prst="rect">
            <a:avLst/>
          </a:prstGeom>
          <a:noFill/>
        </p:spPr>
        <p:txBody>
          <a:bodyPr wrap="square" lIns="0" rIns="0" tIns="0" bIns="0" anchor="t">
            <a:spAutoFit/>
          </a:bodyPr>
          <a:lstStyle/>
          <a:p>
            <a:pPr algn="r">
              <a:lnSpc>
                <a:spcPct val="128000"/>
              </a:lnSpc>
              <a:spcAft>
                <a:spcPts val="0"/>
              </a:spcAft>
            </a:pPr>
            <a:r>
              <a:rPr sz="800" b="0">
                <a:solidFill>
                  <a:srgbClr val="6E7079"/>
                </a:solidFill>
                <a:latin typeface="Consolas"/>
              </a:rPr>
              <a:t>06 / 07</a:t>
            </a:r>
          </a:p>
        </p:txBody>
      </p:sp>
      <p:sp>
        <p:nvSpPr>
          <p:cNvPr id="11" name="TextBox 10"/>
          <p:cNvSpPr txBox="1"/>
          <p:nvPr/>
        </p:nvSpPr>
        <p:spPr>
          <a:xfrm>
            <a:off x="2532887" y="1901952"/>
            <a:ext cx="237744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T H E   O B V I O U S   B U I L D</a:t>
            </a:r>
          </a:p>
        </p:txBody>
      </p:sp>
      <p:sp>
        <p:nvSpPr>
          <p:cNvPr id="12" name="TextBox 11"/>
          <p:cNvSpPr txBox="1"/>
          <p:nvPr/>
        </p:nvSpPr>
        <p:spPr>
          <a:xfrm>
            <a:off x="5093207" y="1901952"/>
            <a:ext cx="2743200" cy="219456"/>
          </a:xfrm>
          <a:prstGeom prst="rect">
            <a:avLst/>
          </a:prstGeom>
          <a:noFill/>
        </p:spPr>
        <p:txBody>
          <a:bodyPr wrap="square" lIns="0" rIns="0" tIns="0" bIns="0" anchor="t">
            <a:spAutoFit/>
          </a:bodyPr>
          <a:lstStyle/>
          <a:p>
            <a:pPr algn="l">
              <a:lnSpc>
                <a:spcPct val="128000"/>
              </a:lnSpc>
              <a:spcAft>
                <a:spcPts val="0"/>
              </a:spcAft>
            </a:pPr>
            <a:r>
              <a:rPr sz="800" b="0">
                <a:solidFill>
                  <a:srgbClr val="C9A227"/>
                </a:solidFill>
                <a:latin typeface="Consolas"/>
              </a:rPr>
              <a:t>L E D G E R L E N S</a:t>
            </a:r>
          </a:p>
        </p:txBody>
      </p:sp>
      <p:cxnSp>
        <p:nvCxnSpPr>
          <p:cNvPr id="13" name="Connector 12"/>
          <p:cNvCxnSpPr/>
          <p:nvPr/>
        </p:nvCxnSpPr>
        <p:spPr>
          <a:xfrm>
            <a:off x="658368" y="2176272"/>
            <a:ext cx="6903720"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020055" y="2231136"/>
            <a:ext cx="2542032" cy="507492"/>
          </a:xfrm>
          <a:prstGeom prst="rect">
            <a:avLst/>
          </a:prstGeom>
          <a:solidFill>
            <a:srgbClr val="12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8368" y="2331720"/>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Unit of analysis</a:t>
            </a:r>
          </a:p>
        </p:txBody>
      </p:sp>
      <p:sp>
        <p:nvSpPr>
          <p:cNvPr id="16" name="TextBox 15"/>
          <p:cNvSpPr txBox="1"/>
          <p:nvPr/>
        </p:nvSpPr>
        <p:spPr>
          <a:xfrm>
            <a:off x="2532887" y="2331720"/>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one record at a time</a:t>
            </a:r>
          </a:p>
        </p:txBody>
      </p:sp>
      <p:sp>
        <p:nvSpPr>
          <p:cNvPr id="17" name="TextBox 16"/>
          <p:cNvSpPr txBox="1"/>
          <p:nvPr/>
        </p:nvSpPr>
        <p:spPr>
          <a:xfrm>
            <a:off x="5111495" y="2331720"/>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E9E5DC"/>
                </a:solidFill>
                <a:latin typeface="Segoe UI"/>
              </a:rPr>
              <a:t>relationships across the whole corpus — the only place these frauds exist</a:t>
            </a:r>
          </a:p>
        </p:txBody>
      </p:sp>
      <p:cxnSp>
        <p:nvCxnSpPr>
          <p:cNvPr id="18" name="Connector 17"/>
          <p:cNvCxnSpPr/>
          <p:nvPr/>
        </p:nvCxnSpPr>
        <p:spPr>
          <a:xfrm>
            <a:off x="658368" y="2738628"/>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2839212"/>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Duplicate detection</a:t>
            </a:r>
          </a:p>
        </p:txBody>
      </p:sp>
      <p:sp>
        <p:nvSpPr>
          <p:cNvPr id="20" name="TextBox 19"/>
          <p:cNvSpPr txBox="1"/>
          <p:nvPr/>
        </p:nvSpPr>
        <p:spPr>
          <a:xfrm>
            <a:off x="2532887" y="2839212"/>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groupby(invoice_no).count() &gt; 1</a:t>
            </a:r>
          </a:p>
        </p:txBody>
      </p:sp>
      <p:sp>
        <p:nvSpPr>
          <p:cNvPr id="21" name="TextBox 20"/>
          <p:cNvSpPr txBox="1"/>
          <p:nvPr/>
        </p:nvSpPr>
        <p:spPr>
          <a:xfrm>
            <a:off x="5111495" y="2839212"/>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A8A498"/>
                </a:solidFill>
                <a:latin typeface="Segoe UI"/>
              </a:rPr>
              <a:t>fuzzy · transposition-tolerant · cross-alias · windowed on amount and date</a:t>
            </a:r>
          </a:p>
        </p:txBody>
      </p:sp>
      <p:cxnSp>
        <p:nvCxnSpPr>
          <p:cNvPr id="22" name="Connector 21"/>
          <p:cNvCxnSpPr/>
          <p:nvPr/>
        </p:nvCxnSpPr>
        <p:spPr>
          <a:xfrm>
            <a:off x="658368" y="3246120"/>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020055" y="3246120"/>
            <a:ext cx="2542032" cy="507492"/>
          </a:xfrm>
          <a:prstGeom prst="rect">
            <a:avLst/>
          </a:prstGeom>
          <a:solidFill>
            <a:srgbClr val="12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8368" y="3346704"/>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Before comparing prices</a:t>
            </a:r>
          </a:p>
        </p:txBody>
      </p:sp>
      <p:sp>
        <p:nvSpPr>
          <p:cNvPr id="25" name="TextBox 24"/>
          <p:cNvSpPr txBox="1"/>
          <p:nvPr/>
        </p:nvSpPr>
        <p:spPr>
          <a:xfrm>
            <a:off x="2532887" y="3346704"/>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compares raw strings, silently wrong</a:t>
            </a:r>
          </a:p>
        </p:txBody>
      </p:sp>
      <p:sp>
        <p:nvSpPr>
          <p:cNvPr id="26" name="TextBox 25"/>
          <p:cNvSpPr txBox="1"/>
          <p:nvPr/>
        </p:nvSpPr>
        <p:spPr>
          <a:xfrm>
            <a:off x="5111495" y="3346704"/>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E9E5DC"/>
                </a:solidFill>
                <a:latin typeface="Segoe UI"/>
              </a:rPr>
              <a:t>entity + SKU resolution first, or every price comparison is invalid</a:t>
            </a:r>
          </a:p>
        </p:txBody>
      </p:sp>
      <p:cxnSp>
        <p:nvCxnSpPr>
          <p:cNvPr id="27" name="Connector 26"/>
          <p:cNvCxnSpPr/>
          <p:nvPr/>
        </p:nvCxnSpPr>
        <p:spPr>
          <a:xfrm>
            <a:off x="658368" y="3753612"/>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 y="3854196"/>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Risk score</a:t>
            </a:r>
          </a:p>
        </p:txBody>
      </p:sp>
      <p:sp>
        <p:nvSpPr>
          <p:cNvPr id="29" name="TextBox 28"/>
          <p:cNvSpPr txBox="1"/>
          <p:nvPr/>
        </p:nvSpPr>
        <p:spPr>
          <a:xfrm>
            <a:off x="2532887" y="3854196"/>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one opaque weighted sum</a:t>
            </a:r>
          </a:p>
        </p:txBody>
      </p:sp>
      <p:sp>
        <p:nvSpPr>
          <p:cNvPr id="30" name="TextBox 29"/>
          <p:cNvSpPr txBox="1"/>
          <p:nvPr/>
        </p:nvSpPr>
        <p:spPr>
          <a:xfrm>
            <a:off x="5111495" y="3854196"/>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A8A498"/>
                </a:solidFill>
                <a:latin typeface="Segoe UI"/>
              </a:rPr>
              <a:t>five decomposable pillars, live weights, every point traced to a rule</a:t>
            </a:r>
          </a:p>
        </p:txBody>
      </p:sp>
      <p:cxnSp>
        <p:nvCxnSpPr>
          <p:cNvPr id="31" name="Connector 30"/>
          <p:cNvCxnSpPr/>
          <p:nvPr/>
        </p:nvCxnSpPr>
        <p:spPr>
          <a:xfrm>
            <a:off x="658368" y="4261104"/>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020055" y="4261104"/>
            <a:ext cx="2542032" cy="507492"/>
          </a:xfrm>
          <a:prstGeom prst="rect">
            <a:avLst/>
          </a:prstGeom>
          <a:solidFill>
            <a:srgbClr val="12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8368" y="4361688"/>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Accuracy claim</a:t>
            </a:r>
          </a:p>
        </p:txBody>
      </p:sp>
      <p:sp>
        <p:nvSpPr>
          <p:cNvPr id="34" name="TextBox 33"/>
          <p:cNvSpPr txBox="1"/>
          <p:nvPr/>
        </p:nvSpPr>
        <p:spPr>
          <a:xfrm>
            <a:off x="2532887" y="4361688"/>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none possible</a:t>
            </a:r>
          </a:p>
        </p:txBody>
      </p:sp>
      <p:sp>
        <p:nvSpPr>
          <p:cNvPr id="35" name="TextBox 34"/>
          <p:cNvSpPr txBox="1"/>
          <p:nvPr/>
        </p:nvSpPr>
        <p:spPr>
          <a:xfrm>
            <a:off x="5111495" y="4361688"/>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E9E5DC"/>
                </a:solidFill>
                <a:latin typeface="Segoe UI"/>
              </a:rPr>
              <a:t>94.4% precision / 89.3% recall against 150 planted, labelled frauds</a:t>
            </a:r>
          </a:p>
        </p:txBody>
      </p:sp>
      <p:cxnSp>
        <p:nvCxnSpPr>
          <p:cNvPr id="36" name="Connector 35"/>
          <p:cNvCxnSpPr/>
          <p:nvPr/>
        </p:nvCxnSpPr>
        <p:spPr>
          <a:xfrm>
            <a:off x="658368" y="4768596"/>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58368" y="4869180"/>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Role of the LLM</a:t>
            </a:r>
          </a:p>
        </p:txBody>
      </p:sp>
      <p:sp>
        <p:nvSpPr>
          <p:cNvPr id="38" name="TextBox 37"/>
          <p:cNvSpPr txBox="1"/>
          <p:nvPr/>
        </p:nvSpPr>
        <p:spPr>
          <a:xfrm>
            <a:off x="2532887" y="4869180"/>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asked to judge the data</a:t>
            </a:r>
          </a:p>
        </p:txBody>
      </p:sp>
      <p:sp>
        <p:nvSpPr>
          <p:cNvPr id="39" name="TextBox 38"/>
          <p:cNvSpPr txBox="1"/>
          <p:nvPr/>
        </p:nvSpPr>
        <p:spPr>
          <a:xfrm>
            <a:off x="5111495" y="4869180"/>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A8A498"/>
                </a:solidFill>
                <a:latin typeface="Segoe UI"/>
              </a:rPr>
              <a:t>forbidden from arithmetic — language only</a:t>
            </a:r>
          </a:p>
        </p:txBody>
      </p:sp>
      <p:cxnSp>
        <p:nvCxnSpPr>
          <p:cNvPr id="40" name="Connector 39"/>
          <p:cNvCxnSpPr/>
          <p:nvPr/>
        </p:nvCxnSpPr>
        <p:spPr>
          <a:xfrm>
            <a:off x="658368" y="5276088"/>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58368" y="5376672"/>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Jurisdiction</a:t>
            </a:r>
          </a:p>
        </p:txBody>
      </p:sp>
      <p:sp>
        <p:nvSpPr>
          <p:cNvPr id="42" name="TextBox 41"/>
          <p:cNvSpPr txBox="1"/>
          <p:nvPr/>
        </p:nvSpPr>
        <p:spPr>
          <a:xfrm>
            <a:off x="2532887" y="5376672"/>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generic</a:t>
            </a:r>
          </a:p>
        </p:txBody>
      </p:sp>
      <p:sp>
        <p:nvSpPr>
          <p:cNvPr id="43" name="TextBox 42"/>
          <p:cNvSpPr txBox="1"/>
          <p:nvPr/>
        </p:nvSpPr>
        <p:spPr>
          <a:xfrm>
            <a:off x="5111495" y="5376672"/>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A8A498"/>
                </a:solidFill>
                <a:latin typeface="Segoe UI"/>
              </a:rPr>
              <a:t>GSTIN checks, Rule 46(b) numbering, HSN tax match, MSME s.43B(h)</a:t>
            </a:r>
          </a:p>
        </p:txBody>
      </p:sp>
      <p:cxnSp>
        <p:nvCxnSpPr>
          <p:cNvPr id="44" name="Connector 43"/>
          <p:cNvCxnSpPr/>
          <p:nvPr/>
        </p:nvCxnSpPr>
        <p:spPr>
          <a:xfrm>
            <a:off x="658368" y="5783579"/>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58368" y="5884164"/>
            <a:ext cx="1783079" cy="274320"/>
          </a:xfrm>
          <a:prstGeom prst="rect">
            <a:avLst/>
          </a:prstGeom>
          <a:noFill/>
        </p:spPr>
        <p:txBody>
          <a:bodyPr wrap="square" lIns="0" rIns="0" tIns="0" bIns="0" anchor="t">
            <a:spAutoFit/>
          </a:bodyPr>
          <a:lstStyle/>
          <a:p>
            <a:pPr algn="l">
              <a:lnSpc>
                <a:spcPct val="128000"/>
              </a:lnSpc>
              <a:spcAft>
                <a:spcPts val="0"/>
              </a:spcAft>
            </a:pPr>
            <a:r>
              <a:rPr sz="950" b="0">
                <a:solidFill>
                  <a:srgbClr val="E9E5DC"/>
                </a:solidFill>
                <a:latin typeface="Segoe UI"/>
              </a:rPr>
              <a:t>Extensibility</a:t>
            </a:r>
          </a:p>
        </p:txBody>
      </p:sp>
      <p:sp>
        <p:nvSpPr>
          <p:cNvPr id="46" name="TextBox 45"/>
          <p:cNvSpPr txBox="1"/>
          <p:nvPr/>
        </p:nvSpPr>
        <p:spPr>
          <a:xfrm>
            <a:off x="2532887" y="5884164"/>
            <a:ext cx="2249424" cy="365760"/>
          </a:xfrm>
          <a:prstGeom prst="rect">
            <a:avLst/>
          </a:prstGeom>
          <a:noFill/>
        </p:spPr>
        <p:txBody>
          <a:bodyPr wrap="square" lIns="0" rIns="0" tIns="0" bIns="0" anchor="t">
            <a:spAutoFit/>
          </a:bodyPr>
          <a:lstStyle/>
          <a:p>
            <a:pPr algn="l">
              <a:lnSpc>
                <a:spcPct val="122000"/>
              </a:lnSpc>
              <a:spcAft>
                <a:spcPts val="0"/>
              </a:spcAft>
            </a:pPr>
            <a:r>
              <a:rPr sz="850" b="0">
                <a:solidFill>
                  <a:srgbClr val="6E7079"/>
                </a:solidFill>
                <a:latin typeface="Consolas"/>
              </a:rPr>
              <a:t>rewrite the notebook</a:t>
            </a:r>
          </a:p>
        </p:txBody>
      </p:sp>
      <p:sp>
        <p:nvSpPr>
          <p:cNvPr id="47" name="TextBox 46"/>
          <p:cNvSpPr txBox="1"/>
          <p:nvPr/>
        </p:nvSpPr>
        <p:spPr>
          <a:xfrm>
            <a:off x="5111495" y="5884164"/>
            <a:ext cx="2340864" cy="365760"/>
          </a:xfrm>
          <a:prstGeom prst="rect">
            <a:avLst/>
          </a:prstGeom>
          <a:noFill/>
        </p:spPr>
        <p:txBody>
          <a:bodyPr wrap="square" lIns="0" rIns="0" tIns="0" bIns="0" anchor="t">
            <a:spAutoFit/>
          </a:bodyPr>
          <a:lstStyle/>
          <a:p>
            <a:pPr algn="l">
              <a:lnSpc>
                <a:spcPct val="122000"/>
              </a:lnSpc>
              <a:spcAft>
                <a:spcPts val="0"/>
              </a:spcAft>
            </a:pPr>
            <a:r>
              <a:rPr sz="850" b="0">
                <a:solidFill>
                  <a:srgbClr val="A8A498"/>
                </a:solidFill>
                <a:latin typeface="Segoe UI"/>
              </a:rPr>
              <a:t>plugin detector — new rule live in five minutes, on stage</a:t>
            </a:r>
          </a:p>
        </p:txBody>
      </p:sp>
      <p:cxnSp>
        <p:nvCxnSpPr>
          <p:cNvPr id="48" name="Connector 47"/>
          <p:cNvCxnSpPr/>
          <p:nvPr/>
        </p:nvCxnSpPr>
        <p:spPr>
          <a:xfrm>
            <a:off x="658368" y="6291071"/>
            <a:ext cx="6903720"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763256" y="1901952"/>
            <a:ext cx="0" cy="411480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019288" y="1901952"/>
            <a:ext cx="3657600" cy="310896"/>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W H E R E   E X I S T I N G   T O O L S   S T O P</a:t>
            </a:r>
          </a:p>
        </p:txBody>
      </p:sp>
      <p:sp>
        <p:nvSpPr>
          <p:cNvPr id="51" name="TextBox 50"/>
          <p:cNvSpPr txBox="1"/>
          <p:nvPr/>
        </p:nvSpPr>
        <p:spPr>
          <a:xfrm>
            <a:off x="8019288" y="2231136"/>
            <a:ext cx="3657600" cy="237744"/>
          </a:xfrm>
          <a:prstGeom prst="rect">
            <a:avLst/>
          </a:prstGeom>
          <a:noFill/>
        </p:spPr>
        <p:txBody>
          <a:bodyPr wrap="square" lIns="0" rIns="0" tIns="0" bIns="0" anchor="t">
            <a:spAutoFit/>
          </a:bodyPr>
          <a:lstStyle/>
          <a:p>
            <a:pPr algn="l">
              <a:lnSpc>
                <a:spcPct val="128000"/>
              </a:lnSpc>
              <a:spcAft>
                <a:spcPts val="0"/>
              </a:spcAft>
            </a:pPr>
            <a:r>
              <a:rPr sz="1000" b="0">
                <a:solidFill>
                  <a:srgbClr val="E9E5DC"/>
                </a:solidFill>
                <a:latin typeface="Segoe UI"/>
              </a:rPr>
              <a:t>ERP-native controls</a:t>
            </a:r>
          </a:p>
        </p:txBody>
      </p:sp>
      <p:sp>
        <p:nvSpPr>
          <p:cNvPr id="52" name="TextBox 51"/>
          <p:cNvSpPr txBox="1"/>
          <p:nvPr/>
        </p:nvSpPr>
        <p:spPr>
          <a:xfrm>
            <a:off x="8019288" y="2459736"/>
            <a:ext cx="3611880" cy="457200"/>
          </a:xfrm>
          <a:prstGeom prst="rect">
            <a:avLst/>
          </a:prstGeom>
          <a:noFill/>
        </p:spPr>
        <p:txBody>
          <a:bodyPr wrap="square" lIns="0" rIns="0" tIns="0" bIns="0" anchor="t">
            <a:spAutoFit/>
          </a:bodyPr>
          <a:lstStyle/>
          <a:p>
            <a:pPr algn="l">
              <a:lnSpc>
                <a:spcPct val="130000"/>
              </a:lnSpc>
              <a:spcAft>
                <a:spcPts val="0"/>
              </a:spcAft>
            </a:pPr>
            <a:r>
              <a:rPr sz="850" b="0">
                <a:solidFill>
                  <a:srgbClr val="6E7079"/>
                </a:solidFill>
                <a:latin typeface="Segoe UI"/>
              </a:rPr>
              <a:t>enforce policy at entry — a compliant PO that is one of five splitting a purchase is still compliant</a:t>
            </a:r>
          </a:p>
        </p:txBody>
      </p:sp>
      <p:sp>
        <p:nvSpPr>
          <p:cNvPr id="53" name="TextBox 52"/>
          <p:cNvSpPr txBox="1"/>
          <p:nvPr/>
        </p:nvSpPr>
        <p:spPr>
          <a:xfrm>
            <a:off x="8019288" y="3017520"/>
            <a:ext cx="3657600" cy="237744"/>
          </a:xfrm>
          <a:prstGeom prst="rect">
            <a:avLst/>
          </a:prstGeom>
          <a:noFill/>
        </p:spPr>
        <p:txBody>
          <a:bodyPr wrap="square" lIns="0" rIns="0" tIns="0" bIns="0" anchor="t">
            <a:spAutoFit/>
          </a:bodyPr>
          <a:lstStyle/>
          <a:p>
            <a:pPr algn="l">
              <a:lnSpc>
                <a:spcPct val="128000"/>
              </a:lnSpc>
              <a:spcAft>
                <a:spcPts val="0"/>
              </a:spcAft>
            </a:pPr>
            <a:r>
              <a:rPr sz="1000" b="0">
                <a:solidFill>
                  <a:srgbClr val="E9E5DC"/>
                </a:solidFill>
                <a:latin typeface="Segoe UI"/>
              </a:rPr>
              <a:t>AP automation / invoice capture</a:t>
            </a:r>
          </a:p>
        </p:txBody>
      </p:sp>
      <p:sp>
        <p:nvSpPr>
          <p:cNvPr id="54" name="TextBox 53"/>
          <p:cNvSpPr txBox="1"/>
          <p:nvPr/>
        </p:nvSpPr>
        <p:spPr>
          <a:xfrm>
            <a:off x="8019288" y="3246120"/>
            <a:ext cx="3611880" cy="457200"/>
          </a:xfrm>
          <a:prstGeom prst="rect">
            <a:avLst/>
          </a:prstGeom>
          <a:noFill/>
        </p:spPr>
        <p:txBody>
          <a:bodyPr wrap="square" lIns="0" rIns="0" tIns="0" bIns="0" anchor="t">
            <a:spAutoFit/>
          </a:bodyPr>
          <a:lstStyle/>
          <a:p>
            <a:pPr algn="l">
              <a:lnSpc>
                <a:spcPct val="130000"/>
              </a:lnSpc>
              <a:spcAft>
                <a:spcPts val="0"/>
              </a:spcAft>
            </a:pPr>
            <a:r>
              <a:rPr sz="850" b="0">
                <a:solidFill>
                  <a:srgbClr val="6E7079"/>
                </a:solidFill>
                <a:latin typeface="Segoe UI"/>
              </a:rPr>
              <a:t>excellent at reading a document; the comparison set is that document</a:t>
            </a:r>
          </a:p>
        </p:txBody>
      </p:sp>
      <p:sp>
        <p:nvSpPr>
          <p:cNvPr id="55" name="TextBox 54"/>
          <p:cNvSpPr txBox="1"/>
          <p:nvPr/>
        </p:nvSpPr>
        <p:spPr>
          <a:xfrm>
            <a:off x="8019288" y="3803904"/>
            <a:ext cx="3657600" cy="237744"/>
          </a:xfrm>
          <a:prstGeom prst="rect">
            <a:avLst/>
          </a:prstGeom>
          <a:noFill/>
        </p:spPr>
        <p:txBody>
          <a:bodyPr wrap="square" lIns="0" rIns="0" tIns="0" bIns="0" anchor="t">
            <a:spAutoFit/>
          </a:bodyPr>
          <a:lstStyle/>
          <a:p>
            <a:pPr algn="l">
              <a:lnSpc>
                <a:spcPct val="128000"/>
              </a:lnSpc>
              <a:spcAft>
                <a:spcPts val="0"/>
              </a:spcAft>
            </a:pPr>
            <a:r>
              <a:rPr sz="1000" b="0">
                <a:solidFill>
                  <a:srgbClr val="E9E5DC"/>
                </a:solidFill>
                <a:latin typeface="Segoe UI"/>
              </a:rPr>
              <a:t>Audit analytics suites</a:t>
            </a:r>
          </a:p>
        </p:txBody>
      </p:sp>
      <p:sp>
        <p:nvSpPr>
          <p:cNvPr id="56" name="TextBox 55"/>
          <p:cNvSpPr txBox="1"/>
          <p:nvPr/>
        </p:nvSpPr>
        <p:spPr>
          <a:xfrm>
            <a:off x="8019288" y="4032504"/>
            <a:ext cx="3611880" cy="457200"/>
          </a:xfrm>
          <a:prstGeom prst="rect">
            <a:avLst/>
          </a:prstGeom>
          <a:noFill/>
        </p:spPr>
        <p:txBody>
          <a:bodyPr wrap="square" lIns="0" rIns="0" tIns="0" bIns="0" anchor="t">
            <a:spAutoFit/>
          </a:bodyPr>
          <a:lstStyle/>
          <a:p>
            <a:pPr algn="l">
              <a:lnSpc>
                <a:spcPct val="130000"/>
              </a:lnSpc>
              <a:spcAft>
                <a:spcPts val="0"/>
              </a:spcAft>
            </a:pPr>
            <a:r>
              <a:rPr sz="850" b="0">
                <a:solidFill>
                  <a:srgbClr val="6E7079"/>
                </a:solidFill>
                <a:latin typeface="Segoe UI"/>
              </a:rPr>
              <a:t>run corpus-wide tests, but require an analyst to specify and interpret each one, per engagement</a:t>
            </a:r>
          </a:p>
        </p:txBody>
      </p:sp>
      <p:sp>
        <p:nvSpPr>
          <p:cNvPr id="57" name="TextBox 56"/>
          <p:cNvSpPr txBox="1"/>
          <p:nvPr/>
        </p:nvSpPr>
        <p:spPr>
          <a:xfrm>
            <a:off x="8019288" y="4590288"/>
            <a:ext cx="3657600" cy="237744"/>
          </a:xfrm>
          <a:prstGeom prst="rect">
            <a:avLst/>
          </a:prstGeom>
          <a:noFill/>
        </p:spPr>
        <p:txBody>
          <a:bodyPr wrap="square" lIns="0" rIns="0" tIns="0" bIns="0" anchor="t">
            <a:spAutoFit/>
          </a:bodyPr>
          <a:lstStyle/>
          <a:p>
            <a:pPr algn="l">
              <a:lnSpc>
                <a:spcPct val="128000"/>
              </a:lnSpc>
              <a:spcAft>
                <a:spcPts val="0"/>
              </a:spcAft>
            </a:pPr>
            <a:r>
              <a:rPr sz="1000" b="0">
                <a:solidFill>
                  <a:srgbClr val="E9E5DC"/>
                </a:solidFill>
                <a:latin typeface="Segoe UI"/>
              </a:rPr>
              <a:t>Spend analytics dashboards</a:t>
            </a:r>
          </a:p>
        </p:txBody>
      </p:sp>
      <p:sp>
        <p:nvSpPr>
          <p:cNvPr id="58" name="TextBox 57"/>
          <p:cNvSpPr txBox="1"/>
          <p:nvPr/>
        </p:nvSpPr>
        <p:spPr>
          <a:xfrm>
            <a:off x="8019288" y="4818888"/>
            <a:ext cx="3611880" cy="457200"/>
          </a:xfrm>
          <a:prstGeom prst="rect">
            <a:avLst/>
          </a:prstGeom>
          <a:noFill/>
        </p:spPr>
        <p:txBody>
          <a:bodyPr wrap="square" lIns="0" rIns="0" tIns="0" bIns="0" anchor="t">
            <a:spAutoFit/>
          </a:bodyPr>
          <a:lstStyle/>
          <a:p>
            <a:pPr algn="l">
              <a:lnSpc>
                <a:spcPct val="130000"/>
              </a:lnSpc>
              <a:spcAft>
                <a:spcPts val="0"/>
              </a:spcAft>
            </a:pPr>
            <a:r>
              <a:rPr sz="850" b="0">
                <a:solidFill>
                  <a:srgbClr val="6E7079"/>
                </a:solidFill>
                <a:latin typeface="Segoe UI"/>
              </a:rPr>
              <a:t>aggregate to categories, which is exactly the operation that hides a pattern inside a total</a:t>
            </a:r>
          </a:p>
        </p:txBody>
      </p:sp>
      <p:sp>
        <p:nvSpPr>
          <p:cNvPr id="59" name="Rectangle 58"/>
          <p:cNvSpPr/>
          <p:nvPr/>
        </p:nvSpPr>
        <p:spPr>
          <a:xfrm>
            <a:off x="8019288" y="5431536"/>
            <a:ext cx="3657600" cy="786384"/>
          </a:xfrm>
          <a:prstGeom prst="rect">
            <a:avLst/>
          </a:prstGeom>
          <a:noFill/>
          <a:ln w="12700">
            <a:solidFill>
              <a:srgbClr val="8A72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183879" y="5559552"/>
            <a:ext cx="3346704" cy="566928"/>
          </a:xfrm>
          <a:prstGeom prst="rect">
            <a:avLst/>
          </a:prstGeom>
          <a:noFill/>
        </p:spPr>
        <p:txBody>
          <a:bodyPr wrap="square" lIns="0" rIns="0" tIns="0" bIns="0" anchor="t">
            <a:spAutoFit/>
          </a:bodyPr>
          <a:lstStyle/>
          <a:p>
            <a:pPr algn="l">
              <a:lnSpc>
                <a:spcPct val="130000"/>
              </a:lnSpc>
              <a:spcAft>
                <a:spcPts val="0"/>
              </a:spcAft>
            </a:pPr>
            <a:r>
              <a:rPr sz="1000" b="0">
                <a:solidFill>
                  <a:srgbClr val="C9A227"/>
                </a:solidFill>
                <a:latin typeface="Georgia"/>
              </a:rPr>
              <a:t>None of them is wrong. They are all built around a document. The frauds that cost the most do not live inside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ontent.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658368"/>
            <a:ext cx="1097280" cy="274320"/>
          </a:xfrm>
          <a:prstGeom prst="rect">
            <a:avLst/>
          </a:prstGeom>
          <a:noFill/>
        </p:spPr>
        <p:txBody>
          <a:bodyPr wrap="square" lIns="0" rIns="0" tIns="0" bIns="0" anchor="t">
            <a:spAutoFit/>
          </a:bodyPr>
          <a:lstStyle/>
          <a:p>
            <a:pPr algn="l">
              <a:lnSpc>
                <a:spcPct val="128000"/>
              </a:lnSpc>
              <a:spcAft>
                <a:spcPts val="0"/>
              </a:spcAft>
            </a:pPr>
            <a:r>
              <a:rPr sz="1000" b="0">
                <a:solidFill>
                  <a:srgbClr val="6E7079"/>
                </a:solidFill>
                <a:latin typeface="Consolas"/>
              </a:rPr>
              <a:t>07</a:t>
            </a:r>
          </a:p>
        </p:txBody>
      </p:sp>
      <p:sp>
        <p:nvSpPr>
          <p:cNvPr id="5" name="TextBox 4"/>
          <p:cNvSpPr txBox="1"/>
          <p:nvPr/>
        </p:nvSpPr>
        <p:spPr>
          <a:xfrm>
            <a:off x="1225295" y="669340"/>
            <a:ext cx="7315200" cy="201168"/>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I M P A C T   A N D   F U T U R E   S C O P E</a:t>
            </a:r>
          </a:p>
        </p:txBody>
      </p:sp>
      <p:sp>
        <p:nvSpPr>
          <p:cNvPr id="6" name="TextBox 5"/>
          <p:cNvSpPr txBox="1"/>
          <p:nvPr/>
        </p:nvSpPr>
        <p:spPr>
          <a:xfrm>
            <a:off x="658368" y="1005840"/>
            <a:ext cx="10874959" cy="548640"/>
          </a:xfrm>
          <a:prstGeom prst="rect">
            <a:avLst/>
          </a:prstGeom>
          <a:noFill/>
        </p:spPr>
        <p:txBody>
          <a:bodyPr wrap="square" lIns="0" rIns="0" tIns="0" bIns="0" anchor="t">
            <a:spAutoFit/>
          </a:bodyPr>
          <a:lstStyle/>
          <a:p>
            <a:pPr algn="l">
              <a:lnSpc>
                <a:spcPct val="102000"/>
              </a:lnSpc>
              <a:spcAft>
                <a:spcPts val="0"/>
              </a:spcAft>
            </a:pPr>
            <a:r>
              <a:rPr sz="3100" b="0">
                <a:solidFill>
                  <a:srgbClr val="E9E5DC"/>
                </a:solidFill>
                <a:latin typeface="Georgia"/>
              </a:rPr>
              <a:t>Every rupee shown with the arithmetic that produced it.</a:t>
            </a:r>
          </a:p>
        </p:txBody>
      </p:sp>
      <p:cxnSp>
        <p:nvCxnSpPr>
          <p:cNvPr id="7" name="Connector 6"/>
          <p:cNvCxnSpPr/>
          <p:nvPr/>
        </p:nvCxnSpPr>
        <p:spPr>
          <a:xfrm>
            <a:off x="658368" y="1627632"/>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 y="6437376"/>
            <a:ext cx="10874959" cy="0"/>
          </a:xfrm>
          <a:prstGeom prst="line">
            <a:avLst/>
          </a:prstGeom>
          <a:ln w="7620">
            <a:solidFill>
              <a:srgbClr val="1B1E23"/>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6519672"/>
            <a:ext cx="548640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LedgerLens · procurement forensics</a:t>
            </a:r>
          </a:p>
        </p:txBody>
      </p:sp>
      <p:sp>
        <p:nvSpPr>
          <p:cNvPr id="10" name="TextBox 9"/>
          <p:cNvSpPr txBox="1"/>
          <p:nvPr/>
        </p:nvSpPr>
        <p:spPr>
          <a:xfrm>
            <a:off x="9704527" y="6519672"/>
            <a:ext cx="1828800" cy="219456"/>
          </a:xfrm>
          <a:prstGeom prst="rect">
            <a:avLst/>
          </a:prstGeom>
          <a:noFill/>
        </p:spPr>
        <p:txBody>
          <a:bodyPr wrap="square" lIns="0" rIns="0" tIns="0" bIns="0" anchor="t">
            <a:spAutoFit/>
          </a:bodyPr>
          <a:lstStyle/>
          <a:p>
            <a:pPr algn="r">
              <a:lnSpc>
                <a:spcPct val="128000"/>
              </a:lnSpc>
              <a:spcAft>
                <a:spcPts val="0"/>
              </a:spcAft>
            </a:pPr>
            <a:r>
              <a:rPr sz="800" b="0">
                <a:solidFill>
                  <a:srgbClr val="6E7079"/>
                </a:solidFill>
                <a:latin typeface="Consolas"/>
              </a:rPr>
              <a:t>07 / 07</a:t>
            </a:r>
          </a:p>
        </p:txBody>
      </p:sp>
      <p:sp>
        <p:nvSpPr>
          <p:cNvPr id="11" name="TextBox 10"/>
          <p:cNvSpPr txBox="1"/>
          <p:nvPr/>
        </p:nvSpPr>
        <p:spPr>
          <a:xfrm>
            <a:off x="658368" y="1901952"/>
            <a:ext cx="6766560" cy="237744"/>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W H A T   W A S   F O U N D ,   A N D   H O W   I T   W A S   C O M P U T E D</a:t>
            </a:r>
          </a:p>
        </p:txBody>
      </p:sp>
      <p:sp>
        <p:nvSpPr>
          <p:cNvPr id="12" name="Rectangle 11"/>
          <p:cNvSpPr/>
          <p:nvPr/>
        </p:nvSpPr>
        <p:spPr>
          <a:xfrm>
            <a:off x="658368" y="2212848"/>
            <a:ext cx="6766560" cy="566928"/>
          </a:xfrm>
          <a:prstGeom prst="rect">
            <a:avLst/>
          </a:prstGeom>
          <a:solidFill>
            <a:srgbClr val="121417"/>
          </a:solidFill>
          <a:ln w="1016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212848"/>
            <a:ext cx="32004" cy="566928"/>
          </a:xfrm>
          <a:prstGeom prst="rect">
            <a:avLst/>
          </a:prstGeom>
          <a:solidFill>
            <a:srgbClr val="5B8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9536" y="2295144"/>
            <a:ext cx="1371600" cy="237744"/>
          </a:xfrm>
          <a:prstGeom prst="rect">
            <a:avLst/>
          </a:prstGeom>
          <a:noFill/>
        </p:spPr>
        <p:txBody>
          <a:bodyPr wrap="square" lIns="0" rIns="0" tIns="0" bIns="0" anchor="t">
            <a:spAutoFit/>
          </a:bodyPr>
          <a:lstStyle/>
          <a:p>
            <a:pPr algn="l">
              <a:lnSpc>
                <a:spcPct val="128000"/>
              </a:lnSpc>
              <a:spcAft>
                <a:spcPts val="0"/>
              </a:spcAft>
            </a:pPr>
            <a:r>
              <a:rPr sz="1100" b="0">
                <a:solidFill>
                  <a:srgbClr val="E9E5DC"/>
                </a:solidFill>
                <a:latin typeface="Segoe UI"/>
              </a:rPr>
              <a:t>Recoverable</a:t>
            </a:r>
          </a:p>
        </p:txBody>
      </p:sp>
      <p:sp>
        <p:nvSpPr>
          <p:cNvPr id="15" name="TextBox 14"/>
          <p:cNvSpPr txBox="1"/>
          <p:nvPr/>
        </p:nvSpPr>
        <p:spPr>
          <a:xfrm>
            <a:off x="859536" y="2514600"/>
            <a:ext cx="4572000" cy="219456"/>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Segoe UI"/>
              </a:rPr>
              <a:t>11 confirmed duplicate pairs, already paid twice — the eleven amounts, summed</a:t>
            </a:r>
          </a:p>
        </p:txBody>
      </p:sp>
      <p:sp>
        <p:nvSpPr>
          <p:cNvPr id="16" name="TextBox 15"/>
          <p:cNvSpPr txBox="1"/>
          <p:nvPr/>
        </p:nvSpPr>
        <p:spPr>
          <a:xfrm>
            <a:off x="5614416" y="2350008"/>
            <a:ext cx="1188720" cy="274320"/>
          </a:xfrm>
          <a:prstGeom prst="rect">
            <a:avLst/>
          </a:prstGeom>
          <a:noFill/>
        </p:spPr>
        <p:txBody>
          <a:bodyPr wrap="square" lIns="0" rIns="0" tIns="0" bIns="0" anchor="t">
            <a:spAutoFit/>
          </a:bodyPr>
          <a:lstStyle/>
          <a:p>
            <a:pPr algn="r">
              <a:lnSpc>
                <a:spcPct val="128000"/>
              </a:lnSpc>
              <a:spcAft>
                <a:spcPts val="0"/>
              </a:spcAft>
            </a:pPr>
            <a:r>
              <a:rPr sz="1500" b="0">
                <a:solidFill>
                  <a:srgbClr val="5B8F6E"/>
                </a:solidFill>
                <a:latin typeface="Consolas"/>
              </a:rPr>
              <a:t>₹8,42,650</a:t>
            </a:r>
          </a:p>
        </p:txBody>
      </p:sp>
      <p:sp>
        <p:nvSpPr>
          <p:cNvPr id="17" name="TextBox 16"/>
          <p:cNvSpPr txBox="1"/>
          <p:nvPr/>
        </p:nvSpPr>
        <p:spPr>
          <a:xfrm>
            <a:off x="6912864" y="2395728"/>
            <a:ext cx="457200" cy="219456"/>
          </a:xfrm>
          <a:prstGeom prst="rect">
            <a:avLst/>
          </a:prstGeom>
          <a:noFill/>
        </p:spPr>
        <p:txBody>
          <a:bodyPr wrap="square" lIns="0" rIns="0" tIns="0" bIns="0" anchor="t">
            <a:spAutoFit/>
          </a:bodyPr>
          <a:lstStyle/>
          <a:p>
            <a:pPr algn="r">
              <a:lnSpc>
                <a:spcPct val="128000"/>
              </a:lnSpc>
              <a:spcAft>
                <a:spcPts val="0"/>
              </a:spcAft>
            </a:pPr>
            <a:r>
              <a:rPr sz="750" b="0">
                <a:solidFill>
                  <a:srgbClr val="6E7079"/>
                </a:solidFill>
                <a:latin typeface="Consolas"/>
              </a:rPr>
              <a:t>High</a:t>
            </a:r>
          </a:p>
        </p:txBody>
      </p:sp>
      <p:sp>
        <p:nvSpPr>
          <p:cNvPr id="18" name="Rectangle 17"/>
          <p:cNvSpPr/>
          <p:nvPr/>
        </p:nvSpPr>
        <p:spPr>
          <a:xfrm>
            <a:off x="658368" y="2834640"/>
            <a:ext cx="6766560" cy="566928"/>
          </a:xfrm>
          <a:prstGeom prst="rect">
            <a:avLst/>
          </a:prstGeom>
          <a:solidFill>
            <a:srgbClr val="121417"/>
          </a:solidFill>
          <a:ln w="1016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58368" y="2834640"/>
            <a:ext cx="32004" cy="5669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9536" y="2916936"/>
            <a:ext cx="1371600" cy="237744"/>
          </a:xfrm>
          <a:prstGeom prst="rect">
            <a:avLst/>
          </a:prstGeom>
          <a:noFill/>
        </p:spPr>
        <p:txBody>
          <a:bodyPr wrap="square" lIns="0" rIns="0" tIns="0" bIns="0" anchor="t">
            <a:spAutoFit/>
          </a:bodyPr>
          <a:lstStyle/>
          <a:p>
            <a:pPr algn="l">
              <a:lnSpc>
                <a:spcPct val="128000"/>
              </a:lnSpc>
              <a:spcAft>
                <a:spcPts val="0"/>
              </a:spcAft>
            </a:pPr>
            <a:r>
              <a:rPr sz="1100" b="0">
                <a:solidFill>
                  <a:srgbClr val="E9E5DC"/>
                </a:solidFill>
                <a:latin typeface="Segoe UI"/>
              </a:rPr>
              <a:t>Avoidable</a:t>
            </a:r>
          </a:p>
        </p:txBody>
      </p:sp>
      <p:sp>
        <p:nvSpPr>
          <p:cNvPr id="21" name="TextBox 20"/>
          <p:cNvSpPr txBox="1"/>
          <p:nvPr/>
        </p:nvSpPr>
        <p:spPr>
          <a:xfrm>
            <a:off x="859536" y="3136392"/>
            <a:ext cx="4572000" cy="219456"/>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Segoe UI"/>
              </a:rPr>
              <a:t>Σ (unit price − peer median) × volume across 34 flagged SKU–vendor pairs</a:t>
            </a:r>
          </a:p>
        </p:txBody>
      </p:sp>
      <p:sp>
        <p:nvSpPr>
          <p:cNvPr id="22" name="TextBox 21"/>
          <p:cNvSpPr txBox="1"/>
          <p:nvPr/>
        </p:nvSpPr>
        <p:spPr>
          <a:xfrm>
            <a:off x="5614416" y="2971800"/>
            <a:ext cx="1188720" cy="274320"/>
          </a:xfrm>
          <a:prstGeom prst="rect">
            <a:avLst/>
          </a:prstGeom>
          <a:noFill/>
        </p:spPr>
        <p:txBody>
          <a:bodyPr wrap="square" lIns="0" rIns="0" tIns="0" bIns="0" anchor="t">
            <a:spAutoFit/>
          </a:bodyPr>
          <a:lstStyle/>
          <a:p>
            <a:pPr algn="r">
              <a:lnSpc>
                <a:spcPct val="128000"/>
              </a:lnSpc>
              <a:spcAft>
                <a:spcPts val="0"/>
              </a:spcAft>
            </a:pPr>
            <a:r>
              <a:rPr sz="1500" b="0">
                <a:solidFill>
                  <a:srgbClr val="C9A227"/>
                </a:solidFill>
                <a:latin typeface="Consolas"/>
              </a:rPr>
              <a:t>₹6,70,000</a:t>
            </a:r>
          </a:p>
        </p:txBody>
      </p:sp>
      <p:sp>
        <p:nvSpPr>
          <p:cNvPr id="23" name="TextBox 22"/>
          <p:cNvSpPr txBox="1"/>
          <p:nvPr/>
        </p:nvSpPr>
        <p:spPr>
          <a:xfrm>
            <a:off x="6912864" y="3017520"/>
            <a:ext cx="457200" cy="219456"/>
          </a:xfrm>
          <a:prstGeom prst="rect">
            <a:avLst/>
          </a:prstGeom>
          <a:noFill/>
        </p:spPr>
        <p:txBody>
          <a:bodyPr wrap="square" lIns="0" rIns="0" tIns="0" bIns="0" anchor="t">
            <a:spAutoFit/>
          </a:bodyPr>
          <a:lstStyle/>
          <a:p>
            <a:pPr algn="r">
              <a:lnSpc>
                <a:spcPct val="128000"/>
              </a:lnSpc>
              <a:spcAft>
                <a:spcPts val="0"/>
              </a:spcAft>
            </a:pPr>
            <a:r>
              <a:rPr sz="750" b="0">
                <a:solidFill>
                  <a:srgbClr val="6E7079"/>
                </a:solidFill>
                <a:latin typeface="Consolas"/>
              </a:rPr>
              <a:t>Medium</a:t>
            </a:r>
          </a:p>
        </p:txBody>
      </p:sp>
      <p:sp>
        <p:nvSpPr>
          <p:cNvPr id="24" name="Rectangle 23"/>
          <p:cNvSpPr/>
          <p:nvPr/>
        </p:nvSpPr>
        <p:spPr>
          <a:xfrm>
            <a:off x="658368" y="3456432"/>
            <a:ext cx="6766560" cy="566928"/>
          </a:xfrm>
          <a:prstGeom prst="rect">
            <a:avLst/>
          </a:prstGeom>
          <a:solidFill>
            <a:srgbClr val="121417"/>
          </a:solidFill>
          <a:ln w="1016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58368" y="3456432"/>
            <a:ext cx="32004" cy="566928"/>
          </a:xfrm>
          <a:prstGeom prst="rect">
            <a:avLst/>
          </a:prstGeom>
          <a:solidFill>
            <a:srgbClr val="6B8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9536" y="3538728"/>
            <a:ext cx="1371600" cy="237744"/>
          </a:xfrm>
          <a:prstGeom prst="rect">
            <a:avLst/>
          </a:prstGeom>
          <a:noFill/>
        </p:spPr>
        <p:txBody>
          <a:bodyPr wrap="square" lIns="0" rIns="0" tIns="0" bIns="0" anchor="t">
            <a:spAutoFit/>
          </a:bodyPr>
          <a:lstStyle/>
          <a:p>
            <a:pPr algn="l">
              <a:lnSpc>
                <a:spcPct val="128000"/>
              </a:lnSpc>
              <a:spcAft>
                <a:spcPts val="0"/>
              </a:spcAft>
            </a:pPr>
            <a:r>
              <a:rPr sz="1100" b="0">
                <a:solidFill>
                  <a:srgbClr val="E9E5DC"/>
                </a:solidFill>
                <a:latin typeface="Segoe UI"/>
              </a:rPr>
              <a:t>Negotiable</a:t>
            </a:r>
          </a:p>
        </p:txBody>
      </p:sp>
      <p:sp>
        <p:nvSpPr>
          <p:cNvPr id="27" name="TextBox 26"/>
          <p:cNvSpPr txBox="1"/>
          <p:nvPr/>
        </p:nvSpPr>
        <p:spPr>
          <a:xfrm>
            <a:off x="859536" y="3758184"/>
            <a:ext cx="4572000" cy="219456"/>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Segoe UI"/>
              </a:rPr>
              <a:t>consolidation ₹2,18,000 + early-payment discounts not taken ₹1,12,000</a:t>
            </a:r>
          </a:p>
        </p:txBody>
      </p:sp>
      <p:sp>
        <p:nvSpPr>
          <p:cNvPr id="28" name="TextBox 27"/>
          <p:cNvSpPr txBox="1"/>
          <p:nvPr/>
        </p:nvSpPr>
        <p:spPr>
          <a:xfrm>
            <a:off x="5614416" y="3593592"/>
            <a:ext cx="1188720" cy="274320"/>
          </a:xfrm>
          <a:prstGeom prst="rect">
            <a:avLst/>
          </a:prstGeom>
          <a:noFill/>
        </p:spPr>
        <p:txBody>
          <a:bodyPr wrap="square" lIns="0" rIns="0" tIns="0" bIns="0" anchor="t">
            <a:spAutoFit/>
          </a:bodyPr>
          <a:lstStyle/>
          <a:p>
            <a:pPr algn="r">
              <a:lnSpc>
                <a:spcPct val="128000"/>
              </a:lnSpc>
              <a:spcAft>
                <a:spcPts val="0"/>
              </a:spcAft>
            </a:pPr>
            <a:r>
              <a:rPr sz="1500" b="0">
                <a:solidFill>
                  <a:srgbClr val="6B8394"/>
                </a:solidFill>
                <a:latin typeface="Consolas"/>
              </a:rPr>
              <a:t>₹3,30,000</a:t>
            </a:r>
          </a:p>
        </p:txBody>
      </p:sp>
      <p:sp>
        <p:nvSpPr>
          <p:cNvPr id="29" name="TextBox 28"/>
          <p:cNvSpPr txBox="1"/>
          <p:nvPr/>
        </p:nvSpPr>
        <p:spPr>
          <a:xfrm>
            <a:off x="6912864" y="3639312"/>
            <a:ext cx="457200" cy="219456"/>
          </a:xfrm>
          <a:prstGeom prst="rect">
            <a:avLst/>
          </a:prstGeom>
          <a:noFill/>
        </p:spPr>
        <p:txBody>
          <a:bodyPr wrap="square" lIns="0" rIns="0" tIns="0" bIns="0" anchor="t">
            <a:spAutoFit/>
          </a:bodyPr>
          <a:lstStyle/>
          <a:p>
            <a:pPr algn="r">
              <a:lnSpc>
                <a:spcPct val="128000"/>
              </a:lnSpc>
              <a:spcAft>
                <a:spcPts val="0"/>
              </a:spcAft>
            </a:pPr>
            <a:r>
              <a:rPr sz="750" b="0">
                <a:solidFill>
                  <a:srgbClr val="6E7079"/>
                </a:solidFill>
                <a:latin typeface="Consolas"/>
              </a:rPr>
              <a:t>Modelled</a:t>
            </a:r>
          </a:p>
        </p:txBody>
      </p:sp>
      <p:sp>
        <p:nvSpPr>
          <p:cNvPr id="30" name="Rectangle 29"/>
          <p:cNvSpPr/>
          <p:nvPr/>
        </p:nvSpPr>
        <p:spPr>
          <a:xfrm>
            <a:off x="658368" y="4078224"/>
            <a:ext cx="6766560" cy="658368"/>
          </a:xfrm>
          <a:prstGeom prst="rect">
            <a:avLst/>
          </a:prstGeom>
          <a:solidFill>
            <a:srgbClr val="191C21"/>
          </a:solidFill>
          <a:ln w="12700">
            <a:solidFill>
              <a:srgbClr val="8A72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59536" y="4197096"/>
            <a:ext cx="3108960" cy="274320"/>
          </a:xfrm>
          <a:prstGeom prst="rect">
            <a:avLst/>
          </a:prstGeom>
          <a:noFill/>
        </p:spPr>
        <p:txBody>
          <a:bodyPr wrap="square" lIns="0" rIns="0" tIns="0" bIns="0" anchor="t">
            <a:spAutoFit/>
          </a:bodyPr>
          <a:lstStyle/>
          <a:p>
            <a:pPr algn="l">
              <a:lnSpc>
                <a:spcPct val="128000"/>
              </a:lnSpc>
              <a:spcAft>
                <a:spcPts val="0"/>
              </a:spcAft>
            </a:pPr>
            <a:r>
              <a:rPr sz="1200" b="0">
                <a:solidFill>
                  <a:srgbClr val="C9A227"/>
                </a:solidFill>
                <a:latin typeface="Segoe UI"/>
              </a:rPr>
              <a:t>Total identified</a:t>
            </a:r>
          </a:p>
        </p:txBody>
      </p:sp>
      <p:sp>
        <p:nvSpPr>
          <p:cNvPr id="32" name="TextBox 31"/>
          <p:cNvSpPr txBox="1"/>
          <p:nvPr/>
        </p:nvSpPr>
        <p:spPr>
          <a:xfrm>
            <a:off x="859536" y="4443984"/>
            <a:ext cx="4206240" cy="219456"/>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on ₹42.6 Cr analysed = 0.43% of spend</a:t>
            </a:r>
          </a:p>
        </p:txBody>
      </p:sp>
      <p:sp>
        <p:nvSpPr>
          <p:cNvPr id="33" name="TextBox 32"/>
          <p:cNvSpPr txBox="1"/>
          <p:nvPr/>
        </p:nvSpPr>
        <p:spPr>
          <a:xfrm>
            <a:off x="4864607" y="4224528"/>
            <a:ext cx="2377440" cy="365760"/>
          </a:xfrm>
          <a:prstGeom prst="rect">
            <a:avLst/>
          </a:prstGeom>
          <a:noFill/>
        </p:spPr>
        <p:txBody>
          <a:bodyPr wrap="square" lIns="0" rIns="0" tIns="0" bIns="0" anchor="t">
            <a:spAutoFit/>
          </a:bodyPr>
          <a:lstStyle/>
          <a:p>
            <a:pPr algn="r">
              <a:lnSpc>
                <a:spcPct val="128000"/>
              </a:lnSpc>
              <a:spcAft>
                <a:spcPts val="0"/>
              </a:spcAft>
            </a:pPr>
            <a:r>
              <a:rPr sz="2100" b="0">
                <a:solidFill>
                  <a:srgbClr val="C9A227"/>
                </a:solidFill>
                <a:latin typeface="Consolas"/>
              </a:rPr>
              <a:t>₹18,42,650</a:t>
            </a:r>
          </a:p>
        </p:txBody>
      </p:sp>
      <p:sp>
        <p:nvSpPr>
          <p:cNvPr id="34" name="TextBox 33"/>
          <p:cNvSpPr txBox="1"/>
          <p:nvPr/>
        </p:nvSpPr>
        <p:spPr>
          <a:xfrm>
            <a:off x="658368" y="4937760"/>
            <a:ext cx="6766560" cy="219456"/>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Consolas"/>
              </a:rPr>
              <a:t>R E A L I Z A T I O N   —   I D E N T I F I E D   T H R O U G H   T O   C A S H</a:t>
            </a:r>
          </a:p>
        </p:txBody>
      </p:sp>
      <p:sp>
        <p:nvSpPr>
          <p:cNvPr id="35" name="Rectangle 34"/>
          <p:cNvSpPr/>
          <p:nvPr/>
        </p:nvSpPr>
        <p:spPr>
          <a:xfrm>
            <a:off x="658368" y="5230368"/>
            <a:ext cx="1481328" cy="146304"/>
          </a:xfrm>
          <a:prstGeom prst="rect">
            <a:avLst/>
          </a:prstGeom>
          <a:solidFill>
            <a:srgbClr val="19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58368" y="5230368"/>
            <a:ext cx="1481328"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8368" y="5431536"/>
            <a:ext cx="1481328" cy="219456"/>
          </a:xfrm>
          <a:prstGeom prst="rect">
            <a:avLst/>
          </a:prstGeom>
          <a:noFill/>
        </p:spPr>
        <p:txBody>
          <a:bodyPr wrap="square" lIns="0" rIns="0" tIns="0" bIns="0" anchor="t">
            <a:spAutoFit/>
          </a:bodyPr>
          <a:lstStyle/>
          <a:p>
            <a:pPr algn="l">
              <a:lnSpc>
                <a:spcPct val="128000"/>
              </a:lnSpc>
              <a:spcAft>
                <a:spcPts val="0"/>
              </a:spcAft>
            </a:pPr>
            <a:r>
              <a:rPr sz="950" b="0">
                <a:solidFill>
                  <a:srgbClr val="C9A227"/>
                </a:solidFill>
                <a:latin typeface="Consolas"/>
              </a:rPr>
              <a:t>₹18,42,650</a:t>
            </a:r>
          </a:p>
        </p:txBody>
      </p:sp>
      <p:sp>
        <p:nvSpPr>
          <p:cNvPr id="38" name="TextBox 37"/>
          <p:cNvSpPr txBox="1"/>
          <p:nvPr/>
        </p:nvSpPr>
        <p:spPr>
          <a:xfrm>
            <a:off x="658368" y="5632704"/>
            <a:ext cx="1481328" cy="201168"/>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Segoe UI"/>
              </a:rPr>
              <a:t>Identified</a:t>
            </a:r>
          </a:p>
        </p:txBody>
      </p:sp>
      <p:cxnSp>
        <p:nvCxnSpPr>
          <p:cNvPr id="39" name="Connector 38"/>
          <p:cNvCxnSpPr/>
          <p:nvPr/>
        </p:nvCxnSpPr>
        <p:spPr>
          <a:xfrm>
            <a:off x="2157984" y="5303520"/>
            <a:ext cx="182880" cy="0"/>
          </a:xfrm>
          <a:prstGeom prst="line">
            <a:avLst/>
          </a:prstGeom>
          <a:ln w="1143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340864" y="5230368"/>
            <a:ext cx="1481328" cy="146304"/>
          </a:xfrm>
          <a:prstGeom prst="rect">
            <a:avLst/>
          </a:prstGeom>
          <a:solidFill>
            <a:srgbClr val="19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340864" y="5230368"/>
            <a:ext cx="900381" cy="146304"/>
          </a:xfrm>
          <a:prstGeom prst="rect">
            <a:avLst/>
          </a:prstGeom>
          <a:solidFill>
            <a:srgbClr val="8A7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340864" y="5431536"/>
            <a:ext cx="1481328" cy="219456"/>
          </a:xfrm>
          <a:prstGeom prst="rect">
            <a:avLst/>
          </a:prstGeom>
          <a:noFill/>
        </p:spPr>
        <p:txBody>
          <a:bodyPr wrap="square" lIns="0" rIns="0" tIns="0" bIns="0" anchor="t">
            <a:spAutoFit/>
          </a:bodyPr>
          <a:lstStyle/>
          <a:p>
            <a:pPr algn="l">
              <a:lnSpc>
                <a:spcPct val="128000"/>
              </a:lnSpc>
              <a:spcAft>
                <a:spcPts val="0"/>
              </a:spcAft>
            </a:pPr>
            <a:r>
              <a:rPr sz="950" b="0">
                <a:solidFill>
                  <a:srgbClr val="8A7220"/>
                </a:solidFill>
                <a:latin typeface="Consolas"/>
              </a:rPr>
              <a:t>₹11,20,000</a:t>
            </a:r>
          </a:p>
        </p:txBody>
      </p:sp>
      <p:sp>
        <p:nvSpPr>
          <p:cNvPr id="43" name="TextBox 42"/>
          <p:cNvSpPr txBox="1"/>
          <p:nvPr/>
        </p:nvSpPr>
        <p:spPr>
          <a:xfrm>
            <a:off x="2340864" y="5632704"/>
            <a:ext cx="1481328" cy="201168"/>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Segoe UI"/>
              </a:rPr>
              <a:t>Validated</a:t>
            </a:r>
          </a:p>
        </p:txBody>
      </p:sp>
      <p:cxnSp>
        <p:nvCxnSpPr>
          <p:cNvPr id="44" name="Connector 43"/>
          <p:cNvCxnSpPr/>
          <p:nvPr/>
        </p:nvCxnSpPr>
        <p:spPr>
          <a:xfrm>
            <a:off x="3840479" y="5303520"/>
            <a:ext cx="182880" cy="0"/>
          </a:xfrm>
          <a:prstGeom prst="line">
            <a:avLst/>
          </a:prstGeom>
          <a:ln w="1143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023360" y="5230368"/>
            <a:ext cx="1481328" cy="146304"/>
          </a:xfrm>
          <a:prstGeom prst="rect">
            <a:avLst/>
          </a:prstGeom>
          <a:solidFill>
            <a:srgbClr val="19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4023360" y="5230368"/>
            <a:ext cx="627051" cy="146304"/>
          </a:xfrm>
          <a:prstGeom prst="rect">
            <a:avLst/>
          </a:prstGeom>
          <a:solidFill>
            <a:srgbClr val="6B8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023360" y="5431536"/>
            <a:ext cx="1481328" cy="219456"/>
          </a:xfrm>
          <a:prstGeom prst="rect">
            <a:avLst/>
          </a:prstGeom>
          <a:noFill/>
        </p:spPr>
        <p:txBody>
          <a:bodyPr wrap="square" lIns="0" rIns="0" tIns="0" bIns="0" anchor="t">
            <a:spAutoFit/>
          </a:bodyPr>
          <a:lstStyle/>
          <a:p>
            <a:pPr algn="l">
              <a:lnSpc>
                <a:spcPct val="128000"/>
              </a:lnSpc>
              <a:spcAft>
                <a:spcPts val="0"/>
              </a:spcAft>
            </a:pPr>
            <a:r>
              <a:rPr sz="950" b="0">
                <a:solidFill>
                  <a:srgbClr val="6B8394"/>
                </a:solidFill>
                <a:latin typeface="Consolas"/>
              </a:rPr>
              <a:t>₹7,80,000</a:t>
            </a:r>
          </a:p>
        </p:txBody>
      </p:sp>
      <p:sp>
        <p:nvSpPr>
          <p:cNvPr id="48" name="TextBox 47"/>
          <p:cNvSpPr txBox="1"/>
          <p:nvPr/>
        </p:nvSpPr>
        <p:spPr>
          <a:xfrm>
            <a:off x="4023360" y="5632704"/>
            <a:ext cx="1481328" cy="201168"/>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Segoe UI"/>
              </a:rPr>
              <a:t>Actioned</a:t>
            </a:r>
          </a:p>
        </p:txBody>
      </p:sp>
      <p:cxnSp>
        <p:nvCxnSpPr>
          <p:cNvPr id="49" name="Connector 48"/>
          <p:cNvCxnSpPr/>
          <p:nvPr/>
        </p:nvCxnSpPr>
        <p:spPr>
          <a:xfrm>
            <a:off x="5522976" y="5303520"/>
            <a:ext cx="182880" cy="0"/>
          </a:xfrm>
          <a:prstGeom prst="line">
            <a:avLst/>
          </a:prstGeom>
          <a:ln w="11430">
            <a:solidFill>
              <a:srgbClr val="6E707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705856" y="5230368"/>
            <a:ext cx="1481328" cy="146304"/>
          </a:xfrm>
          <a:prstGeom prst="rect">
            <a:avLst/>
          </a:prstGeom>
          <a:solidFill>
            <a:srgbClr val="19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5705856" y="5230368"/>
            <a:ext cx="499550" cy="146304"/>
          </a:xfrm>
          <a:prstGeom prst="rect">
            <a:avLst/>
          </a:prstGeom>
          <a:solidFill>
            <a:srgbClr val="5B8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705856" y="5431536"/>
            <a:ext cx="1481328" cy="219456"/>
          </a:xfrm>
          <a:prstGeom prst="rect">
            <a:avLst/>
          </a:prstGeom>
          <a:noFill/>
        </p:spPr>
        <p:txBody>
          <a:bodyPr wrap="square" lIns="0" rIns="0" tIns="0" bIns="0" anchor="t">
            <a:spAutoFit/>
          </a:bodyPr>
          <a:lstStyle/>
          <a:p>
            <a:pPr algn="l">
              <a:lnSpc>
                <a:spcPct val="128000"/>
              </a:lnSpc>
              <a:spcAft>
                <a:spcPts val="0"/>
              </a:spcAft>
            </a:pPr>
            <a:r>
              <a:rPr sz="950" b="0">
                <a:solidFill>
                  <a:srgbClr val="5B8F6E"/>
                </a:solidFill>
                <a:latin typeface="Consolas"/>
              </a:rPr>
              <a:t>₹6,21,400</a:t>
            </a:r>
          </a:p>
        </p:txBody>
      </p:sp>
      <p:sp>
        <p:nvSpPr>
          <p:cNvPr id="53" name="TextBox 52"/>
          <p:cNvSpPr txBox="1"/>
          <p:nvPr/>
        </p:nvSpPr>
        <p:spPr>
          <a:xfrm>
            <a:off x="5705856" y="5632704"/>
            <a:ext cx="1481328" cy="201168"/>
          </a:xfrm>
          <a:prstGeom prst="rect">
            <a:avLst/>
          </a:prstGeom>
          <a:noFill/>
        </p:spPr>
        <p:txBody>
          <a:bodyPr wrap="square" lIns="0" rIns="0" tIns="0" bIns="0" anchor="t">
            <a:spAutoFit/>
          </a:bodyPr>
          <a:lstStyle/>
          <a:p>
            <a:pPr algn="l">
              <a:lnSpc>
                <a:spcPct val="128000"/>
              </a:lnSpc>
              <a:spcAft>
                <a:spcPts val="0"/>
              </a:spcAft>
            </a:pPr>
            <a:r>
              <a:rPr sz="800" b="0">
                <a:solidFill>
                  <a:srgbClr val="6E7079"/>
                </a:solidFill>
                <a:latin typeface="Segoe UI"/>
              </a:rPr>
              <a:t>Recovered</a:t>
            </a:r>
          </a:p>
        </p:txBody>
      </p:sp>
      <p:cxnSp>
        <p:nvCxnSpPr>
          <p:cNvPr id="54" name="Connector 53"/>
          <p:cNvCxnSpPr/>
          <p:nvPr/>
        </p:nvCxnSpPr>
        <p:spPr>
          <a:xfrm>
            <a:off x="7607808" y="1901952"/>
            <a:ext cx="0" cy="420624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882128" y="1901952"/>
            <a:ext cx="3657600" cy="237744"/>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M E A S U R E D ,   N O T   A S S E R T E D</a:t>
            </a:r>
          </a:p>
        </p:txBody>
      </p:sp>
      <p:sp>
        <p:nvSpPr>
          <p:cNvPr id="56" name="Rectangle 55"/>
          <p:cNvSpPr/>
          <p:nvPr/>
        </p:nvSpPr>
        <p:spPr>
          <a:xfrm>
            <a:off x="7882128" y="2194560"/>
            <a:ext cx="1133856" cy="713232"/>
          </a:xfrm>
          <a:prstGeom prst="rect">
            <a:avLst/>
          </a:prstGeom>
          <a:solidFill>
            <a:srgbClr val="121417"/>
          </a:solidFill>
          <a:ln w="1016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7882128" y="2304288"/>
            <a:ext cx="1133856" cy="292608"/>
          </a:xfrm>
          <a:prstGeom prst="rect">
            <a:avLst/>
          </a:prstGeom>
          <a:noFill/>
        </p:spPr>
        <p:txBody>
          <a:bodyPr wrap="square" lIns="0" rIns="0" tIns="0" bIns="0" anchor="t">
            <a:spAutoFit/>
          </a:bodyPr>
          <a:lstStyle/>
          <a:p>
            <a:pPr algn="ctr">
              <a:lnSpc>
                <a:spcPct val="128000"/>
              </a:lnSpc>
              <a:spcAft>
                <a:spcPts val="0"/>
              </a:spcAft>
            </a:pPr>
            <a:r>
              <a:rPr sz="1700" b="0">
                <a:solidFill>
                  <a:srgbClr val="5B8F6E"/>
                </a:solidFill>
                <a:latin typeface="Consolas"/>
              </a:rPr>
              <a:t>94.4%</a:t>
            </a:r>
          </a:p>
        </p:txBody>
      </p:sp>
      <p:sp>
        <p:nvSpPr>
          <p:cNvPr id="58" name="TextBox 57"/>
          <p:cNvSpPr txBox="1"/>
          <p:nvPr/>
        </p:nvSpPr>
        <p:spPr>
          <a:xfrm>
            <a:off x="7882128" y="2633472"/>
            <a:ext cx="1133856"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precision</a:t>
            </a:r>
          </a:p>
        </p:txBody>
      </p:sp>
      <p:sp>
        <p:nvSpPr>
          <p:cNvPr id="59" name="Rectangle 58"/>
          <p:cNvSpPr/>
          <p:nvPr/>
        </p:nvSpPr>
        <p:spPr>
          <a:xfrm>
            <a:off x="9089136" y="2194560"/>
            <a:ext cx="1133856" cy="713232"/>
          </a:xfrm>
          <a:prstGeom prst="rect">
            <a:avLst/>
          </a:prstGeom>
          <a:solidFill>
            <a:srgbClr val="121417"/>
          </a:solidFill>
          <a:ln w="1016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089136" y="2304288"/>
            <a:ext cx="1133856" cy="292608"/>
          </a:xfrm>
          <a:prstGeom prst="rect">
            <a:avLst/>
          </a:prstGeom>
          <a:noFill/>
        </p:spPr>
        <p:txBody>
          <a:bodyPr wrap="square" lIns="0" rIns="0" tIns="0" bIns="0" anchor="t">
            <a:spAutoFit/>
          </a:bodyPr>
          <a:lstStyle/>
          <a:p>
            <a:pPr algn="ctr">
              <a:lnSpc>
                <a:spcPct val="128000"/>
              </a:lnSpc>
              <a:spcAft>
                <a:spcPts val="0"/>
              </a:spcAft>
            </a:pPr>
            <a:r>
              <a:rPr sz="1700" b="0">
                <a:solidFill>
                  <a:srgbClr val="5B8F6E"/>
                </a:solidFill>
                <a:latin typeface="Consolas"/>
              </a:rPr>
              <a:t>89.3%</a:t>
            </a:r>
          </a:p>
        </p:txBody>
      </p:sp>
      <p:sp>
        <p:nvSpPr>
          <p:cNvPr id="61" name="TextBox 60"/>
          <p:cNvSpPr txBox="1"/>
          <p:nvPr/>
        </p:nvSpPr>
        <p:spPr>
          <a:xfrm>
            <a:off x="9089136" y="2633472"/>
            <a:ext cx="1133856"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recall</a:t>
            </a:r>
          </a:p>
        </p:txBody>
      </p:sp>
      <p:sp>
        <p:nvSpPr>
          <p:cNvPr id="62" name="Rectangle 61"/>
          <p:cNvSpPr/>
          <p:nvPr/>
        </p:nvSpPr>
        <p:spPr>
          <a:xfrm>
            <a:off x="10296144" y="2194560"/>
            <a:ext cx="1133856" cy="713232"/>
          </a:xfrm>
          <a:prstGeom prst="rect">
            <a:avLst/>
          </a:prstGeom>
          <a:solidFill>
            <a:srgbClr val="121417"/>
          </a:solidFill>
          <a:ln w="10160">
            <a:solidFill>
              <a:srgbClr val="262A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10296144" y="2304288"/>
            <a:ext cx="1133856" cy="292608"/>
          </a:xfrm>
          <a:prstGeom prst="rect">
            <a:avLst/>
          </a:prstGeom>
          <a:noFill/>
        </p:spPr>
        <p:txBody>
          <a:bodyPr wrap="square" lIns="0" rIns="0" tIns="0" bIns="0" anchor="t">
            <a:spAutoFit/>
          </a:bodyPr>
          <a:lstStyle/>
          <a:p>
            <a:pPr algn="ctr">
              <a:lnSpc>
                <a:spcPct val="128000"/>
              </a:lnSpc>
              <a:spcAft>
                <a:spcPts val="0"/>
              </a:spcAft>
            </a:pPr>
            <a:r>
              <a:rPr sz="1700" b="0">
                <a:solidFill>
                  <a:srgbClr val="5B8F6E"/>
                </a:solidFill>
                <a:latin typeface="Consolas"/>
              </a:rPr>
              <a:t>91.8%</a:t>
            </a:r>
          </a:p>
        </p:txBody>
      </p:sp>
      <p:sp>
        <p:nvSpPr>
          <p:cNvPr id="64" name="TextBox 63"/>
          <p:cNvSpPr txBox="1"/>
          <p:nvPr/>
        </p:nvSpPr>
        <p:spPr>
          <a:xfrm>
            <a:off x="10296144" y="2633472"/>
            <a:ext cx="1133856" cy="219456"/>
          </a:xfrm>
          <a:prstGeom prst="rect">
            <a:avLst/>
          </a:prstGeom>
          <a:noFill/>
        </p:spPr>
        <p:txBody>
          <a:bodyPr wrap="square" lIns="0" rIns="0" tIns="0" bIns="0" anchor="t">
            <a:spAutoFit/>
          </a:bodyPr>
          <a:lstStyle/>
          <a:p>
            <a:pPr algn="ctr">
              <a:lnSpc>
                <a:spcPct val="128000"/>
              </a:lnSpc>
              <a:spcAft>
                <a:spcPts val="0"/>
              </a:spcAft>
            </a:pPr>
            <a:r>
              <a:rPr sz="800" b="0">
                <a:solidFill>
                  <a:srgbClr val="6E7079"/>
                </a:solidFill>
                <a:latin typeface="Consolas"/>
              </a:rPr>
              <a:t>F1</a:t>
            </a:r>
          </a:p>
        </p:txBody>
      </p:sp>
      <p:sp>
        <p:nvSpPr>
          <p:cNvPr id="65" name="TextBox 64"/>
          <p:cNvSpPr txBox="1"/>
          <p:nvPr/>
        </p:nvSpPr>
        <p:spPr>
          <a:xfrm>
            <a:off x="7882128" y="2999232"/>
            <a:ext cx="3657600" cy="402336"/>
          </a:xfrm>
          <a:prstGeom prst="rect">
            <a:avLst/>
          </a:prstGeom>
          <a:noFill/>
        </p:spPr>
        <p:txBody>
          <a:bodyPr wrap="square" lIns="0" rIns="0" tIns="0" bIns="0" anchor="t">
            <a:spAutoFit/>
          </a:bodyPr>
          <a:lstStyle/>
          <a:p>
            <a:pPr algn="l">
              <a:lnSpc>
                <a:spcPct val="130000"/>
              </a:lnSpc>
              <a:spcAft>
                <a:spcPts val="0"/>
              </a:spcAft>
            </a:pPr>
            <a:r>
              <a:rPr sz="850" b="0">
                <a:solidFill>
                  <a:srgbClr val="A8A498"/>
                </a:solidFill>
                <a:latin typeface="Consolas"/>
              </a:rPr>
              <a:t>TP 134 · FP 8 · FN 16 · TN 5,689 = 5,847 invoices.</a:t>
            </a:r>
            <a:br/>
            <a:r>
              <a:rPr sz="850" b="0">
                <a:solidFill>
                  <a:srgbClr val="A8A498"/>
                </a:solidFill>
                <a:latin typeface="Consolas"/>
              </a:rPr>
              <a:t>TP 134 + FN 16 = the 150 frauds we planted.</a:t>
            </a:r>
          </a:p>
        </p:txBody>
      </p:sp>
      <p:sp>
        <p:nvSpPr>
          <p:cNvPr id="66" name="Rectangle 65"/>
          <p:cNvSpPr/>
          <p:nvPr/>
        </p:nvSpPr>
        <p:spPr>
          <a:xfrm>
            <a:off x="7882128" y="3529584"/>
            <a:ext cx="3657600" cy="841248"/>
          </a:xfrm>
          <a:prstGeom prst="rect">
            <a:avLst/>
          </a:prstGeom>
          <a:noFill/>
          <a:ln w="12700">
            <a:solidFill>
              <a:srgbClr val="7A32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8028432" y="3639312"/>
            <a:ext cx="3383280" cy="237744"/>
          </a:xfrm>
          <a:prstGeom prst="rect">
            <a:avLst/>
          </a:prstGeom>
          <a:noFill/>
        </p:spPr>
        <p:txBody>
          <a:bodyPr wrap="square" lIns="0" rIns="0" tIns="0" bIns="0" anchor="t">
            <a:spAutoFit/>
          </a:bodyPr>
          <a:lstStyle/>
          <a:p>
            <a:pPr algn="l">
              <a:lnSpc>
                <a:spcPct val="128000"/>
              </a:lnSpc>
              <a:spcAft>
                <a:spcPts val="0"/>
              </a:spcAft>
            </a:pPr>
            <a:r>
              <a:rPr sz="950" b="0">
                <a:solidFill>
                  <a:srgbClr val="C4503A"/>
                </a:solidFill>
                <a:latin typeface="Segoe UI"/>
              </a:rPr>
              <a:t>Where we are weakest</a:t>
            </a:r>
          </a:p>
        </p:txBody>
      </p:sp>
      <p:sp>
        <p:nvSpPr>
          <p:cNvPr id="68" name="TextBox 67"/>
          <p:cNvSpPr txBox="1"/>
          <p:nvPr/>
        </p:nvSpPr>
        <p:spPr>
          <a:xfrm>
            <a:off x="8028432" y="3877056"/>
            <a:ext cx="3383280" cy="566928"/>
          </a:xfrm>
          <a:prstGeom prst="rect">
            <a:avLst/>
          </a:prstGeom>
          <a:noFill/>
        </p:spPr>
        <p:txBody>
          <a:bodyPr wrap="square" lIns="0" rIns="0" tIns="0" bIns="0" anchor="t">
            <a:spAutoFit/>
          </a:bodyPr>
          <a:lstStyle/>
          <a:p>
            <a:pPr algn="l">
              <a:lnSpc>
                <a:spcPct val="130000"/>
              </a:lnSpc>
              <a:spcAft>
                <a:spcPts val="0"/>
              </a:spcAft>
            </a:pPr>
            <a:r>
              <a:rPr sz="850" b="0">
                <a:solidFill>
                  <a:srgbClr val="A8A498"/>
                </a:solidFill>
                <a:latin typeface="Segoe UI"/>
              </a:rPr>
              <a:t>Price-creep recall is 74%. Drifts under 2% a quarter fall below the detection floor on an 18-month window. We would rather miss it than report it.</a:t>
            </a:r>
          </a:p>
        </p:txBody>
      </p:sp>
      <p:sp>
        <p:nvSpPr>
          <p:cNvPr id="69" name="TextBox 68"/>
          <p:cNvSpPr txBox="1"/>
          <p:nvPr/>
        </p:nvSpPr>
        <p:spPr>
          <a:xfrm>
            <a:off x="7882128" y="4462272"/>
            <a:ext cx="3657600" cy="237744"/>
          </a:xfrm>
          <a:prstGeom prst="rect">
            <a:avLst/>
          </a:prstGeom>
          <a:noFill/>
        </p:spPr>
        <p:txBody>
          <a:bodyPr wrap="square" lIns="0" rIns="0" tIns="0" bIns="0" anchor="t">
            <a:spAutoFit/>
          </a:bodyPr>
          <a:lstStyle/>
          <a:p>
            <a:pPr algn="l">
              <a:lnSpc>
                <a:spcPct val="128000"/>
              </a:lnSpc>
              <a:spcAft>
                <a:spcPts val="0"/>
              </a:spcAft>
            </a:pPr>
            <a:r>
              <a:rPr sz="850" b="0">
                <a:solidFill>
                  <a:srgbClr val="C9A227"/>
                </a:solidFill>
                <a:latin typeface="Consolas"/>
              </a:rPr>
              <a:t>F U T U R E   S C O P E</a:t>
            </a:r>
          </a:p>
        </p:txBody>
      </p:sp>
      <p:sp>
        <p:nvSpPr>
          <p:cNvPr id="70" name="TextBox 69"/>
          <p:cNvSpPr txBox="1"/>
          <p:nvPr/>
        </p:nvSpPr>
        <p:spPr>
          <a:xfrm>
            <a:off x="7882128" y="4736592"/>
            <a:ext cx="822960" cy="201168"/>
          </a:xfrm>
          <a:prstGeom prst="rect">
            <a:avLst/>
          </a:prstGeom>
          <a:noFill/>
        </p:spPr>
        <p:txBody>
          <a:bodyPr wrap="square" lIns="0" rIns="0" tIns="0" bIns="0" anchor="t">
            <a:spAutoFit/>
          </a:bodyPr>
          <a:lstStyle/>
          <a:p>
            <a:pPr algn="l">
              <a:lnSpc>
                <a:spcPct val="128000"/>
              </a:lnSpc>
              <a:spcAft>
                <a:spcPts val="0"/>
              </a:spcAft>
            </a:pPr>
            <a:r>
              <a:rPr sz="850" b="0">
                <a:solidFill>
                  <a:srgbClr val="C9A227"/>
                </a:solidFill>
                <a:latin typeface="Consolas"/>
              </a:rPr>
              <a:t>Tonight</a:t>
            </a:r>
          </a:p>
        </p:txBody>
      </p:sp>
      <p:sp>
        <p:nvSpPr>
          <p:cNvPr id="71" name="TextBox 70"/>
          <p:cNvSpPr txBox="1"/>
          <p:nvPr/>
        </p:nvSpPr>
        <p:spPr>
          <a:xfrm>
            <a:off x="8723376" y="4736592"/>
            <a:ext cx="2816352"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backend live on the real pipeline — the detectors already run headless</a:t>
            </a:r>
          </a:p>
        </p:txBody>
      </p:sp>
      <p:sp>
        <p:nvSpPr>
          <p:cNvPr id="72" name="TextBox 71"/>
          <p:cNvSpPr txBox="1"/>
          <p:nvPr/>
        </p:nvSpPr>
        <p:spPr>
          <a:xfrm>
            <a:off x="7882128" y="5193792"/>
            <a:ext cx="822960" cy="201168"/>
          </a:xfrm>
          <a:prstGeom prst="rect">
            <a:avLst/>
          </a:prstGeom>
          <a:noFill/>
        </p:spPr>
        <p:txBody>
          <a:bodyPr wrap="square" lIns="0" rIns="0" tIns="0" bIns="0" anchor="t">
            <a:spAutoFit/>
          </a:bodyPr>
          <a:lstStyle/>
          <a:p>
            <a:pPr algn="l">
              <a:lnSpc>
                <a:spcPct val="128000"/>
              </a:lnSpc>
              <a:spcAft>
                <a:spcPts val="0"/>
              </a:spcAft>
            </a:pPr>
            <a:r>
              <a:rPr sz="850" b="0">
                <a:solidFill>
                  <a:srgbClr val="C9A227"/>
                </a:solidFill>
                <a:latin typeface="Consolas"/>
              </a:rPr>
              <a:t>This week</a:t>
            </a:r>
          </a:p>
        </p:txBody>
      </p:sp>
      <p:sp>
        <p:nvSpPr>
          <p:cNvPr id="73" name="TextBox 72"/>
          <p:cNvSpPr txBox="1"/>
          <p:nvPr/>
        </p:nvSpPr>
        <p:spPr>
          <a:xfrm>
            <a:off x="8723376" y="5193792"/>
            <a:ext cx="2816352"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OCR ingestion; the feedback loop that reweights a detector from analyst labels</a:t>
            </a:r>
          </a:p>
        </p:txBody>
      </p:sp>
      <p:sp>
        <p:nvSpPr>
          <p:cNvPr id="74" name="TextBox 73"/>
          <p:cNvSpPr txBox="1"/>
          <p:nvPr/>
        </p:nvSpPr>
        <p:spPr>
          <a:xfrm>
            <a:off x="7882128" y="5650992"/>
            <a:ext cx="822960" cy="201168"/>
          </a:xfrm>
          <a:prstGeom prst="rect">
            <a:avLst/>
          </a:prstGeom>
          <a:noFill/>
        </p:spPr>
        <p:txBody>
          <a:bodyPr wrap="square" lIns="0" rIns="0" tIns="0" bIns="0" anchor="t">
            <a:spAutoFit/>
          </a:bodyPr>
          <a:lstStyle/>
          <a:p>
            <a:pPr algn="l">
              <a:lnSpc>
                <a:spcPct val="128000"/>
              </a:lnSpc>
              <a:spcAft>
                <a:spcPts val="0"/>
              </a:spcAft>
            </a:pPr>
            <a:r>
              <a:rPr sz="850" b="0">
                <a:solidFill>
                  <a:srgbClr val="C9A227"/>
                </a:solidFill>
                <a:latin typeface="Consolas"/>
              </a:rPr>
              <a:t>Production</a:t>
            </a:r>
          </a:p>
        </p:txBody>
      </p:sp>
      <p:sp>
        <p:nvSpPr>
          <p:cNvPr id="75" name="TextBox 74"/>
          <p:cNvSpPr txBox="1"/>
          <p:nvPr/>
        </p:nvSpPr>
        <p:spPr>
          <a:xfrm>
            <a:off x="8723376" y="5650992"/>
            <a:ext cx="2816352"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ERP connectors for Tally, SAP and Zoho · role-based access · tamper-evident, hash-chained audit log</a:t>
            </a:r>
          </a:p>
        </p:txBody>
      </p:sp>
      <p:sp>
        <p:nvSpPr>
          <p:cNvPr id="76" name="TextBox 75"/>
          <p:cNvSpPr txBox="1"/>
          <p:nvPr/>
        </p:nvSpPr>
        <p:spPr>
          <a:xfrm>
            <a:off x="7882128" y="6108192"/>
            <a:ext cx="822960" cy="201168"/>
          </a:xfrm>
          <a:prstGeom prst="rect">
            <a:avLst/>
          </a:prstGeom>
          <a:noFill/>
        </p:spPr>
        <p:txBody>
          <a:bodyPr wrap="square" lIns="0" rIns="0" tIns="0" bIns="0" anchor="t">
            <a:spAutoFit/>
          </a:bodyPr>
          <a:lstStyle/>
          <a:p>
            <a:pPr algn="l">
              <a:lnSpc>
                <a:spcPct val="128000"/>
              </a:lnSpc>
              <a:spcAft>
                <a:spcPts val="0"/>
              </a:spcAft>
            </a:pPr>
            <a:r>
              <a:rPr sz="850" b="0">
                <a:solidFill>
                  <a:srgbClr val="C9A227"/>
                </a:solidFill>
                <a:latin typeface="Consolas"/>
              </a:rPr>
              <a:t>At scale</a:t>
            </a:r>
          </a:p>
        </p:txBody>
      </p:sp>
      <p:sp>
        <p:nvSpPr>
          <p:cNvPr id="77" name="TextBox 76"/>
          <p:cNvSpPr txBox="1"/>
          <p:nvPr/>
        </p:nvSpPr>
        <p:spPr>
          <a:xfrm>
            <a:off x="8723376" y="6108192"/>
            <a:ext cx="2816352" cy="420624"/>
          </a:xfrm>
          <a:prstGeom prst="rect">
            <a:avLst/>
          </a:prstGeom>
          <a:noFill/>
        </p:spPr>
        <p:txBody>
          <a:bodyPr wrap="square" lIns="0" rIns="0" tIns="0" bIns="0" anchor="t">
            <a:spAutoFit/>
          </a:bodyPr>
          <a:lstStyle/>
          <a:p>
            <a:pPr algn="l">
              <a:lnSpc>
                <a:spcPct val="126000"/>
              </a:lnSpc>
              <a:spcAft>
                <a:spcPts val="0"/>
              </a:spcAft>
            </a:pPr>
            <a:r>
              <a:rPr sz="850" b="0">
                <a:solidFill>
                  <a:srgbClr val="A8A498"/>
                </a:solidFill>
                <a:latin typeface="Segoe UI"/>
              </a:rPr>
              <a:t>0.43% of spend on this corpus. On a ₹500 Cr book, the same rate is ₹2.15 Cr a 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title.jp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658368" y="1371600"/>
            <a:ext cx="4572000" cy="274320"/>
          </a:xfrm>
          <a:prstGeom prst="rect">
            <a:avLst/>
          </a:prstGeom>
          <a:noFill/>
        </p:spPr>
        <p:txBody>
          <a:bodyPr wrap="square" lIns="0" rIns="0" tIns="0" bIns="0" anchor="t">
            <a:spAutoFit/>
          </a:bodyPr>
          <a:lstStyle/>
          <a:p>
            <a:pPr algn="l">
              <a:lnSpc>
                <a:spcPct val="128000"/>
              </a:lnSpc>
              <a:spcAft>
                <a:spcPts val="0"/>
              </a:spcAft>
            </a:pPr>
            <a:r>
              <a:rPr sz="1100" b="0">
                <a:solidFill>
                  <a:srgbClr val="C9A227"/>
                </a:solidFill>
                <a:latin typeface="Consolas"/>
              </a:rPr>
              <a:t>L E D G E R L E N S</a:t>
            </a:r>
          </a:p>
        </p:txBody>
      </p:sp>
      <p:sp>
        <p:nvSpPr>
          <p:cNvPr id="5" name="TextBox 4"/>
          <p:cNvSpPr txBox="1"/>
          <p:nvPr/>
        </p:nvSpPr>
        <p:spPr>
          <a:xfrm>
            <a:off x="658368" y="1965960"/>
            <a:ext cx="9692640" cy="1737360"/>
          </a:xfrm>
          <a:prstGeom prst="rect">
            <a:avLst/>
          </a:prstGeom>
          <a:noFill/>
        </p:spPr>
        <p:txBody>
          <a:bodyPr wrap="square" lIns="0" rIns="0" tIns="0" bIns="0" anchor="t">
            <a:spAutoFit/>
          </a:bodyPr>
          <a:lstStyle/>
          <a:p>
            <a:pPr algn="l">
              <a:lnSpc>
                <a:spcPct val="106000"/>
              </a:lnSpc>
              <a:spcAft>
                <a:spcPts val="0"/>
              </a:spcAft>
            </a:pPr>
            <a:r>
              <a:rPr sz="4000" b="0">
                <a:solidFill>
                  <a:srgbClr val="E9E5DC"/>
                </a:solidFill>
                <a:latin typeface="Georgia"/>
              </a:rPr>
              <a:t>Humans review invoices one at a time.</a:t>
            </a:r>
            <a:br/>
            <a:r>
              <a:rPr sz="4000" b="0">
                <a:solidFill>
                  <a:srgbClr val="E9E5DC"/>
                </a:solidFill>
                <a:latin typeface="Georgia"/>
              </a:rPr>
              <a:t>The problems only exist across thousands at once.</a:t>
            </a:r>
          </a:p>
        </p:txBody>
      </p:sp>
      <p:cxnSp>
        <p:nvCxnSpPr>
          <p:cNvPr id="6" name="Connector 5"/>
          <p:cNvCxnSpPr/>
          <p:nvPr/>
        </p:nvCxnSpPr>
        <p:spPr>
          <a:xfrm>
            <a:off x="658368" y="4114800"/>
            <a:ext cx="10874959" cy="0"/>
          </a:xfrm>
          <a:prstGeom prst="line">
            <a:avLst/>
          </a:prstGeom>
          <a:ln w="11430">
            <a:solidFill>
              <a:srgbClr val="262A31"/>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4370832"/>
            <a:ext cx="2651760" cy="365760"/>
          </a:xfrm>
          <a:prstGeom prst="rect">
            <a:avLst/>
          </a:prstGeom>
          <a:noFill/>
        </p:spPr>
        <p:txBody>
          <a:bodyPr wrap="square" lIns="0" rIns="0" tIns="0" bIns="0" anchor="t">
            <a:spAutoFit/>
          </a:bodyPr>
          <a:lstStyle/>
          <a:p>
            <a:pPr algn="l">
              <a:lnSpc>
                <a:spcPct val="128000"/>
              </a:lnSpc>
              <a:spcAft>
                <a:spcPts val="0"/>
              </a:spcAft>
            </a:pPr>
            <a:r>
              <a:rPr sz="2000" b="0">
                <a:solidFill>
                  <a:srgbClr val="C9A227"/>
                </a:solidFill>
                <a:latin typeface="Consolas"/>
              </a:rPr>
              <a:t>₹18,42,650</a:t>
            </a:r>
          </a:p>
        </p:txBody>
      </p:sp>
      <p:sp>
        <p:nvSpPr>
          <p:cNvPr id="8" name="TextBox 7"/>
          <p:cNvSpPr txBox="1"/>
          <p:nvPr/>
        </p:nvSpPr>
        <p:spPr>
          <a:xfrm>
            <a:off x="658368" y="4754880"/>
            <a:ext cx="2651760" cy="274320"/>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Segoe UI"/>
              </a:rPr>
              <a:t>recoverable, identified</a:t>
            </a:r>
          </a:p>
        </p:txBody>
      </p:sp>
      <p:sp>
        <p:nvSpPr>
          <p:cNvPr id="9" name="TextBox 8"/>
          <p:cNvSpPr txBox="1"/>
          <p:nvPr/>
        </p:nvSpPr>
        <p:spPr>
          <a:xfrm>
            <a:off x="3383280" y="4370832"/>
            <a:ext cx="2651760" cy="365760"/>
          </a:xfrm>
          <a:prstGeom prst="rect">
            <a:avLst/>
          </a:prstGeom>
          <a:noFill/>
        </p:spPr>
        <p:txBody>
          <a:bodyPr wrap="square" lIns="0" rIns="0" tIns="0" bIns="0" anchor="t">
            <a:spAutoFit/>
          </a:bodyPr>
          <a:lstStyle/>
          <a:p>
            <a:pPr algn="l">
              <a:lnSpc>
                <a:spcPct val="128000"/>
              </a:lnSpc>
              <a:spcAft>
                <a:spcPts val="0"/>
              </a:spcAft>
            </a:pPr>
            <a:r>
              <a:rPr sz="2000" b="0">
                <a:solidFill>
                  <a:srgbClr val="5B8F6E"/>
                </a:solidFill>
                <a:latin typeface="Consolas"/>
              </a:rPr>
              <a:t>94.4% / 89.3%</a:t>
            </a:r>
          </a:p>
        </p:txBody>
      </p:sp>
      <p:sp>
        <p:nvSpPr>
          <p:cNvPr id="10" name="TextBox 9"/>
          <p:cNvSpPr txBox="1"/>
          <p:nvPr/>
        </p:nvSpPr>
        <p:spPr>
          <a:xfrm>
            <a:off x="3383280" y="4754880"/>
            <a:ext cx="2651760" cy="274320"/>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Segoe UI"/>
              </a:rPr>
              <a:t>precision / recall, measured</a:t>
            </a:r>
          </a:p>
        </p:txBody>
      </p:sp>
      <p:sp>
        <p:nvSpPr>
          <p:cNvPr id="11" name="TextBox 10"/>
          <p:cNvSpPr txBox="1"/>
          <p:nvPr/>
        </p:nvSpPr>
        <p:spPr>
          <a:xfrm>
            <a:off x="6108192" y="4370832"/>
            <a:ext cx="2651760" cy="365760"/>
          </a:xfrm>
          <a:prstGeom prst="rect">
            <a:avLst/>
          </a:prstGeom>
          <a:noFill/>
        </p:spPr>
        <p:txBody>
          <a:bodyPr wrap="square" lIns="0" rIns="0" tIns="0" bIns="0" anchor="t">
            <a:spAutoFit/>
          </a:bodyPr>
          <a:lstStyle/>
          <a:p>
            <a:pPr algn="l">
              <a:lnSpc>
                <a:spcPct val="128000"/>
              </a:lnSpc>
              <a:spcAft>
                <a:spcPts val="0"/>
              </a:spcAft>
            </a:pPr>
            <a:r>
              <a:rPr sz="2000" b="0">
                <a:solidFill>
                  <a:srgbClr val="E9E5DC"/>
                </a:solidFill>
                <a:latin typeface="Consolas"/>
              </a:rPr>
              <a:t>42</a:t>
            </a:r>
          </a:p>
        </p:txBody>
      </p:sp>
      <p:sp>
        <p:nvSpPr>
          <p:cNvPr id="12" name="TextBox 11"/>
          <p:cNvSpPr txBox="1"/>
          <p:nvPr/>
        </p:nvSpPr>
        <p:spPr>
          <a:xfrm>
            <a:off x="6108192" y="4754880"/>
            <a:ext cx="2651760" cy="274320"/>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Segoe UI"/>
              </a:rPr>
              <a:t>detectors, 5 pillars</a:t>
            </a:r>
          </a:p>
        </p:txBody>
      </p:sp>
      <p:sp>
        <p:nvSpPr>
          <p:cNvPr id="13" name="TextBox 12"/>
          <p:cNvSpPr txBox="1"/>
          <p:nvPr/>
        </p:nvSpPr>
        <p:spPr>
          <a:xfrm>
            <a:off x="8833104" y="4370832"/>
            <a:ext cx="2651760" cy="365760"/>
          </a:xfrm>
          <a:prstGeom prst="rect">
            <a:avLst/>
          </a:prstGeom>
          <a:noFill/>
        </p:spPr>
        <p:txBody>
          <a:bodyPr wrap="square" lIns="0" rIns="0" tIns="0" bIns="0" anchor="t">
            <a:spAutoFit/>
          </a:bodyPr>
          <a:lstStyle/>
          <a:p>
            <a:pPr algn="l">
              <a:lnSpc>
                <a:spcPct val="128000"/>
              </a:lnSpc>
              <a:spcAft>
                <a:spcPts val="0"/>
              </a:spcAft>
            </a:pPr>
            <a:r>
              <a:rPr sz="2000" b="0">
                <a:solidFill>
                  <a:srgbClr val="C4503A"/>
                </a:solidFill>
                <a:latin typeface="Consolas"/>
              </a:rPr>
              <a:t>0</a:t>
            </a:r>
          </a:p>
        </p:txBody>
      </p:sp>
      <p:sp>
        <p:nvSpPr>
          <p:cNvPr id="14" name="TextBox 13"/>
          <p:cNvSpPr txBox="1"/>
          <p:nvPr/>
        </p:nvSpPr>
        <p:spPr>
          <a:xfrm>
            <a:off x="8833104" y="4754880"/>
            <a:ext cx="2651760" cy="274320"/>
          </a:xfrm>
          <a:prstGeom prst="rect">
            <a:avLst/>
          </a:prstGeom>
          <a:noFill/>
        </p:spPr>
        <p:txBody>
          <a:bodyPr wrap="square" lIns="0" rIns="0" tIns="0" bIns="0" anchor="t">
            <a:spAutoFit/>
          </a:bodyPr>
          <a:lstStyle/>
          <a:p>
            <a:pPr algn="l">
              <a:lnSpc>
                <a:spcPct val="128000"/>
              </a:lnSpc>
              <a:spcAft>
                <a:spcPts val="0"/>
              </a:spcAft>
            </a:pPr>
            <a:r>
              <a:rPr sz="900" b="0">
                <a:solidFill>
                  <a:srgbClr val="6E7079"/>
                </a:solidFill>
                <a:latin typeface="Segoe UI"/>
              </a:rPr>
              <a:t>numbers written by a language model</a:t>
            </a:r>
          </a:p>
        </p:txBody>
      </p:sp>
      <p:sp>
        <p:nvSpPr>
          <p:cNvPr id="15" name="TextBox 14"/>
          <p:cNvSpPr txBox="1"/>
          <p:nvPr/>
        </p:nvSpPr>
        <p:spPr>
          <a:xfrm>
            <a:off x="658368" y="5532120"/>
            <a:ext cx="9144000" cy="274320"/>
          </a:xfrm>
          <a:prstGeom prst="rect">
            <a:avLst/>
          </a:prstGeom>
          <a:noFill/>
        </p:spPr>
        <p:txBody>
          <a:bodyPr wrap="square" lIns="0" rIns="0" tIns="0" bIns="0" anchor="t">
            <a:spAutoFit/>
          </a:bodyPr>
          <a:lstStyle/>
          <a:p>
            <a:pPr algn="l">
              <a:lnSpc>
                <a:spcPct val="128000"/>
              </a:lnSpc>
              <a:spcAft>
                <a:spcPts val="0"/>
              </a:spcAft>
            </a:pPr>
            <a:r>
              <a:rPr sz="1100" b="0">
                <a:solidFill>
                  <a:srgbClr val="A8A498"/>
                </a:solidFill>
                <a:latin typeface="Segoe UI"/>
              </a:rPr>
              <a:t>Live prototype runs offline in the browser — no backend, no network, nothing to fail on stage.</a:t>
            </a:r>
          </a:p>
        </p:txBody>
      </p:sp>
      <p:sp>
        <p:nvSpPr>
          <p:cNvPr id="16" name="TextBox 15"/>
          <p:cNvSpPr txBox="1"/>
          <p:nvPr/>
        </p:nvSpPr>
        <p:spPr>
          <a:xfrm>
            <a:off x="658368" y="5943600"/>
            <a:ext cx="9144000" cy="256032"/>
          </a:xfrm>
          <a:prstGeom prst="rect">
            <a:avLst/>
          </a:prstGeom>
          <a:noFill/>
        </p:spPr>
        <p:txBody>
          <a:bodyPr wrap="square" lIns="0" rIns="0" tIns="0" bIns="0" anchor="t">
            <a:spAutoFit/>
          </a:bodyPr>
          <a:lstStyle/>
          <a:p>
            <a:pPr algn="l">
              <a:lnSpc>
                <a:spcPct val="128000"/>
              </a:lnSpc>
              <a:spcAft>
                <a:spcPts val="0"/>
              </a:spcAft>
            </a:pPr>
            <a:r>
              <a:rPr sz="850" b="0">
                <a:solidFill>
                  <a:srgbClr val="6E7079"/>
                </a:solidFill>
                <a:latin typeface="Consolas"/>
              </a:rPr>
              <a:t>Demo dataset — synthetic, generated for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