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841248"/>
            <a:ext cx="54864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316736"/>
            <a:ext cx="8595360" cy="1371600"/>
          </a:xfrm>
          <a:prstGeom prst="rect">
            <a:avLst/>
          </a:prstGeom>
          <a:noFill/>
        </p:spPr>
        <p:txBody>
          <a:bodyPr wrap="square" lIns="0" rIns="0" tIns="0" bIns="0" anchor="t">
            <a:spAutoFit/>
          </a:bodyPr>
          <a:lstStyle/>
          <a:p>
            <a:pPr algn="l">
              <a:lnSpc>
                <a:spcPct val="98000"/>
              </a:lnSpc>
              <a:spcAft>
                <a:spcPts val="0"/>
              </a:spcAft>
            </a:pPr>
            <a:r>
              <a:rPr sz="5200" b="0">
                <a:solidFill>
                  <a:srgbClr val="E9E5DC"/>
                </a:solidFill>
                <a:latin typeface="Georgia"/>
              </a:rPr>
              <a:t>An X-ray machine for</a:t>
            </a:r>
            <a:br/>
            <a:r>
              <a:rPr sz="5200" b="0">
                <a:solidFill>
                  <a:srgbClr val="E9E5DC"/>
                </a:solidFill>
                <a:latin typeface="Georgia"/>
              </a:rPr>
              <a:t>how a company spends.</a:t>
            </a:r>
          </a:p>
        </p:txBody>
      </p:sp>
      <p:sp>
        <p:nvSpPr>
          <p:cNvPr id="6" name="TextBox 5"/>
          <p:cNvSpPr txBox="1"/>
          <p:nvPr/>
        </p:nvSpPr>
        <p:spPr>
          <a:xfrm>
            <a:off x="658368" y="2798064"/>
            <a:ext cx="6766560" cy="566928"/>
          </a:xfrm>
          <a:prstGeom prst="rect">
            <a:avLst/>
          </a:prstGeom>
          <a:noFill/>
        </p:spPr>
        <p:txBody>
          <a:bodyPr wrap="square" lIns="0" rIns="0" tIns="0" bIns="0" anchor="t">
            <a:spAutoFit/>
          </a:bodyPr>
          <a:lstStyle/>
          <a:p>
            <a:pPr algn="l">
              <a:lnSpc>
                <a:spcPct val="142000"/>
              </a:lnSpc>
              <a:spcAft>
                <a:spcPts val="0"/>
              </a:spcAft>
            </a:pPr>
            <a:r>
              <a:rPr sz="1450" b="0">
                <a:solidFill>
                  <a:srgbClr val="A8A498"/>
                </a:solidFill>
                <a:latin typeface="Segoe UI"/>
              </a:rPr>
              <a:t>We read every invoice, purchase order and vendor record together — and show you exactly where the money is leaking.</a:t>
            </a:r>
          </a:p>
        </p:txBody>
      </p:sp>
      <p:cxnSp>
        <p:nvCxnSpPr>
          <p:cNvPr id="7" name="Connector 6"/>
          <p:cNvCxnSpPr/>
          <p:nvPr/>
        </p:nvCxnSpPr>
        <p:spPr>
          <a:xfrm>
            <a:off x="658368" y="3694176"/>
            <a:ext cx="0" cy="1188720"/>
          </a:xfrm>
          <a:prstGeom prst="line">
            <a:avLst/>
          </a:prstGeom>
          <a:ln w="2032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96112" y="3639312"/>
            <a:ext cx="5852160" cy="822960"/>
          </a:xfrm>
          <a:prstGeom prst="rect">
            <a:avLst/>
          </a:prstGeom>
          <a:noFill/>
        </p:spPr>
        <p:txBody>
          <a:bodyPr wrap="square" lIns="0" rIns="0" tIns="0" bIns="0" anchor="t">
            <a:spAutoFit/>
          </a:bodyPr>
          <a:lstStyle/>
          <a:p>
            <a:pPr algn="l">
              <a:lnSpc>
                <a:spcPct val="95000"/>
              </a:lnSpc>
              <a:spcAft>
                <a:spcPts val="0"/>
              </a:spcAft>
            </a:pPr>
            <a:r>
              <a:rPr sz="5400" b="0">
                <a:solidFill>
                  <a:srgbClr val="C9A227"/>
                </a:solidFill>
                <a:latin typeface="Georgia"/>
              </a:rPr>
              <a:t>₹18,42,650</a:t>
            </a:r>
          </a:p>
        </p:txBody>
      </p:sp>
      <p:sp>
        <p:nvSpPr>
          <p:cNvPr id="9" name="TextBox 8"/>
          <p:cNvSpPr txBox="1"/>
          <p:nvPr/>
        </p:nvSpPr>
        <p:spPr>
          <a:xfrm>
            <a:off x="932688" y="4535424"/>
            <a:ext cx="6400800" cy="457200"/>
          </a:xfrm>
          <a:prstGeom prst="rect">
            <a:avLst/>
          </a:prstGeom>
          <a:noFill/>
        </p:spPr>
        <p:txBody>
          <a:bodyPr wrap="square" lIns="0" rIns="0" tIns="0" bIns="0" anchor="t">
            <a:spAutoFit/>
          </a:bodyPr>
          <a:lstStyle/>
          <a:p>
            <a:pPr algn="l">
              <a:lnSpc>
                <a:spcPct val="128000"/>
              </a:lnSpc>
              <a:spcAft>
                <a:spcPts val="0"/>
              </a:spcAft>
            </a:pPr>
            <a:r>
              <a:rPr sz="1200" b="0">
                <a:solidFill>
                  <a:srgbClr val="A8A498"/>
                </a:solidFill>
                <a:latin typeface="Segoe UI"/>
              </a:rPr>
              <a:t>recoverable, identified across </a:t>
            </a:r>
            <a:r>
              <a:rPr sz="1200" b="0">
                <a:solidFill>
                  <a:srgbClr val="E9E5DC"/>
                </a:solidFill>
                <a:latin typeface="Segoe UI"/>
              </a:rPr>
              <a:t>₹42.6 Cr</a:t>
            </a:r>
            <a:r>
              <a:rPr sz="1200" b="0">
                <a:solidFill>
                  <a:srgbClr val="A8A498"/>
                </a:solidFill>
                <a:latin typeface="Segoe UI"/>
              </a:rPr>
              <a:t> of analysed spend</a:t>
            </a:r>
          </a:p>
        </p:txBody>
      </p:sp>
      <p:cxnSp>
        <p:nvCxnSpPr>
          <p:cNvPr id="10" name="Connector 9"/>
          <p:cNvCxnSpPr/>
          <p:nvPr/>
        </p:nvCxnSpPr>
        <p:spPr>
          <a:xfrm>
            <a:off x="7891272" y="1316736"/>
            <a:ext cx="0" cy="356616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75320" y="131673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5,847</a:t>
            </a:r>
          </a:p>
        </p:txBody>
      </p:sp>
      <p:sp>
        <p:nvSpPr>
          <p:cNvPr id="12" name="TextBox 11"/>
          <p:cNvSpPr txBox="1"/>
          <p:nvPr/>
        </p:nvSpPr>
        <p:spPr>
          <a:xfrm>
            <a:off x="8275320" y="160020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invoices analysed</a:t>
            </a:r>
          </a:p>
        </p:txBody>
      </p:sp>
      <p:sp>
        <p:nvSpPr>
          <p:cNvPr id="13" name="TextBox 12"/>
          <p:cNvSpPr txBox="1"/>
          <p:nvPr/>
        </p:nvSpPr>
        <p:spPr>
          <a:xfrm>
            <a:off x="8275320" y="1920240"/>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1,203</a:t>
            </a:r>
          </a:p>
        </p:txBody>
      </p:sp>
      <p:sp>
        <p:nvSpPr>
          <p:cNvPr id="14" name="TextBox 13"/>
          <p:cNvSpPr txBox="1"/>
          <p:nvPr/>
        </p:nvSpPr>
        <p:spPr>
          <a:xfrm>
            <a:off x="8275320" y="2203704"/>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purchase orders</a:t>
            </a:r>
          </a:p>
        </p:txBody>
      </p:sp>
      <p:sp>
        <p:nvSpPr>
          <p:cNvPr id="15" name="TextBox 14"/>
          <p:cNvSpPr txBox="1"/>
          <p:nvPr/>
        </p:nvSpPr>
        <p:spPr>
          <a:xfrm>
            <a:off x="8275320" y="2523744"/>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118</a:t>
            </a:r>
          </a:p>
        </p:txBody>
      </p:sp>
      <p:sp>
        <p:nvSpPr>
          <p:cNvPr id="16" name="TextBox 15"/>
          <p:cNvSpPr txBox="1"/>
          <p:nvPr/>
        </p:nvSpPr>
        <p:spPr>
          <a:xfrm>
            <a:off x="8275320" y="2807208"/>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vendors · 96 resolved entities</a:t>
            </a:r>
          </a:p>
        </p:txBody>
      </p:sp>
      <p:sp>
        <p:nvSpPr>
          <p:cNvPr id="17" name="TextBox 16"/>
          <p:cNvSpPr txBox="1"/>
          <p:nvPr/>
        </p:nvSpPr>
        <p:spPr>
          <a:xfrm>
            <a:off x="8275320" y="3127248"/>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42</a:t>
            </a:r>
          </a:p>
        </p:txBody>
      </p:sp>
      <p:sp>
        <p:nvSpPr>
          <p:cNvPr id="18" name="TextBox 17"/>
          <p:cNvSpPr txBox="1"/>
          <p:nvPr/>
        </p:nvSpPr>
        <p:spPr>
          <a:xfrm>
            <a:off x="8275320" y="3410712"/>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detectors across 5 pillars</a:t>
            </a:r>
          </a:p>
        </p:txBody>
      </p:sp>
      <p:sp>
        <p:nvSpPr>
          <p:cNvPr id="19" name="TextBox 18"/>
          <p:cNvSpPr txBox="1"/>
          <p:nvPr/>
        </p:nvSpPr>
        <p:spPr>
          <a:xfrm>
            <a:off x="8275320" y="3730752"/>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163</a:t>
            </a:r>
          </a:p>
        </p:txBody>
      </p:sp>
      <p:sp>
        <p:nvSpPr>
          <p:cNvPr id="20" name="TextBox 19"/>
          <p:cNvSpPr txBox="1"/>
          <p:nvPr/>
        </p:nvSpPr>
        <p:spPr>
          <a:xfrm>
            <a:off x="8275320" y="4014215"/>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findings, every one traceable</a:t>
            </a:r>
          </a:p>
        </p:txBody>
      </p:sp>
      <p:sp>
        <p:nvSpPr>
          <p:cNvPr id="21" name="TextBox 20"/>
          <p:cNvSpPr txBox="1"/>
          <p:nvPr/>
        </p:nvSpPr>
        <p:spPr>
          <a:xfrm>
            <a:off x="8275320" y="433425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90.2%</a:t>
            </a:r>
          </a:p>
        </p:txBody>
      </p:sp>
      <p:sp>
        <p:nvSpPr>
          <p:cNvPr id="22" name="TextBox 21"/>
          <p:cNvSpPr txBox="1"/>
          <p:nvPr/>
        </p:nvSpPr>
        <p:spPr>
          <a:xfrm>
            <a:off x="8275320" y="461772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precision on planted ground truth</a:t>
            </a:r>
          </a:p>
        </p:txBody>
      </p:sp>
      <p:cxnSp>
        <p:nvCxnSpPr>
          <p:cNvPr id="23" name="Connector 22"/>
          <p:cNvCxnSpPr/>
          <p:nvPr/>
        </p:nvCxnSpPr>
        <p:spPr>
          <a:xfrm>
            <a:off x="658368" y="5230368"/>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5394960"/>
            <a:ext cx="9692640" cy="365760"/>
          </a:xfrm>
          <a:prstGeom prst="rect">
            <a:avLst/>
          </a:prstGeom>
          <a:noFill/>
        </p:spPr>
        <p:txBody>
          <a:bodyPr wrap="square" lIns="0" rIns="0" tIns="0" bIns="0" anchor="t">
            <a:spAutoFit/>
          </a:bodyPr>
          <a:lstStyle/>
          <a:p>
            <a:pPr algn="l">
              <a:lnSpc>
                <a:spcPct val="128000"/>
              </a:lnSpc>
              <a:spcAft>
                <a:spcPts val="0"/>
              </a:spcAft>
            </a:pPr>
            <a:r>
              <a:rPr sz="1600" b="0">
                <a:solidFill>
                  <a:srgbClr val="C9A227"/>
                </a:solidFill>
                <a:latin typeface="Georgia"/>
              </a:rPr>
              <a:t>Humans review invoices one at a time. The problems only exist across thousands at once.</a:t>
            </a:r>
          </a:p>
        </p:txBody>
      </p:sp>
      <p:sp>
        <p:nvSpPr>
          <p:cNvPr id="25" name="TextBox 24"/>
          <p:cNvSpPr txBox="1"/>
          <p:nvPr/>
        </p:nvSpPr>
        <p:spPr>
          <a:xfrm>
            <a:off x="658368" y="5961888"/>
            <a:ext cx="8229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risk.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01</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B L E M   S T A T E M E N T</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Money leaks between documents, not inside them.</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01 / 07</a:t>
            </a:r>
          </a:p>
        </p:txBody>
      </p:sp>
      <p:cxnSp>
        <p:nvCxnSpPr>
          <p:cNvPr id="11" name="Connector 10"/>
          <p:cNvCxnSpPr/>
          <p:nvPr/>
        </p:nvCxnSpPr>
        <p:spPr>
          <a:xfrm>
            <a:off x="658368"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5%</a:t>
            </a:r>
          </a:p>
        </p:txBody>
      </p:sp>
      <p:sp>
        <p:nvSpPr>
          <p:cNvPr id="13" name="TextBox 12"/>
          <p:cNvSpPr txBox="1"/>
          <p:nvPr/>
        </p:nvSpPr>
        <p:spPr>
          <a:xfrm>
            <a:off x="658368"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annual revenue lost to</a:t>
            </a:r>
            <a:br/>
            <a:r>
              <a:rPr sz="1050" b="0">
                <a:solidFill>
                  <a:srgbClr val="A8A498"/>
                </a:solidFill>
                <a:latin typeface="Segoe UI"/>
              </a:rPr>
              <a:t>occupational fraud</a:t>
            </a:r>
          </a:p>
        </p:txBody>
      </p:sp>
      <p:sp>
        <p:nvSpPr>
          <p:cNvPr id="14" name="TextBox 13"/>
          <p:cNvSpPr txBox="1"/>
          <p:nvPr/>
        </p:nvSpPr>
        <p:spPr>
          <a:xfrm>
            <a:off x="658368"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 Report to the Nations 2026</a:t>
            </a:r>
          </a:p>
        </p:txBody>
      </p:sp>
      <p:cxnSp>
        <p:nvCxnSpPr>
          <p:cNvPr id="15" name="Connector 14"/>
          <p:cNvCxnSpPr/>
          <p:nvPr/>
        </p:nvCxnSpPr>
        <p:spPr>
          <a:xfrm>
            <a:off x="3383280"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83280"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0.8–2%</a:t>
            </a:r>
          </a:p>
        </p:txBody>
      </p:sp>
      <p:sp>
        <p:nvSpPr>
          <p:cNvPr id="17" name="TextBox 16"/>
          <p:cNvSpPr txBox="1"/>
          <p:nvPr/>
        </p:nvSpPr>
        <p:spPr>
          <a:xfrm>
            <a:off x="3383280"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total disbursements are</a:t>
            </a:r>
            <a:br/>
            <a:r>
              <a:rPr sz="1050" b="0">
                <a:solidFill>
                  <a:srgbClr val="A8A498"/>
                </a:solidFill>
                <a:latin typeface="Segoe UI"/>
              </a:rPr>
              <a:t>duplicate or erroneous payments</a:t>
            </a:r>
          </a:p>
        </p:txBody>
      </p:sp>
      <p:sp>
        <p:nvSpPr>
          <p:cNvPr id="18" name="TextBox 17"/>
          <p:cNvSpPr txBox="1"/>
          <p:nvPr/>
        </p:nvSpPr>
        <p:spPr>
          <a:xfrm>
            <a:off x="3383280"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APQC / IOFM benchmarks</a:t>
            </a:r>
          </a:p>
        </p:txBody>
      </p:sp>
      <p:cxnSp>
        <p:nvCxnSpPr>
          <p:cNvPr id="19" name="Connector 18"/>
          <p:cNvCxnSpPr/>
          <p:nvPr/>
        </p:nvCxnSpPr>
        <p:spPr>
          <a:xfrm>
            <a:off x="6108192"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08192"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12 months</a:t>
            </a:r>
          </a:p>
        </p:txBody>
      </p:sp>
      <p:sp>
        <p:nvSpPr>
          <p:cNvPr id="21" name="TextBox 20"/>
          <p:cNvSpPr txBox="1"/>
          <p:nvPr/>
        </p:nvSpPr>
        <p:spPr>
          <a:xfrm>
            <a:off x="6108192"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median time a scheme runs</a:t>
            </a:r>
            <a:br/>
            <a:r>
              <a:rPr sz="1050" b="0">
                <a:solidFill>
                  <a:srgbClr val="A8A498"/>
                </a:solidFill>
                <a:latin typeface="Segoe UI"/>
              </a:rPr>
              <a:t>before anyone notices</a:t>
            </a:r>
          </a:p>
        </p:txBody>
      </p:sp>
      <p:sp>
        <p:nvSpPr>
          <p:cNvPr id="22" name="TextBox 21"/>
          <p:cNvSpPr txBox="1"/>
          <p:nvPr/>
        </p:nvSpPr>
        <p:spPr>
          <a:xfrm>
            <a:off x="6108192"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cxnSp>
        <p:nvCxnSpPr>
          <p:cNvPr id="23" name="Connector 22"/>
          <p:cNvCxnSpPr/>
          <p:nvPr/>
        </p:nvCxnSpPr>
        <p:spPr>
          <a:xfrm>
            <a:off x="8833104"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33104"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43%</a:t>
            </a:r>
          </a:p>
        </p:txBody>
      </p:sp>
      <p:sp>
        <p:nvSpPr>
          <p:cNvPr id="25" name="TextBox 24"/>
          <p:cNvSpPr txBox="1"/>
          <p:nvPr/>
        </p:nvSpPr>
        <p:spPr>
          <a:xfrm>
            <a:off x="8833104"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frauds are found by an</a:t>
            </a:r>
            <a:br/>
            <a:r>
              <a:rPr sz="1050" b="0">
                <a:solidFill>
                  <a:srgbClr val="A8A498"/>
                </a:solidFill>
                <a:latin typeface="Segoe UI"/>
              </a:rPr>
              <a:t>employee tip — not by software</a:t>
            </a:r>
          </a:p>
        </p:txBody>
      </p:sp>
      <p:sp>
        <p:nvSpPr>
          <p:cNvPr id="26" name="TextBox 25"/>
          <p:cNvSpPr txBox="1"/>
          <p:nvPr/>
        </p:nvSpPr>
        <p:spPr>
          <a:xfrm>
            <a:off x="8833104"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sp>
        <p:nvSpPr>
          <p:cNvPr id="27" name="TextBox 26"/>
          <p:cNvSpPr txBox="1"/>
          <p:nvPr/>
        </p:nvSpPr>
        <p:spPr>
          <a:xfrm>
            <a:off x="658368" y="3712464"/>
            <a:ext cx="7315200" cy="256032"/>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W H E R E   I T   L E A V E S</a:t>
            </a:r>
          </a:p>
        </p:txBody>
      </p:sp>
      <p:sp>
        <p:nvSpPr>
          <p:cNvPr id="28" name="Rectangle 27"/>
          <p:cNvSpPr/>
          <p:nvPr/>
        </p:nvSpPr>
        <p:spPr>
          <a:xfrm>
            <a:off x="658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8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Requisition</a:t>
            </a:r>
          </a:p>
        </p:txBody>
      </p:sp>
      <p:cxnSp>
        <p:nvCxnSpPr>
          <p:cNvPr id="30" name="Connector 29"/>
          <p:cNvCxnSpPr/>
          <p:nvPr/>
        </p:nvCxnSpPr>
        <p:spPr>
          <a:xfrm>
            <a:off x="2523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706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1865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920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no competitive</a:t>
            </a:r>
            <a:br/>
            <a:r>
              <a:rPr sz="900" b="0">
                <a:solidFill>
                  <a:srgbClr val="C4503A"/>
                </a:solidFill>
                <a:latin typeface="Consolas"/>
              </a:rPr>
              <a:t>quotes obtained</a:t>
            </a:r>
          </a:p>
        </p:txBody>
      </p:sp>
      <p:sp>
        <p:nvSpPr>
          <p:cNvPr id="34" name="Rectangle 33"/>
          <p:cNvSpPr/>
          <p:nvPr/>
        </p:nvSpPr>
        <p:spPr>
          <a:xfrm>
            <a:off x="2944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2944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Purchase Order</a:t>
            </a:r>
          </a:p>
        </p:txBody>
      </p:sp>
      <p:cxnSp>
        <p:nvCxnSpPr>
          <p:cNvPr id="36" name="Connector 35"/>
          <p:cNvCxnSpPr/>
          <p:nvPr/>
        </p:nvCxnSpPr>
        <p:spPr>
          <a:xfrm>
            <a:off x="4809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992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4151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4206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goods never</a:t>
            </a:r>
            <a:br/>
            <a:r>
              <a:rPr sz="900" b="0">
                <a:solidFill>
                  <a:srgbClr val="C4503A"/>
                </a:solidFill>
                <a:latin typeface="Consolas"/>
              </a:rPr>
              <a:t>verified</a:t>
            </a:r>
          </a:p>
        </p:txBody>
      </p:sp>
      <p:sp>
        <p:nvSpPr>
          <p:cNvPr id="40" name="Rectangle 39"/>
          <p:cNvSpPr/>
          <p:nvPr/>
        </p:nvSpPr>
        <p:spPr>
          <a:xfrm>
            <a:off x="5230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230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Goods Receipt</a:t>
            </a:r>
          </a:p>
        </p:txBody>
      </p:sp>
      <p:cxnSp>
        <p:nvCxnSpPr>
          <p:cNvPr id="42" name="Connector 41"/>
          <p:cNvCxnSpPr/>
          <p:nvPr/>
        </p:nvCxnSpPr>
        <p:spPr>
          <a:xfrm>
            <a:off x="7095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278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437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92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billed ≠</a:t>
            </a:r>
            <a:br/>
            <a:r>
              <a:rPr sz="900" b="0">
                <a:solidFill>
                  <a:srgbClr val="C4503A"/>
                </a:solidFill>
                <a:latin typeface="Consolas"/>
              </a:rPr>
              <a:t>ordered</a:t>
            </a:r>
          </a:p>
        </p:txBody>
      </p:sp>
      <p:sp>
        <p:nvSpPr>
          <p:cNvPr id="46" name="Rectangle 45"/>
          <p:cNvSpPr/>
          <p:nvPr/>
        </p:nvSpPr>
        <p:spPr>
          <a:xfrm>
            <a:off x="7516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516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Invoice</a:t>
            </a:r>
          </a:p>
        </p:txBody>
      </p:sp>
      <p:cxnSp>
        <p:nvCxnSpPr>
          <p:cNvPr id="48" name="Connector 47"/>
          <p:cNvCxnSpPr/>
          <p:nvPr/>
        </p:nvCxnSpPr>
        <p:spPr>
          <a:xfrm>
            <a:off x="9381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564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723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778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paid</a:t>
            </a:r>
            <a:br/>
            <a:r>
              <a:rPr sz="900" b="0">
                <a:solidFill>
                  <a:srgbClr val="C4503A"/>
                </a:solidFill>
                <a:latin typeface="Consolas"/>
              </a:rPr>
              <a:t>twice</a:t>
            </a:r>
          </a:p>
        </p:txBody>
      </p:sp>
      <p:sp>
        <p:nvSpPr>
          <p:cNvPr id="52" name="Rectangle 51"/>
          <p:cNvSpPr/>
          <p:nvPr/>
        </p:nvSpPr>
        <p:spPr>
          <a:xfrm>
            <a:off x="9802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802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Payment</a:t>
            </a:r>
          </a:p>
        </p:txBody>
      </p:sp>
      <p:sp>
        <p:nvSpPr>
          <p:cNvPr id="54" name="TextBox 53"/>
          <p:cNvSpPr txBox="1"/>
          <p:nvPr/>
        </p:nvSpPr>
        <p:spPr>
          <a:xfrm>
            <a:off x="658368" y="5815584"/>
            <a:ext cx="10881360" cy="365760"/>
          </a:xfrm>
          <a:prstGeom prst="rect">
            <a:avLst/>
          </a:prstGeom>
          <a:noFill/>
        </p:spPr>
        <p:txBody>
          <a:bodyPr wrap="square" lIns="0" rIns="0" tIns="0" bIns="0" anchor="t">
            <a:spAutoFit/>
          </a:bodyPr>
          <a:lstStyle/>
          <a:p>
            <a:pPr algn="l">
              <a:lnSpc>
                <a:spcPct val="128000"/>
              </a:lnSpc>
              <a:spcAft>
                <a:spcPts val="0"/>
              </a:spcAft>
            </a:pPr>
            <a:r>
              <a:rPr sz="1250" b="0">
                <a:solidFill>
                  <a:srgbClr val="A8A498"/>
                </a:solidFill>
                <a:latin typeface="Georgia"/>
              </a:rPr>
              <a:t>Four documents. Four different people. Often four different systems. </a:t>
            </a:r>
            <a:r>
              <a:rPr sz="1250" b="0">
                <a:solidFill>
                  <a:srgbClr val="C4503A"/>
                </a:solidFill>
                <a:latin typeface="Georgia"/>
              </a:rPr>
              <a:t>Every gap is where money leaves.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02</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P O S E D   S O L U T I O N</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Read the whole corpus at once, then prove what you found.</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02 / 07</a:t>
            </a:r>
          </a:p>
        </p:txBody>
      </p:sp>
      <p:sp>
        <p:nvSpPr>
          <p:cNvPr id="11" name="TextBox 10"/>
          <p:cNvSpPr txBox="1"/>
          <p:nvPr/>
        </p:nvSpPr>
        <p:spPr>
          <a:xfrm>
            <a:off x="658368" y="1901952"/>
            <a:ext cx="6949440" cy="749808"/>
          </a:xfrm>
          <a:prstGeom prst="rect">
            <a:avLst/>
          </a:prstGeom>
          <a:noFill/>
        </p:spPr>
        <p:txBody>
          <a:bodyPr wrap="square" lIns="0" rIns="0" tIns="0" bIns="0" anchor="t">
            <a:spAutoFit/>
          </a:bodyPr>
          <a:lstStyle/>
          <a:p>
            <a:pPr algn="l">
              <a:lnSpc>
                <a:spcPct val="145000"/>
              </a:lnSpc>
              <a:spcAft>
                <a:spcPts val="0"/>
              </a:spcAft>
            </a:pPr>
            <a:r>
              <a:rPr sz="1300" b="0">
                <a:solidFill>
                  <a:srgbClr val="A8A498"/>
                </a:solidFill>
                <a:latin typeface="Segoe UI"/>
              </a:rPr>
              <a:t>LedgerLens ingests raw procurement records, resolves them into comparable entities, runs 42 deterministic and statistical detectors across the entire corpus, and returns findings that carry their own evidence and their own arithmetic.</a:t>
            </a:r>
          </a:p>
        </p:txBody>
      </p:sp>
      <p:sp>
        <p:nvSpPr>
          <p:cNvPr id="12" name="Rectangle 11"/>
          <p:cNvSpPr/>
          <p:nvPr/>
        </p:nvSpPr>
        <p:spPr>
          <a:xfrm>
            <a:off x="658368"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743200"/>
            <a:ext cx="41148" cy="2450592"/>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5B8F6E"/>
                </a:solidFill>
                <a:latin typeface="Consolas"/>
              </a:rPr>
              <a:t>R E S O L V E</a:t>
            </a:r>
          </a:p>
        </p:txBody>
      </p:sp>
      <p:sp>
        <p:nvSpPr>
          <p:cNvPr id="15" name="TextBox 14"/>
          <p:cNvSpPr txBox="1"/>
          <p:nvPr/>
        </p:nvSpPr>
        <p:spPr>
          <a:xfrm>
            <a:off x="914400"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Vendor entity resolution · SKU and unit normalisation · tax and currency alignment</a:t>
            </a:r>
          </a:p>
        </p:txBody>
      </p:sp>
      <p:sp>
        <p:nvSpPr>
          <p:cNvPr id="16" name="TextBox 15"/>
          <p:cNvSpPr txBox="1"/>
          <p:nvPr/>
        </p:nvSpPr>
        <p:spPr>
          <a:xfrm>
            <a:off x="914400"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118 vendor records collapse to 96 real counterparties. 15 catalogue items absorb 47 raw description variants.</a:t>
            </a:r>
          </a:p>
        </p:txBody>
      </p:sp>
      <p:cxnSp>
        <p:nvCxnSpPr>
          <p:cNvPr id="17" name="Connector 16"/>
          <p:cNvCxnSpPr/>
          <p:nvPr/>
        </p:nvCxnSpPr>
        <p:spPr>
          <a:xfrm>
            <a:off x="914400"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14400"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Without this, every price comparison is a string comparison — and wrong.</a:t>
            </a:r>
          </a:p>
        </p:txBody>
      </p:sp>
      <p:cxnSp>
        <p:nvCxnSpPr>
          <p:cNvPr id="19" name="Connector 18"/>
          <p:cNvCxnSpPr/>
          <p:nvPr/>
        </p:nvCxnSpPr>
        <p:spPr>
          <a:xfrm>
            <a:off x="4187952"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352544"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352544" y="2743200"/>
            <a:ext cx="41148" cy="2450592"/>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608576"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4503A"/>
                </a:solidFill>
                <a:latin typeface="Consolas"/>
              </a:rPr>
              <a:t>D E T E C T</a:t>
            </a:r>
          </a:p>
        </p:txBody>
      </p:sp>
      <p:sp>
        <p:nvSpPr>
          <p:cNvPr id="23" name="TextBox 22"/>
          <p:cNvSpPr txBox="1"/>
          <p:nvPr/>
        </p:nvSpPr>
        <p:spPr>
          <a:xfrm>
            <a:off x="4608576"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Rules engine (deterministic) → statistical models (robust z, Benford, Isolation Forest)</a:t>
            </a:r>
          </a:p>
        </p:txBody>
      </p:sp>
      <p:sp>
        <p:nvSpPr>
          <p:cNvPr id="24" name="TextBox 23"/>
          <p:cNvSpPr txBox="1"/>
          <p:nvPr/>
        </p:nvSpPr>
        <p:spPr>
          <a:xfrm>
            <a:off x="4608576"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42 detectors · 5 pillars · each a plugin emitting a typed Finding.</a:t>
            </a:r>
          </a:p>
        </p:txBody>
      </p:sp>
      <p:cxnSp>
        <p:nvCxnSpPr>
          <p:cNvPr id="25" name="Connector 24"/>
          <p:cNvCxnSpPr/>
          <p:nvPr/>
        </p:nvCxnSpPr>
        <p:spPr>
          <a:xfrm>
            <a:off x="4608576"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608576"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unit of analysis is the relationship between records, not the record.</a:t>
            </a:r>
          </a:p>
        </p:txBody>
      </p:sp>
      <p:cxnSp>
        <p:nvCxnSpPr>
          <p:cNvPr id="27" name="Connector 26"/>
          <p:cNvCxnSpPr/>
          <p:nvPr/>
        </p:nvCxnSpPr>
        <p:spPr>
          <a:xfrm>
            <a:off x="7882127"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8046720"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046720" y="2743200"/>
            <a:ext cx="41148" cy="24505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02752"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9A227"/>
                </a:solidFill>
                <a:latin typeface="Consolas"/>
              </a:rPr>
              <a:t>A C T</a:t>
            </a:r>
          </a:p>
        </p:txBody>
      </p:sp>
      <p:sp>
        <p:nvSpPr>
          <p:cNvPr id="31" name="TextBox 30"/>
          <p:cNvSpPr txBox="1"/>
          <p:nvPr/>
        </p:nvSpPr>
        <p:spPr>
          <a:xfrm>
            <a:off x="8302752"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Risk scoring → savings quantification → recommended action → drafted artifact</a:t>
            </a:r>
          </a:p>
        </p:txBody>
      </p:sp>
      <p:sp>
        <p:nvSpPr>
          <p:cNvPr id="32" name="TextBox 31"/>
          <p:cNvSpPr txBox="1"/>
          <p:nvPr/>
        </p:nvSpPr>
        <p:spPr>
          <a:xfrm>
            <a:off x="8302752"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163 findings · ₹18,42,650 identified · ₹6,21,400 already recovered.</a:t>
            </a:r>
          </a:p>
        </p:txBody>
      </p:sp>
      <p:cxnSp>
        <p:nvCxnSpPr>
          <p:cNvPr id="33" name="Connector 32"/>
          <p:cNvCxnSpPr/>
          <p:nvPr/>
        </p:nvCxnSpPr>
        <p:spPr>
          <a:xfrm>
            <a:off x="8302752"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302752"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language model writes the letter. It never writes the number.</a:t>
            </a:r>
          </a:p>
        </p:txBody>
      </p:sp>
      <p:sp>
        <p:nvSpPr>
          <p:cNvPr id="35" name="Rectangle 34"/>
          <p:cNvSpPr/>
          <p:nvPr/>
        </p:nvSpPr>
        <p:spPr>
          <a:xfrm>
            <a:off x="658368" y="5650992"/>
            <a:ext cx="10874959" cy="749808"/>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32688" y="5779008"/>
            <a:ext cx="10332720" cy="292608"/>
          </a:xfrm>
          <a:prstGeom prst="rect">
            <a:avLst/>
          </a:prstGeom>
          <a:noFill/>
        </p:spPr>
        <p:txBody>
          <a:bodyPr wrap="square" lIns="0" rIns="0" tIns="0" bIns="0" anchor="t">
            <a:spAutoFit/>
          </a:bodyPr>
          <a:lstStyle/>
          <a:p>
            <a:pPr algn="l">
              <a:lnSpc>
                <a:spcPct val="128000"/>
              </a:lnSpc>
              <a:spcAft>
                <a:spcPts val="0"/>
              </a:spcAft>
            </a:pPr>
            <a:r>
              <a:rPr sz="1500" b="0">
                <a:solidFill>
                  <a:srgbClr val="C9A227"/>
                </a:solidFill>
                <a:latin typeface="Georgia"/>
              </a:rPr>
              <a:t>No language model ever produces a number in this system.</a:t>
            </a:r>
          </a:p>
        </p:txBody>
      </p:sp>
      <p:sp>
        <p:nvSpPr>
          <p:cNvPr id="37" name="TextBox 36"/>
          <p:cNvSpPr txBox="1"/>
          <p:nvPr/>
        </p:nvSpPr>
        <p:spPr>
          <a:xfrm>
            <a:off x="932688" y="6108192"/>
            <a:ext cx="10332720" cy="256032"/>
          </a:xfrm>
          <a:prstGeom prst="rect">
            <a:avLst/>
          </a:prstGeom>
          <a:noFill/>
        </p:spPr>
        <p:txBody>
          <a:bodyPr wrap="square" lIns="0" rIns="0" tIns="0" bIns="0" anchor="t">
            <a:spAutoFit/>
          </a:bodyPr>
          <a:lstStyle/>
          <a:p>
            <a:pPr algn="l">
              <a:lnSpc>
                <a:spcPct val="128000"/>
              </a:lnSpc>
              <a:spcAft>
                <a:spcPts val="0"/>
              </a:spcAft>
            </a:pPr>
            <a:r>
              <a:rPr sz="1000" b="0">
                <a:solidFill>
                  <a:srgbClr val="A8A498"/>
                </a:solidFill>
                <a:latin typeface="Segoe UI"/>
              </a:rPr>
              <a:t>Rules and statistics compute. The model explains, drafts and translates. Every score is decomposable, reproducible and auditable to the rule that fired.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03</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F E A T U R E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Forty-two detectors. Seven working views. One evidence trail.</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03 / 07</a:t>
            </a:r>
          </a:p>
        </p:txBody>
      </p:sp>
      <p:sp>
        <p:nvSpPr>
          <p:cNvPr id="11" name="Rectangle 10"/>
          <p:cNvSpPr/>
          <p:nvPr/>
        </p:nvSpPr>
        <p:spPr>
          <a:xfrm>
            <a:off x="65836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2084831" cy="320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14" name="TextBox 13"/>
          <p:cNvSpPr txBox="1"/>
          <p:nvPr/>
        </p:nvSpPr>
        <p:spPr>
          <a:xfrm>
            <a:off x="84124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Duplicates &amp;</a:t>
            </a:r>
            <a:br/>
            <a:r>
              <a:rPr sz="1250" b="0">
                <a:solidFill>
                  <a:srgbClr val="E9E5DC"/>
                </a:solidFill>
                <a:latin typeface="Segoe UI"/>
              </a:rPr>
              <a:t>Overpayment</a:t>
            </a:r>
          </a:p>
        </p:txBody>
      </p:sp>
      <p:sp>
        <p:nvSpPr>
          <p:cNvPr id="15" name="TextBox 14"/>
          <p:cNvSpPr txBox="1"/>
          <p:nvPr/>
        </p:nvSpPr>
        <p:spPr>
          <a:xfrm>
            <a:off x="84124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9A227"/>
                </a:solidFill>
                <a:latin typeface="Consolas"/>
              </a:rPr>
              <a:t>8</a:t>
            </a:r>
            <a:r>
              <a:rPr sz="900" b="0">
                <a:solidFill>
                  <a:srgbClr val="6E7079"/>
                </a:solidFill>
                <a:latin typeface="Segoe UI"/>
              </a:rPr>
              <a:t>  detectors</a:t>
            </a:r>
          </a:p>
        </p:txBody>
      </p:sp>
      <p:sp>
        <p:nvSpPr>
          <p:cNvPr id="16" name="TextBox 15"/>
          <p:cNvSpPr txBox="1"/>
          <p:nvPr/>
        </p:nvSpPr>
        <p:spPr>
          <a:xfrm>
            <a:off x="84124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41 findings</a:t>
            </a:r>
            <a:br/>
            <a:r>
              <a:rPr sz="850" b="0">
                <a:solidFill>
                  <a:srgbClr val="A8A498"/>
                </a:solidFill>
                <a:latin typeface="Consolas"/>
              </a:rPr>
              <a:t>91.4% precision</a:t>
            </a:r>
          </a:p>
        </p:txBody>
      </p:sp>
      <p:cxnSp>
        <p:nvCxnSpPr>
          <p:cNvPr id="17" name="Connector 16"/>
          <p:cNvCxnSpPr/>
          <p:nvPr/>
        </p:nvCxnSpPr>
        <p:spPr>
          <a:xfrm>
            <a:off x="84124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4124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near-duplicate matching</a:t>
            </a:r>
            <a:br/>
            <a:r>
              <a:rPr sz="800" b="0">
                <a:solidFill>
                  <a:srgbClr val="6E7079"/>
                </a:solidFill>
                <a:latin typeface="Segoe UI"/>
              </a:rPr>
              <a:t>transposition-tolerant numbers</a:t>
            </a:r>
            <a:br/>
            <a:r>
              <a:rPr sz="800" b="0">
                <a:solidFill>
                  <a:srgbClr val="6E7079"/>
                </a:solidFill>
                <a:latin typeface="Segoe UI"/>
              </a:rPr>
              <a:t>cross-alias duplicates</a:t>
            </a:r>
          </a:p>
        </p:txBody>
      </p:sp>
      <p:sp>
        <p:nvSpPr>
          <p:cNvPr id="19" name="Rectangle 18"/>
          <p:cNvSpPr/>
          <p:nvPr/>
        </p:nvSpPr>
        <p:spPr>
          <a:xfrm>
            <a:off x="285292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852928" y="1901952"/>
            <a:ext cx="2084831" cy="320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03580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6B8394"/>
                </a:solidFill>
                <a:latin typeface="Consolas"/>
              </a:rPr>
              <a:t>02</a:t>
            </a:r>
          </a:p>
        </p:txBody>
      </p:sp>
      <p:sp>
        <p:nvSpPr>
          <p:cNvPr id="22" name="TextBox 21"/>
          <p:cNvSpPr txBox="1"/>
          <p:nvPr/>
        </p:nvSpPr>
        <p:spPr>
          <a:xfrm>
            <a:off x="303580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Price &amp; Vendor</a:t>
            </a:r>
            <a:br/>
            <a:r>
              <a:rPr sz="1250" b="0">
                <a:solidFill>
                  <a:srgbClr val="E9E5DC"/>
                </a:solidFill>
                <a:latin typeface="Segoe UI"/>
              </a:rPr>
              <a:t>Intelligence</a:t>
            </a:r>
          </a:p>
        </p:txBody>
      </p:sp>
      <p:sp>
        <p:nvSpPr>
          <p:cNvPr id="23" name="TextBox 22"/>
          <p:cNvSpPr txBox="1"/>
          <p:nvPr/>
        </p:nvSpPr>
        <p:spPr>
          <a:xfrm>
            <a:off x="303580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6B8394"/>
                </a:solidFill>
                <a:latin typeface="Consolas"/>
              </a:rPr>
              <a:t>9</a:t>
            </a:r>
            <a:r>
              <a:rPr sz="900" b="0">
                <a:solidFill>
                  <a:srgbClr val="6E7079"/>
                </a:solidFill>
                <a:latin typeface="Segoe UI"/>
              </a:rPr>
              <a:t>  detectors</a:t>
            </a:r>
          </a:p>
        </p:txBody>
      </p:sp>
      <p:sp>
        <p:nvSpPr>
          <p:cNvPr id="24" name="TextBox 23"/>
          <p:cNvSpPr txBox="1"/>
          <p:nvPr/>
        </p:nvSpPr>
        <p:spPr>
          <a:xfrm>
            <a:off x="303580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38 findings</a:t>
            </a:r>
            <a:br/>
            <a:r>
              <a:rPr sz="850" b="0">
                <a:solidFill>
                  <a:srgbClr val="A8A498"/>
                </a:solidFill>
                <a:latin typeface="Consolas"/>
              </a:rPr>
              <a:t>93.8% precision</a:t>
            </a:r>
          </a:p>
        </p:txBody>
      </p:sp>
      <p:cxnSp>
        <p:nvCxnSpPr>
          <p:cNvPr id="25" name="Connector 24"/>
          <p:cNvCxnSpPr/>
          <p:nvPr/>
        </p:nvCxnSpPr>
        <p:spPr>
          <a:xfrm>
            <a:off x="303580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03580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peer-median benchmarking</a:t>
            </a:r>
            <a:br/>
            <a:r>
              <a:rPr sz="800" b="0">
                <a:solidFill>
                  <a:srgbClr val="6E7079"/>
                </a:solidFill>
                <a:latin typeface="Segoe UI"/>
              </a:rPr>
              <a:t>price-creep regression</a:t>
            </a:r>
            <a:br/>
            <a:r>
              <a:rPr sz="800" b="0">
                <a:solidFill>
                  <a:srgbClr val="6E7079"/>
                </a:solidFill>
                <a:latin typeface="Segoe UI"/>
              </a:rPr>
              <a:t>rate-card violation</a:t>
            </a:r>
          </a:p>
        </p:txBody>
      </p:sp>
      <p:sp>
        <p:nvSpPr>
          <p:cNvPr id="27" name="Rectangle 26"/>
          <p:cNvSpPr/>
          <p:nvPr/>
        </p:nvSpPr>
        <p:spPr>
          <a:xfrm>
            <a:off x="504748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047488" y="1901952"/>
            <a:ext cx="2084831" cy="32004"/>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3036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4503A"/>
                </a:solidFill>
                <a:latin typeface="Consolas"/>
              </a:rPr>
              <a:t>03</a:t>
            </a:r>
          </a:p>
        </p:txBody>
      </p:sp>
      <p:sp>
        <p:nvSpPr>
          <p:cNvPr id="30" name="TextBox 29"/>
          <p:cNvSpPr txBox="1"/>
          <p:nvPr/>
        </p:nvSpPr>
        <p:spPr>
          <a:xfrm>
            <a:off x="523036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Behavioural</a:t>
            </a:r>
            <a:br/>
            <a:r>
              <a:rPr sz="1250" b="0">
                <a:solidFill>
                  <a:srgbClr val="E9E5DC"/>
                </a:solidFill>
                <a:latin typeface="Segoe UI"/>
              </a:rPr>
              <a:t>Anomalies</a:t>
            </a:r>
          </a:p>
        </p:txBody>
      </p:sp>
      <p:sp>
        <p:nvSpPr>
          <p:cNvPr id="31" name="TextBox 30"/>
          <p:cNvSpPr txBox="1"/>
          <p:nvPr/>
        </p:nvSpPr>
        <p:spPr>
          <a:xfrm>
            <a:off x="523036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4503A"/>
                </a:solidFill>
                <a:latin typeface="Consolas"/>
              </a:rPr>
              <a:t>11</a:t>
            </a:r>
            <a:r>
              <a:rPr sz="900" b="0">
                <a:solidFill>
                  <a:srgbClr val="6E7079"/>
                </a:solidFill>
                <a:latin typeface="Segoe UI"/>
              </a:rPr>
              <a:t>  detectors</a:t>
            </a:r>
          </a:p>
        </p:txBody>
      </p:sp>
      <p:sp>
        <p:nvSpPr>
          <p:cNvPr id="32" name="TextBox 31"/>
          <p:cNvSpPr txBox="1"/>
          <p:nvPr/>
        </p:nvSpPr>
        <p:spPr>
          <a:xfrm>
            <a:off x="523036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47 findings</a:t>
            </a:r>
            <a:br/>
            <a:r>
              <a:rPr sz="850" b="0">
                <a:solidFill>
                  <a:srgbClr val="A8A498"/>
                </a:solidFill>
                <a:latin typeface="Consolas"/>
              </a:rPr>
              <a:t>95.6% precision</a:t>
            </a:r>
          </a:p>
        </p:txBody>
      </p:sp>
      <p:cxnSp>
        <p:nvCxnSpPr>
          <p:cNvPr id="33" name="Connector 32"/>
          <p:cNvCxnSpPr/>
          <p:nvPr/>
        </p:nvCxnSpPr>
        <p:spPr>
          <a:xfrm>
            <a:off x="523036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23036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PO splitting · threshold hugging</a:t>
            </a:r>
            <a:br/>
            <a:r>
              <a:rPr sz="800" b="0">
                <a:solidFill>
                  <a:srgbClr val="6E7079"/>
                </a:solidFill>
                <a:latin typeface="Segoe UI"/>
              </a:rPr>
              <a:t>Benford's Law</a:t>
            </a:r>
            <a:br/>
            <a:r>
              <a:rPr sz="800" b="0">
                <a:solidFill>
                  <a:srgbClr val="6E7079"/>
                </a:solidFill>
                <a:latin typeface="Segoe UI"/>
              </a:rPr>
              <a:t>Isolation Forest outliers</a:t>
            </a:r>
          </a:p>
        </p:txBody>
      </p:sp>
      <p:sp>
        <p:nvSpPr>
          <p:cNvPr id="35" name="Rectangle 34"/>
          <p:cNvSpPr/>
          <p:nvPr/>
        </p:nvSpPr>
        <p:spPr>
          <a:xfrm>
            <a:off x="724204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242048" y="1901952"/>
            <a:ext cx="2084831" cy="32004"/>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42492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A8705A"/>
                </a:solidFill>
                <a:latin typeface="Consolas"/>
              </a:rPr>
              <a:t>04</a:t>
            </a:r>
          </a:p>
        </p:txBody>
      </p:sp>
      <p:sp>
        <p:nvSpPr>
          <p:cNvPr id="38" name="TextBox 37"/>
          <p:cNvSpPr txBox="1"/>
          <p:nvPr/>
        </p:nvSpPr>
        <p:spPr>
          <a:xfrm>
            <a:off x="742492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Vendor Integrity</a:t>
            </a:r>
            <a:br/>
            <a:r>
              <a:rPr sz="1250" b="0">
                <a:solidFill>
                  <a:srgbClr val="E9E5DC"/>
                </a:solidFill>
                <a:latin typeface="Segoe UI"/>
              </a:rPr>
              <a:t>&amp; Collusion</a:t>
            </a:r>
          </a:p>
        </p:txBody>
      </p:sp>
      <p:sp>
        <p:nvSpPr>
          <p:cNvPr id="39" name="TextBox 38"/>
          <p:cNvSpPr txBox="1"/>
          <p:nvPr/>
        </p:nvSpPr>
        <p:spPr>
          <a:xfrm>
            <a:off x="742492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A8705A"/>
                </a:solidFill>
                <a:latin typeface="Consolas"/>
              </a:rPr>
              <a:t>8</a:t>
            </a:r>
            <a:r>
              <a:rPr sz="900" b="0">
                <a:solidFill>
                  <a:srgbClr val="6E7079"/>
                </a:solidFill>
                <a:latin typeface="Segoe UI"/>
              </a:rPr>
              <a:t>  detectors</a:t>
            </a:r>
          </a:p>
        </p:txBody>
      </p:sp>
      <p:sp>
        <p:nvSpPr>
          <p:cNvPr id="40" name="TextBox 39"/>
          <p:cNvSpPr txBox="1"/>
          <p:nvPr/>
        </p:nvSpPr>
        <p:spPr>
          <a:xfrm>
            <a:off x="742492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22 findings</a:t>
            </a:r>
            <a:br/>
            <a:r>
              <a:rPr sz="850" b="0">
                <a:solidFill>
                  <a:srgbClr val="A8A498"/>
                </a:solidFill>
                <a:latin typeface="Consolas"/>
              </a:rPr>
              <a:t>100.0% precision</a:t>
            </a:r>
          </a:p>
        </p:txBody>
      </p:sp>
      <p:cxnSp>
        <p:nvCxnSpPr>
          <p:cNvPr id="41" name="Connector 40"/>
          <p:cNvCxnSpPr/>
          <p:nvPr/>
        </p:nvCxnSpPr>
        <p:spPr>
          <a:xfrm>
            <a:off x="742492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42492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shared-attribute rings</a:t>
            </a:r>
            <a:br/>
            <a:r>
              <a:rPr sz="800" b="0">
                <a:solidFill>
                  <a:srgbClr val="6E7079"/>
                </a:solidFill>
                <a:latin typeface="Segoe UI"/>
              </a:rPr>
              <a:t>vendor ↔ employee links</a:t>
            </a:r>
            <a:br/>
            <a:r>
              <a:rPr sz="800" b="0">
                <a:solidFill>
                  <a:srgbClr val="6E7079"/>
                </a:solidFill>
                <a:latin typeface="Segoe UI"/>
              </a:rPr>
              <a:t>bank change before payment</a:t>
            </a:r>
          </a:p>
        </p:txBody>
      </p:sp>
      <p:sp>
        <p:nvSpPr>
          <p:cNvPr id="43" name="Rectangle 42"/>
          <p:cNvSpPr/>
          <p:nvPr/>
        </p:nvSpPr>
        <p:spPr>
          <a:xfrm>
            <a:off x="943660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436608" y="1901952"/>
            <a:ext cx="2084831" cy="320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61948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5B8F6E"/>
                </a:solidFill>
                <a:latin typeface="Consolas"/>
              </a:rPr>
              <a:t>05</a:t>
            </a:r>
          </a:p>
        </p:txBody>
      </p:sp>
      <p:sp>
        <p:nvSpPr>
          <p:cNvPr id="46" name="TextBox 45"/>
          <p:cNvSpPr txBox="1"/>
          <p:nvPr/>
        </p:nvSpPr>
        <p:spPr>
          <a:xfrm>
            <a:off x="961948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Compliance</a:t>
            </a:r>
            <a:br/>
            <a:r>
              <a:rPr sz="1250" b="0">
                <a:solidFill>
                  <a:srgbClr val="E9E5DC"/>
                </a:solidFill>
                <a:latin typeface="Segoe UI"/>
              </a:rPr>
              <a:t>&amp; Process</a:t>
            </a:r>
          </a:p>
        </p:txBody>
      </p:sp>
      <p:sp>
        <p:nvSpPr>
          <p:cNvPr id="47" name="TextBox 46"/>
          <p:cNvSpPr txBox="1"/>
          <p:nvPr/>
        </p:nvSpPr>
        <p:spPr>
          <a:xfrm>
            <a:off x="961948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5B8F6E"/>
                </a:solidFill>
                <a:latin typeface="Consolas"/>
              </a:rPr>
              <a:t>6</a:t>
            </a:r>
            <a:r>
              <a:rPr sz="900" b="0">
                <a:solidFill>
                  <a:srgbClr val="6E7079"/>
                </a:solidFill>
                <a:latin typeface="Segoe UI"/>
              </a:rPr>
              <a:t>  detectors</a:t>
            </a:r>
          </a:p>
        </p:txBody>
      </p:sp>
      <p:sp>
        <p:nvSpPr>
          <p:cNvPr id="48" name="TextBox 47"/>
          <p:cNvSpPr txBox="1"/>
          <p:nvPr/>
        </p:nvSpPr>
        <p:spPr>
          <a:xfrm>
            <a:off x="961948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15 findings</a:t>
            </a:r>
            <a:br/>
            <a:r>
              <a:rPr sz="850" b="0">
                <a:solidFill>
                  <a:srgbClr val="A8A498"/>
                </a:solidFill>
                <a:latin typeface="Consolas"/>
              </a:rPr>
              <a:t>97.9% precision</a:t>
            </a:r>
          </a:p>
        </p:txBody>
      </p:sp>
      <p:cxnSp>
        <p:nvCxnSpPr>
          <p:cNvPr id="49" name="Connector 48"/>
          <p:cNvCxnSpPr/>
          <p:nvPr/>
        </p:nvCxnSpPr>
        <p:spPr>
          <a:xfrm>
            <a:off x="9619488" y="3840480"/>
            <a:ext cx="1719071"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61948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three-way match</a:t>
            </a:r>
            <a:br/>
            <a:r>
              <a:rPr sz="800" b="0">
                <a:solidFill>
                  <a:srgbClr val="6E7079"/>
                </a:solidFill>
                <a:latin typeface="Segoe UI"/>
              </a:rPr>
              <a:t>duplicate GST numbering</a:t>
            </a:r>
            <a:br/>
            <a:r>
              <a:rPr sz="800" b="0">
                <a:solidFill>
                  <a:srgbClr val="6E7079"/>
                </a:solidFill>
                <a:latin typeface="Segoe UI"/>
              </a:rPr>
              <a:t>MSME 45-day breach, s.43B(h)</a:t>
            </a:r>
          </a:p>
        </p:txBody>
      </p:sp>
      <p:sp>
        <p:nvSpPr>
          <p:cNvPr id="51" name="TextBox 50"/>
          <p:cNvSpPr txBox="1"/>
          <p:nvPr/>
        </p:nvSpPr>
        <p:spPr>
          <a:xfrm>
            <a:off x="658368" y="4700016"/>
            <a:ext cx="54864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T H E   P R O D U C T   —   S E V E N   W O R K I N G   V I E W S</a:t>
            </a:r>
          </a:p>
        </p:txBody>
      </p:sp>
      <p:sp>
        <p:nvSpPr>
          <p:cNvPr id="52" name="Rectangle 51"/>
          <p:cNvSpPr/>
          <p:nvPr/>
        </p:nvSpPr>
        <p:spPr>
          <a:xfrm>
            <a:off x="65836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7724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Command Center</a:t>
            </a:r>
          </a:p>
        </p:txBody>
      </p:sp>
      <p:sp>
        <p:nvSpPr>
          <p:cNvPr id="54" name="TextBox 53"/>
          <p:cNvSpPr txBox="1"/>
          <p:nvPr/>
        </p:nvSpPr>
        <p:spPr>
          <a:xfrm>
            <a:off x="77724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hero figure, savings funnel, health index</a:t>
            </a:r>
          </a:p>
        </p:txBody>
      </p:sp>
      <p:sp>
        <p:nvSpPr>
          <p:cNvPr id="55" name="Rectangle 54"/>
          <p:cNvSpPr/>
          <p:nvPr/>
        </p:nvSpPr>
        <p:spPr>
          <a:xfrm>
            <a:off x="2221991"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340863"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Findings Register</a:t>
            </a:r>
          </a:p>
        </p:txBody>
      </p:sp>
      <p:sp>
        <p:nvSpPr>
          <p:cNvPr id="57" name="TextBox 56"/>
          <p:cNvSpPr txBox="1"/>
          <p:nvPr/>
        </p:nvSpPr>
        <p:spPr>
          <a:xfrm>
            <a:off x="2340863"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sortable, filterable, 163 rows</a:t>
            </a:r>
          </a:p>
        </p:txBody>
      </p:sp>
      <p:sp>
        <p:nvSpPr>
          <p:cNvPr id="58" name="Rectangle 57"/>
          <p:cNvSpPr/>
          <p:nvPr/>
        </p:nvSpPr>
        <p:spPr>
          <a:xfrm>
            <a:off x="3785615"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3904487"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Evidence Drawer</a:t>
            </a:r>
          </a:p>
        </p:txBody>
      </p:sp>
      <p:sp>
        <p:nvSpPr>
          <p:cNvPr id="60" name="TextBox 59"/>
          <p:cNvSpPr txBox="1"/>
          <p:nvPr/>
        </p:nvSpPr>
        <p:spPr>
          <a:xfrm>
            <a:off x="3904487"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two documents side by side, fields diffed</a:t>
            </a:r>
          </a:p>
        </p:txBody>
      </p:sp>
      <p:sp>
        <p:nvSpPr>
          <p:cNvPr id="61" name="Rectangle 60"/>
          <p:cNvSpPr/>
          <p:nvPr/>
        </p:nvSpPr>
        <p:spPr>
          <a:xfrm>
            <a:off x="5349240"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468112"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Price Intelligence</a:t>
            </a:r>
          </a:p>
        </p:txBody>
      </p:sp>
      <p:sp>
        <p:nvSpPr>
          <p:cNvPr id="63" name="TextBox 62"/>
          <p:cNvSpPr txBox="1"/>
          <p:nvPr/>
        </p:nvSpPr>
        <p:spPr>
          <a:xfrm>
            <a:off x="5468112"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peer median, creep, rate-card delta</a:t>
            </a:r>
          </a:p>
        </p:txBody>
      </p:sp>
      <p:sp>
        <p:nvSpPr>
          <p:cNvPr id="64" name="Rectangle 63"/>
          <p:cNvSpPr/>
          <p:nvPr/>
        </p:nvSpPr>
        <p:spPr>
          <a:xfrm>
            <a:off x="6912864"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031736"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Vendor Integrity</a:t>
            </a:r>
          </a:p>
        </p:txBody>
      </p:sp>
      <p:sp>
        <p:nvSpPr>
          <p:cNvPr id="66" name="TextBox 65"/>
          <p:cNvSpPr txBox="1"/>
          <p:nvPr/>
        </p:nvSpPr>
        <p:spPr>
          <a:xfrm>
            <a:off x="7031736"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collusion graph, shared bank accounts</a:t>
            </a:r>
          </a:p>
        </p:txBody>
      </p:sp>
      <p:sp>
        <p:nvSpPr>
          <p:cNvPr id="67" name="Rectangle 66"/>
          <p:cNvSpPr/>
          <p:nvPr/>
        </p:nvSpPr>
        <p:spPr>
          <a:xfrm>
            <a:off x="847648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59536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Pattern Lab</a:t>
            </a:r>
          </a:p>
        </p:txBody>
      </p:sp>
      <p:sp>
        <p:nvSpPr>
          <p:cNvPr id="69" name="TextBox 68"/>
          <p:cNvSpPr txBox="1"/>
          <p:nvPr/>
        </p:nvSpPr>
        <p:spPr>
          <a:xfrm>
            <a:off x="859536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threshold histogram, Benford, off-hours</a:t>
            </a:r>
          </a:p>
        </p:txBody>
      </p:sp>
      <p:sp>
        <p:nvSpPr>
          <p:cNvPr id="70" name="Rectangle 69"/>
          <p:cNvSpPr/>
          <p:nvPr/>
        </p:nvSpPr>
        <p:spPr>
          <a:xfrm>
            <a:off x="10040112"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158984"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 Studio</a:t>
            </a:r>
          </a:p>
        </p:txBody>
      </p:sp>
      <p:sp>
        <p:nvSpPr>
          <p:cNvPr id="72" name="TextBox 71"/>
          <p:cNvSpPr txBox="1"/>
          <p:nvPr/>
        </p:nvSpPr>
        <p:spPr>
          <a:xfrm>
            <a:off x="10158984"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live pillar weights, leaderboard reorders</a:t>
            </a:r>
          </a:p>
        </p:txBody>
      </p:sp>
      <p:cxnSp>
        <p:nvCxnSpPr>
          <p:cNvPr id="73" name="Connector 72"/>
          <p:cNvCxnSpPr/>
          <p:nvPr/>
        </p:nvCxnSpPr>
        <p:spPr>
          <a:xfrm>
            <a:off x="658368"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04672"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Finding zero: is the ledger real?</a:t>
            </a:r>
          </a:p>
        </p:txBody>
      </p:sp>
      <p:sp>
        <p:nvSpPr>
          <p:cNvPr id="75" name="TextBox 74"/>
          <p:cNvSpPr txBox="1"/>
          <p:nvPr/>
        </p:nvSpPr>
        <p:spPr>
          <a:xfrm>
            <a:off x="804672"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Benford, round-number rate, terminal-digit uniformity and filing-time entropy grade the books before anything in them is believed</a:t>
            </a:r>
          </a:p>
        </p:txBody>
      </p:sp>
      <p:cxnSp>
        <p:nvCxnSpPr>
          <p:cNvPr id="76" name="Connector 75"/>
          <p:cNvCxnSpPr/>
          <p:nvPr/>
        </p:nvCxnSpPr>
        <p:spPr>
          <a:xfrm>
            <a:off x="3383280"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3529584"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Evidence, not alerts</a:t>
            </a:r>
          </a:p>
        </p:txBody>
      </p:sp>
      <p:sp>
        <p:nvSpPr>
          <p:cNvPr id="78" name="TextBox 77"/>
          <p:cNvSpPr txBox="1"/>
          <p:nvPr/>
        </p:nvSpPr>
        <p:spPr>
          <a:xfrm>
            <a:off x="3529584"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every finding opens the two source documents with matching and differing fields highlighted</a:t>
            </a:r>
          </a:p>
        </p:txBody>
      </p:sp>
      <p:cxnSp>
        <p:nvCxnSpPr>
          <p:cNvPr id="79" name="Connector 78"/>
          <p:cNvCxnSpPr/>
          <p:nvPr/>
        </p:nvCxnSpPr>
        <p:spPr>
          <a:xfrm>
            <a:off x="6108192"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54496"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Tamper-evident by construction</a:t>
            </a:r>
          </a:p>
        </p:txBody>
      </p:sp>
      <p:sp>
        <p:nvSpPr>
          <p:cNvPr id="81" name="TextBox 80"/>
          <p:cNvSpPr txBox="1"/>
          <p:nvPr/>
        </p:nvSpPr>
        <p:spPr>
          <a:xfrm>
            <a:off x="6254496"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each finding hashed over its own content and chained to a run root; re-run and the root is identical</a:t>
            </a:r>
          </a:p>
        </p:txBody>
      </p:sp>
      <p:cxnSp>
        <p:nvCxnSpPr>
          <p:cNvPr id="82" name="Connector 81"/>
          <p:cNvCxnSpPr/>
          <p:nvPr/>
        </p:nvCxnSpPr>
        <p:spPr>
          <a:xfrm>
            <a:off x="8833104"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8979408"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India compliance layer</a:t>
            </a:r>
          </a:p>
        </p:txBody>
      </p:sp>
      <p:sp>
        <p:nvSpPr>
          <p:cNvPr id="84" name="TextBox 83"/>
          <p:cNvSpPr txBox="1"/>
          <p:nvPr/>
        </p:nvSpPr>
        <p:spPr>
          <a:xfrm>
            <a:off x="8979408"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GSTIN format, duplicate GST numbering under Rule 46(b), HSN tax match, MSME s.43B(h)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04</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D E A   A N D   A P P R O A C H</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Change the unit of analysis, and the fraud becomes visible.</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04 / 07</a:t>
            </a:r>
          </a:p>
        </p:txBody>
      </p:sp>
      <p:sp>
        <p:nvSpPr>
          <p:cNvPr id="11" name="TextBox 10"/>
          <p:cNvSpPr txBox="1"/>
          <p:nvPr/>
        </p:nvSpPr>
        <p:spPr>
          <a:xfrm>
            <a:off x="658368" y="1901952"/>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 N E   R E C O R D   A T   A   T I M E</a:t>
            </a:r>
          </a:p>
        </p:txBody>
      </p:sp>
      <p:sp>
        <p:nvSpPr>
          <p:cNvPr id="12" name="Rectangle 11"/>
          <p:cNvSpPr/>
          <p:nvPr/>
        </p:nvSpPr>
        <p:spPr>
          <a:xfrm>
            <a:off x="658368" y="2212848"/>
            <a:ext cx="5029200" cy="1133856"/>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96112"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96112"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1</a:t>
            </a:r>
          </a:p>
        </p:txBody>
      </p:sp>
      <p:sp>
        <p:nvSpPr>
          <p:cNvPr id="15" name="TextBox 14"/>
          <p:cNvSpPr txBox="1"/>
          <p:nvPr/>
        </p:nvSpPr>
        <p:spPr>
          <a:xfrm>
            <a:off x="896112"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16" name="TextBox 15"/>
          <p:cNvSpPr txBox="1"/>
          <p:nvPr/>
        </p:nvSpPr>
        <p:spPr>
          <a:xfrm>
            <a:off x="896112"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17" name="Rectangle 16"/>
          <p:cNvSpPr/>
          <p:nvPr/>
        </p:nvSpPr>
        <p:spPr>
          <a:xfrm>
            <a:off x="1828800"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828800"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2</a:t>
            </a:r>
          </a:p>
        </p:txBody>
      </p:sp>
      <p:sp>
        <p:nvSpPr>
          <p:cNvPr id="19" name="TextBox 18"/>
          <p:cNvSpPr txBox="1"/>
          <p:nvPr/>
        </p:nvSpPr>
        <p:spPr>
          <a:xfrm>
            <a:off x="1828800"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0" name="TextBox 19"/>
          <p:cNvSpPr txBox="1"/>
          <p:nvPr/>
        </p:nvSpPr>
        <p:spPr>
          <a:xfrm>
            <a:off x="1828800"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1" name="Rectangle 20"/>
          <p:cNvSpPr/>
          <p:nvPr/>
        </p:nvSpPr>
        <p:spPr>
          <a:xfrm>
            <a:off x="2761488"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761488"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3</a:t>
            </a:r>
          </a:p>
        </p:txBody>
      </p:sp>
      <p:sp>
        <p:nvSpPr>
          <p:cNvPr id="23" name="TextBox 22"/>
          <p:cNvSpPr txBox="1"/>
          <p:nvPr/>
        </p:nvSpPr>
        <p:spPr>
          <a:xfrm>
            <a:off x="2761488"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4" name="TextBox 23"/>
          <p:cNvSpPr txBox="1"/>
          <p:nvPr/>
        </p:nvSpPr>
        <p:spPr>
          <a:xfrm>
            <a:off x="2761488"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5" name="Rectangle 24"/>
          <p:cNvSpPr/>
          <p:nvPr/>
        </p:nvSpPr>
        <p:spPr>
          <a:xfrm>
            <a:off x="3694176"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694176"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4</a:t>
            </a:r>
          </a:p>
        </p:txBody>
      </p:sp>
      <p:sp>
        <p:nvSpPr>
          <p:cNvPr id="27" name="TextBox 26"/>
          <p:cNvSpPr txBox="1"/>
          <p:nvPr/>
        </p:nvSpPr>
        <p:spPr>
          <a:xfrm>
            <a:off x="3694176"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8" name="TextBox 27"/>
          <p:cNvSpPr txBox="1"/>
          <p:nvPr/>
        </p:nvSpPr>
        <p:spPr>
          <a:xfrm>
            <a:off x="3694176"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9" name="Rectangle 28"/>
          <p:cNvSpPr/>
          <p:nvPr/>
        </p:nvSpPr>
        <p:spPr>
          <a:xfrm>
            <a:off x="4626864"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626864"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5</a:t>
            </a:r>
          </a:p>
        </p:txBody>
      </p:sp>
      <p:sp>
        <p:nvSpPr>
          <p:cNvPr id="31" name="TextBox 30"/>
          <p:cNvSpPr txBox="1"/>
          <p:nvPr/>
        </p:nvSpPr>
        <p:spPr>
          <a:xfrm>
            <a:off x="4626864"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32" name="TextBox 31"/>
          <p:cNvSpPr txBox="1"/>
          <p:nvPr/>
        </p:nvSpPr>
        <p:spPr>
          <a:xfrm>
            <a:off x="4626864"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33" name="TextBox 32"/>
          <p:cNvSpPr txBox="1"/>
          <p:nvPr/>
        </p:nvSpPr>
        <p:spPr>
          <a:xfrm>
            <a:off x="658368" y="3511296"/>
            <a:ext cx="5029200" cy="274320"/>
          </a:xfrm>
          <a:prstGeom prst="rect">
            <a:avLst/>
          </a:prstGeom>
          <a:noFill/>
        </p:spPr>
        <p:txBody>
          <a:bodyPr wrap="square" lIns="0" rIns="0" tIns="0" bIns="0" anchor="t">
            <a:spAutoFit/>
          </a:bodyPr>
          <a:lstStyle/>
          <a:p>
            <a:pPr algn="l">
              <a:lnSpc>
                <a:spcPct val="130000"/>
              </a:lnSpc>
              <a:spcAft>
                <a:spcPts val="0"/>
              </a:spcAft>
            </a:pPr>
            <a:r>
              <a:rPr sz="950" b="0">
                <a:solidFill>
                  <a:srgbClr val="A8A498"/>
                </a:solidFill>
                <a:latin typeface="Segoe UI"/>
              </a:rPr>
              <a:t>Every one is below the ₹50,000 threshold. Every one is correctly approved. Nothing fires.</a:t>
            </a:r>
          </a:p>
        </p:txBody>
      </p:sp>
      <p:sp>
        <p:nvSpPr>
          <p:cNvPr id="34" name="TextBox 33"/>
          <p:cNvSpPr txBox="1"/>
          <p:nvPr/>
        </p:nvSpPr>
        <p:spPr>
          <a:xfrm>
            <a:off x="658368" y="4023360"/>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 H E   R E L A T I O N S H I P   B E T W E E N   T H E M</a:t>
            </a:r>
          </a:p>
        </p:txBody>
      </p:sp>
      <p:sp>
        <p:nvSpPr>
          <p:cNvPr id="35" name="Rectangle 34"/>
          <p:cNvSpPr/>
          <p:nvPr/>
        </p:nvSpPr>
        <p:spPr>
          <a:xfrm>
            <a:off x="658368" y="4334256"/>
            <a:ext cx="5029200" cy="1371600"/>
          </a:xfrm>
          <a:prstGeom prst="rect">
            <a:avLst/>
          </a:prstGeom>
          <a:solidFill>
            <a:srgbClr val="121417"/>
          </a:solid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896112"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6112"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1</a:t>
            </a:r>
          </a:p>
        </p:txBody>
      </p:sp>
      <p:cxnSp>
        <p:nvCxnSpPr>
          <p:cNvPr id="38" name="Connector 37"/>
          <p:cNvCxnSpPr/>
          <p:nvPr/>
        </p:nvCxnSpPr>
        <p:spPr>
          <a:xfrm>
            <a:off x="1645919"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1828800"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828800"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2</a:t>
            </a:r>
          </a:p>
        </p:txBody>
      </p:sp>
      <p:cxnSp>
        <p:nvCxnSpPr>
          <p:cNvPr id="41" name="Connector 40"/>
          <p:cNvCxnSpPr/>
          <p:nvPr/>
        </p:nvCxnSpPr>
        <p:spPr>
          <a:xfrm>
            <a:off x="2578608"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761488"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761488"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3</a:t>
            </a:r>
          </a:p>
        </p:txBody>
      </p:sp>
      <p:cxnSp>
        <p:nvCxnSpPr>
          <p:cNvPr id="44" name="Connector 43"/>
          <p:cNvCxnSpPr/>
          <p:nvPr/>
        </p:nvCxnSpPr>
        <p:spPr>
          <a:xfrm>
            <a:off x="3511296"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694176"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694176"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4</a:t>
            </a:r>
          </a:p>
        </p:txBody>
      </p:sp>
      <p:cxnSp>
        <p:nvCxnSpPr>
          <p:cNvPr id="47" name="Connector 46"/>
          <p:cNvCxnSpPr/>
          <p:nvPr/>
        </p:nvCxnSpPr>
        <p:spPr>
          <a:xfrm>
            <a:off x="4443984"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626864"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26864"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5</a:t>
            </a:r>
          </a:p>
        </p:txBody>
      </p:sp>
      <p:sp>
        <p:nvSpPr>
          <p:cNvPr id="50" name="TextBox 49"/>
          <p:cNvSpPr txBox="1"/>
          <p:nvPr/>
        </p:nvSpPr>
        <p:spPr>
          <a:xfrm>
            <a:off x="896112" y="5029200"/>
            <a:ext cx="4572000"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Consolas"/>
              </a:rPr>
              <a:t>one vendor · one 5-day window · each 96% of the limit</a:t>
            </a:r>
          </a:p>
        </p:txBody>
      </p:sp>
      <p:sp>
        <p:nvSpPr>
          <p:cNvPr id="51" name="TextBox 50"/>
          <p:cNvSpPr txBox="1"/>
          <p:nvPr/>
        </p:nvSpPr>
        <p:spPr>
          <a:xfrm>
            <a:off x="896112" y="5285232"/>
            <a:ext cx="4572000" cy="310896"/>
          </a:xfrm>
          <a:prstGeom prst="rect">
            <a:avLst/>
          </a:prstGeom>
          <a:noFill/>
        </p:spPr>
        <p:txBody>
          <a:bodyPr wrap="square" lIns="0" rIns="0" tIns="0" bIns="0" anchor="t">
            <a:spAutoFit/>
          </a:bodyPr>
          <a:lstStyle/>
          <a:p>
            <a:pPr algn="l">
              <a:lnSpc>
                <a:spcPct val="128000"/>
              </a:lnSpc>
              <a:spcAft>
                <a:spcPts val="0"/>
              </a:spcAft>
            </a:pPr>
            <a:r>
              <a:rPr sz="1250" b="0">
                <a:solidFill>
                  <a:srgbClr val="C4503A"/>
                </a:solidFill>
                <a:latin typeface="Consolas"/>
              </a:rPr>
              <a:t>₹2,40,000 routed around director approval</a:t>
            </a:r>
          </a:p>
        </p:txBody>
      </p:sp>
      <p:cxnSp>
        <p:nvCxnSpPr>
          <p:cNvPr id="52" name="Connector 51"/>
          <p:cNvCxnSpPr/>
          <p:nvPr/>
        </p:nvCxnSpPr>
        <p:spPr>
          <a:xfrm>
            <a:off x="6035040" y="1901952"/>
            <a:ext cx="0" cy="384048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00800" y="1901952"/>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54" name="TextBox 53"/>
          <p:cNvSpPr txBox="1"/>
          <p:nvPr/>
        </p:nvSpPr>
        <p:spPr>
          <a:xfrm>
            <a:off x="6858000" y="1901952"/>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Resolution before comparison</a:t>
            </a:r>
          </a:p>
        </p:txBody>
      </p:sp>
      <p:sp>
        <p:nvSpPr>
          <p:cNvPr id="55" name="TextBox 54"/>
          <p:cNvSpPr txBox="1"/>
          <p:nvPr/>
        </p:nvSpPr>
        <p:spPr>
          <a:xfrm>
            <a:off x="6858000" y="2212848"/>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Vendor aliases and SKU variants are normalised first. “A4 PAPER 75GSM RM” and “Paper, A4, white, 75gsm” become one catalogue item before a single price is compared. Skip this and you are comparing strings and reporting noise.</a:t>
            </a:r>
          </a:p>
        </p:txBody>
      </p:sp>
      <p:sp>
        <p:nvSpPr>
          <p:cNvPr id="56" name="TextBox 55"/>
          <p:cNvSpPr txBox="1"/>
          <p:nvPr/>
        </p:nvSpPr>
        <p:spPr>
          <a:xfrm>
            <a:off x="6400800" y="3200400"/>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02</a:t>
            </a:r>
          </a:p>
        </p:txBody>
      </p:sp>
      <p:sp>
        <p:nvSpPr>
          <p:cNvPr id="57" name="TextBox 56"/>
          <p:cNvSpPr txBox="1"/>
          <p:nvPr/>
        </p:nvSpPr>
        <p:spPr>
          <a:xfrm>
            <a:off x="6858000" y="3200400"/>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Deterministic scoring, language-only LLM</a:t>
            </a:r>
          </a:p>
        </p:txBody>
      </p:sp>
      <p:sp>
        <p:nvSpPr>
          <p:cNvPr id="58" name="TextBox 57"/>
          <p:cNvSpPr txBox="1"/>
          <p:nvPr/>
        </p:nvSpPr>
        <p:spPr>
          <a:xfrm>
            <a:off x="6858000" y="3511296"/>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Rules and statistics compute every number. The model is confined to explanation, drafting and translation — the property that decides whether software like this is ever actually deployed.</a:t>
            </a:r>
          </a:p>
        </p:txBody>
      </p:sp>
      <p:sp>
        <p:nvSpPr>
          <p:cNvPr id="59" name="TextBox 58"/>
          <p:cNvSpPr txBox="1"/>
          <p:nvPr/>
        </p:nvSpPr>
        <p:spPr>
          <a:xfrm>
            <a:off x="6400800" y="4498848"/>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03</a:t>
            </a:r>
          </a:p>
        </p:txBody>
      </p:sp>
      <p:sp>
        <p:nvSpPr>
          <p:cNvPr id="60" name="TextBox 59"/>
          <p:cNvSpPr txBox="1"/>
          <p:nvPr/>
        </p:nvSpPr>
        <p:spPr>
          <a:xfrm>
            <a:off x="6858000" y="4498848"/>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Ground truth we planted ourselves</a:t>
            </a:r>
          </a:p>
        </p:txBody>
      </p:sp>
      <p:sp>
        <p:nvSpPr>
          <p:cNvPr id="61" name="TextBox 60"/>
          <p:cNvSpPr txBox="1"/>
          <p:nvPr/>
        </p:nvSpPr>
        <p:spPr>
          <a:xfrm>
            <a:off x="6858000" y="4809744"/>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A procurement fraud simulator injects 150 labelled frauds of known type into realistic spend. The engine then runs blind. That is what converts every claim on these slides from an assertion into a measurement.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05</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S Y S T E M   A R C H I T E C T U R E   A N D   W O R K F L O W</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Four bands. A determinism boundary. One typed contract.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05 / 07</a:t>
            </a:r>
          </a:p>
        </p:txBody>
      </p:sp>
      <p:sp>
        <p:nvSpPr>
          <p:cNvPr id="11" name="Rectangle 10"/>
          <p:cNvSpPr/>
          <p:nvPr/>
        </p:nvSpPr>
        <p:spPr>
          <a:xfrm>
            <a:off x="658368" y="1901952"/>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41148" cy="84124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77824" y="2029968"/>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6B8394"/>
                </a:solidFill>
                <a:latin typeface="Consolas"/>
              </a:rPr>
              <a:t>I N G E S T</a:t>
            </a:r>
          </a:p>
        </p:txBody>
      </p:sp>
      <p:sp>
        <p:nvSpPr>
          <p:cNvPr id="14" name="Rectangle 13"/>
          <p:cNvSpPr/>
          <p:nvPr/>
        </p:nvSpPr>
        <p:spPr>
          <a:xfrm>
            <a:off x="22311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860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CSV</a:t>
            </a:r>
          </a:p>
        </p:txBody>
      </p:sp>
      <p:sp>
        <p:nvSpPr>
          <p:cNvPr id="16" name="Rectangle 15"/>
          <p:cNvSpPr/>
          <p:nvPr/>
        </p:nvSpPr>
        <p:spPr>
          <a:xfrm>
            <a:off x="343448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48935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Excel</a:t>
            </a:r>
          </a:p>
        </p:txBody>
      </p:sp>
      <p:sp>
        <p:nvSpPr>
          <p:cNvPr id="18" name="Rectangle 17"/>
          <p:cNvSpPr/>
          <p:nvPr/>
        </p:nvSpPr>
        <p:spPr>
          <a:xfrm>
            <a:off x="46378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927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PDF</a:t>
            </a:r>
          </a:p>
        </p:txBody>
      </p:sp>
      <p:sp>
        <p:nvSpPr>
          <p:cNvPr id="20" name="Rectangle 19"/>
          <p:cNvSpPr/>
          <p:nvPr/>
        </p:nvSpPr>
        <p:spPr>
          <a:xfrm>
            <a:off x="584118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9605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Scanned image</a:t>
            </a:r>
          </a:p>
        </p:txBody>
      </p:sp>
      <p:sp>
        <p:nvSpPr>
          <p:cNvPr id="22" name="Rectangle 21"/>
          <p:cNvSpPr/>
          <p:nvPr/>
        </p:nvSpPr>
        <p:spPr>
          <a:xfrm>
            <a:off x="704453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09940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Email attachment</a:t>
            </a:r>
          </a:p>
        </p:txBody>
      </p:sp>
      <p:sp>
        <p:nvSpPr>
          <p:cNvPr id="24" name="TextBox 23"/>
          <p:cNvSpPr txBox="1"/>
          <p:nvPr/>
        </p:nvSpPr>
        <p:spPr>
          <a:xfrm>
            <a:off x="877824" y="2560320"/>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25" name="TextBox 24"/>
          <p:cNvSpPr txBox="1"/>
          <p:nvPr/>
        </p:nvSpPr>
        <p:spPr>
          <a:xfrm>
            <a:off x="2231136" y="2560320"/>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schema mapper — any column naming survives contact</a:t>
            </a:r>
          </a:p>
        </p:txBody>
      </p:sp>
      <p:cxnSp>
        <p:nvCxnSpPr>
          <p:cNvPr id="26" name="Connector 25"/>
          <p:cNvCxnSpPr/>
          <p:nvPr/>
        </p:nvCxnSpPr>
        <p:spPr>
          <a:xfrm>
            <a:off x="1481328" y="2756916"/>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58368" y="2916936"/>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58368" y="2916936"/>
            <a:ext cx="41148" cy="841248"/>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77824" y="3044952"/>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A8705A"/>
                </a:solidFill>
                <a:latin typeface="Consolas"/>
              </a:rPr>
              <a:t>R E S O L V E</a:t>
            </a:r>
          </a:p>
        </p:txBody>
      </p:sp>
      <p:sp>
        <p:nvSpPr>
          <p:cNvPr id="30" name="Rectangle 29"/>
          <p:cNvSpPr/>
          <p:nvPr/>
        </p:nvSpPr>
        <p:spPr>
          <a:xfrm>
            <a:off x="2231136"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286000"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Vendor entity resolution</a:t>
            </a:r>
          </a:p>
        </p:txBody>
      </p:sp>
      <p:sp>
        <p:nvSpPr>
          <p:cNvPr id="32" name="Rectangle 31"/>
          <p:cNvSpPr/>
          <p:nvPr/>
        </p:nvSpPr>
        <p:spPr>
          <a:xfrm>
            <a:off x="4236720"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1583"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SKU + unit normalisation</a:t>
            </a:r>
          </a:p>
        </p:txBody>
      </p:sp>
      <p:sp>
        <p:nvSpPr>
          <p:cNvPr id="34" name="Rectangle 33"/>
          <p:cNvSpPr/>
          <p:nvPr/>
        </p:nvSpPr>
        <p:spPr>
          <a:xfrm>
            <a:off x="6242304"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97167"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Currency &amp; tax alignment</a:t>
            </a:r>
          </a:p>
        </p:txBody>
      </p:sp>
      <p:sp>
        <p:nvSpPr>
          <p:cNvPr id="36" name="TextBox 35"/>
          <p:cNvSpPr txBox="1"/>
          <p:nvPr/>
        </p:nvSpPr>
        <p:spPr>
          <a:xfrm>
            <a:off x="877824" y="3575304"/>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37" name="TextBox 36"/>
          <p:cNvSpPr txBox="1"/>
          <p:nvPr/>
        </p:nvSpPr>
        <p:spPr>
          <a:xfrm>
            <a:off x="2231136" y="3575304"/>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The prerequisite nobody builds — without it, no comparison is valid</a:t>
            </a:r>
          </a:p>
        </p:txBody>
      </p:sp>
      <p:cxnSp>
        <p:nvCxnSpPr>
          <p:cNvPr id="38" name="Connector 37"/>
          <p:cNvCxnSpPr/>
          <p:nvPr/>
        </p:nvCxnSpPr>
        <p:spPr>
          <a:xfrm>
            <a:off x="1481328" y="3771900"/>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58368" y="3931920"/>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58368" y="3931920"/>
            <a:ext cx="41148" cy="841248"/>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77824" y="4059936"/>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4503A"/>
                </a:solidFill>
                <a:latin typeface="Consolas"/>
              </a:rPr>
              <a:t>D E T E C T</a:t>
            </a:r>
          </a:p>
        </p:txBody>
      </p:sp>
      <p:sp>
        <p:nvSpPr>
          <p:cNvPr id="42" name="Rectangle 41"/>
          <p:cNvSpPr/>
          <p:nvPr/>
        </p:nvSpPr>
        <p:spPr>
          <a:xfrm>
            <a:off x="2231136"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286000"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Rules engine (deterministic)</a:t>
            </a:r>
          </a:p>
        </p:txBody>
      </p:sp>
      <p:sp>
        <p:nvSpPr>
          <p:cNvPr id="44" name="Rectangle 43"/>
          <p:cNvSpPr/>
          <p:nvPr/>
        </p:nvSpPr>
        <p:spPr>
          <a:xfrm>
            <a:off x="4236720"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291583"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Robust z · Benford</a:t>
            </a:r>
          </a:p>
        </p:txBody>
      </p:sp>
      <p:sp>
        <p:nvSpPr>
          <p:cNvPr id="46" name="Rectangle 45"/>
          <p:cNvSpPr/>
          <p:nvPr/>
        </p:nvSpPr>
        <p:spPr>
          <a:xfrm>
            <a:off x="6242304"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297167"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Isolation Forest</a:t>
            </a:r>
          </a:p>
        </p:txBody>
      </p:sp>
      <p:sp>
        <p:nvSpPr>
          <p:cNvPr id="48" name="TextBox 47"/>
          <p:cNvSpPr txBox="1"/>
          <p:nvPr/>
        </p:nvSpPr>
        <p:spPr>
          <a:xfrm>
            <a:off x="877824" y="4590288"/>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49" name="TextBox 48"/>
          <p:cNvSpPr txBox="1"/>
          <p:nvPr/>
        </p:nvSpPr>
        <p:spPr>
          <a:xfrm>
            <a:off x="2231136" y="4590288"/>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42 detectors, plugin architecture, each emits a typed Finding</a:t>
            </a:r>
          </a:p>
        </p:txBody>
      </p:sp>
      <p:cxnSp>
        <p:nvCxnSpPr>
          <p:cNvPr id="50" name="Connector 49"/>
          <p:cNvCxnSpPr/>
          <p:nvPr/>
        </p:nvCxnSpPr>
        <p:spPr>
          <a:xfrm>
            <a:off x="1481328" y="4786884"/>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658368" y="4946904"/>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658368" y="4946904"/>
            <a:ext cx="4114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877824" y="5074920"/>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Consolas"/>
              </a:rPr>
              <a:t>A C T</a:t>
            </a:r>
          </a:p>
        </p:txBody>
      </p:sp>
      <p:sp>
        <p:nvSpPr>
          <p:cNvPr id="54" name="Rectangle 53"/>
          <p:cNvSpPr/>
          <p:nvPr/>
        </p:nvSpPr>
        <p:spPr>
          <a:xfrm>
            <a:off x="2231136"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2286000"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Risk scoring</a:t>
            </a:r>
          </a:p>
        </p:txBody>
      </p:sp>
      <p:sp>
        <p:nvSpPr>
          <p:cNvPr id="56" name="Rectangle 55"/>
          <p:cNvSpPr/>
          <p:nvPr/>
        </p:nvSpPr>
        <p:spPr>
          <a:xfrm>
            <a:off x="3735324"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790187"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Savings quantification</a:t>
            </a:r>
          </a:p>
        </p:txBody>
      </p:sp>
      <p:sp>
        <p:nvSpPr>
          <p:cNvPr id="58" name="Rectangle 57"/>
          <p:cNvSpPr/>
          <p:nvPr/>
        </p:nvSpPr>
        <p:spPr>
          <a:xfrm>
            <a:off x="5239512"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5294376"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Recommended action</a:t>
            </a:r>
          </a:p>
        </p:txBody>
      </p:sp>
      <p:sp>
        <p:nvSpPr>
          <p:cNvPr id="60" name="Rectangle 59"/>
          <p:cNvSpPr/>
          <p:nvPr/>
        </p:nvSpPr>
        <p:spPr>
          <a:xfrm>
            <a:off x="6743700"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6798564"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Drafted artifact</a:t>
            </a:r>
          </a:p>
        </p:txBody>
      </p:sp>
      <p:sp>
        <p:nvSpPr>
          <p:cNvPr id="62" name="TextBox 61"/>
          <p:cNvSpPr txBox="1"/>
          <p:nvPr/>
        </p:nvSpPr>
        <p:spPr>
          <a:xfrm>
            <a:off x="877824" y="5605272"/>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63" name="TextBox 62"/>
          <p:cNvSpPr txBox="1"/>
          <p:nvPr/>
        </p:nvSpPr>
        <p:spPr>
          <a:xfrm>
            <a:off x="2231136" y="5605272"/>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writes the language. It never writes the numbers</a:t>
            </a:r>
          </a:p>
        </p:txBody>
      </p:sp>
      <p:cxnSp>
        <p:nvCxnSpPr>
          <p:cNvPr id="64" name="Connector 63"/>
          <p:cNvCxnSpPr/>
          <p:nvPr/>
        </p:nvCxnSpPr>
        <p:spPr>
          <a:xfrm>
            <a:off x="493776" y="3845052"/>
            <a:ext cx="8028432" cy="0"/>
          </a:xfrm>
          <a:prstGeom prst="line">
            <a:avLst/>
          </a:prstGeom>
          <a:ln w="12700">
            <a:solidFill>
              <a:srgbClr val="5B8F6E"/>
            </a:solidFill>
            <a:prstDash val="dash"/>
          </a:ln>
          <a:effectLst/>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6071616" y="3630168"/>
            <a:ext cx="2286000" cy="219456"/>
          </a:xfrm>
          <a:prstGeom prst="rect">
            <a:avLst/>
          </a:prstGeom>
          <a:noFill/>
        </p:spPr>
        <p:txBody>
          <a:bodyPr wrap="square" lIns="0" rIns="0" tIns="0" bIns="0" anchor="t">
            <a:spAutoFit/>
          </a:bodyPr>
          <a:lstStyle/>
          <a:p>
            <a:pPr algn="r">
              <a:lnSpc>
                <a:spcPct val="128000"/>
              </a:lnSpc>
              <a:spcAft>
                <a:spcPts val="0"/>
              </a:spcAft>
            </a:pPr>
            <a:r>
              <a:rPr sz="800" b="0">
                <a:solidFill>
                  <a:srgbClr val="5B8F6E"/>
                </a:solidFill>
                <a:latin typeface="Consolas"/>
              </a:rPr>
              <a:t>determinism boundary</a:t>
            </a:r>
          </a:p>
        </p:txBody>
      </p:sp>
      <p:sp>
        <p:nvSpPr>
          <p:cNvPr id="66" name="TextBox 65"/>
          <p:cNvSpPr txBox="1"/>
          <p:nvPr/>
        </p:nvSpPr>
        <p:spPr>
          <a:xfrm>
            <a:off x="8741664" y="1901952"/>
            <a:ext cx="2926080" cy="274320"/>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I N D I N G   C O N T R A C T</a:t>
            </a:r>
          </a:p>
        </p:txBody>
      </p:sp>
      <p:sp>
        <p:nvSpPr>
          <p:cNvPr id="67" name="Rectangle 66"/>
          <p:cNvSpPr/>
          <p:nvPr/>
        </p:nvSpPr>
        <p:spPr>
          <a:xfrm>
            <a:off x="8741664" y="2176272"/>
            <a:ext cx="2724912" cy="243230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887968" y="2286000"/>
            <a:ext cx="2468880" cy="2194560"/>
          </a:xfrm>
          <a:prstGeom prst="rect">
            <a:avLst/>
          </a:prstGeom>
          <a:noFill/>
        </p:spPr>
        <p:txBody>
          <a:bodyPr wrap="square" lIns="0" rIns="0" tIns="0" bIns="0" anchor="t">
            <a:spAutoFit/>
          </a:bodyPr>
          <a:lstStyle/>
          <a:p>
            <a:pPr algn="l">
              <a:lnSpc>
                <a:spcPct val="122000"/>
              </a:lnSpc>
              <a:spcAft>
                <a:spcPts val="0"/>
              </a:spcAft>
            </a:pPr>
            <a:r>
              <a:rPr sz="700" b="0">
                <a:solidFill>
                  <a:srgbClr val="A8A498"/>
                </a:solidFill>
                <a:latin typeface="Consolas"/>
              </a:rPr>
              <a:t>interface Finding {</a:t>
            </a:r>
            <a:br/>
            <a:r>
              <a:rPr sz="700" b="0">
                <a:solidFill>
                  <a:srgbClr val="A8A498"/>
                </a:solidFill>
                <a:latin typeface="Consolas"/>
              </a:rPr>
              <a:t>  id: string</a:t>
            </a:r>
            <a:br/>
            <a:r>
              <a:rPr sz="700" b="0">
                <a:solidFill>
                  <a:srgbClr val="A8A498"/>
                </a:solidFill>
                <a:latin typeface="Consolas"/>
              </a:rPr>
              <a:t>  ruleId: string</a:t>
            </a:r>
            <a:br/>
            <a:r>
              <a:rPr sz="700" b="0">
                <a:solidFill>
                  <a:srgbClr val="A8A498"/>
                </a:solidFill>
                <a:latin typeface="Consolas"/>
              </a:rPr>
              <a:t>  pillar: Pillar</a:t>
            </a:r>
            <a:br/>
            <a:r>
              <a:rPr sz="700" b="0">
                <a:solidFill>
                  <a:srgbClr val="A8A498"/>
                </a:solidFill>
                <a:latin typeface="Consolas"/>
              </a:rPr>
              <a:t>  severity: Severity</a:t>
            </a:r>
            <a:br/>
            <a:r>
              <a:rPr sz="700" b="0">
                <a:solidFill>
                  <a:srgbClr val="A8A498"/>
                </a:solidFill>
                <a:latin typeface="Consolas"/>
              </a:rPr>
              <a:t>  entities: { invoiceIds,</a:t>
            </a:r>
            <a:br/>
            <a:r>
              <a:rPr sz="700" b="0">
                <a:solidFill>
                  <a:srgbClr val="A8A498"/>
                </a:solidFill>
                <a:latin typeface="Consolas"/>
              </a:rPr>
              <a:t>    vendorId, poIds? }</a:t>
            </a:r>
            <a:br/>
            <a:r>
              <a:rPr sz="700" b="0">
                <a:solidFill>
                  <a:srgbClr val="A8A498"/>
                </a:solidFill>
                <a:latin typeface="Consolas"/>
              </a:rPr>
              <a:t>  evidence: Record&lt;</a:t>
            </a:r>
            <a:br/>
            <a:r>
              <a:rPr sz="700" b="0">
                <a:solidFill>
                  <a:srgbClr val="A8A498"/>
                </a:solidFill>
                <a:latin typeface="Consolas"/>
              </a:rPr>
              <a:t>    string, unknown&gt;</a:t>
            </a:r>
            <a:br/>
            <a:r>
              <a:rPr sz="700" b="0">
                <a:solidFill>
                  <a:srgbClr val="A8A498"/>
                </a:solidFill>
                <a:latin typeface="Consolas"/>
              </a:rPr>
              <a:t>  moneyAtRisk: number</a:t>
            </a:r>
            <a:br/>
            <a:r>
              <a:rPr sz="700" b="0">
                <a:solidFill>
                  <a:srgbClr val="A8A498"/>
                </a:solidFill>
                <a:latin typeface="Consolas"/>
              </a:rPr>
              <a:t>  confidence: number</a:t>
            </a:r>
            <a:br/>
            <a:r>
              <a:rPr sz="700" b="0">
                <a:solidFill>
                  <a:srgbClr val="A8A498"/>
                </a:solidFill>
                <a:latin typeface="Consolas"/>
              </a:rPr>
              <a:t>  explanation: string</a:t>
            </a:r>
            <a:br/>
            <a:r>
              <a:rPr sz="700" b="0">
                <a:solidFill>
                  <a:srgbClr val="A8A498"/>
                </a:solidFill>
                <a:latin typeface="Consolas"/>
              </a:rPr>
              <a:t>  recommendedAction: Action</a:t>
            </a:r>
            <a:br/>
            <a:r>
              <a:rPr sz="700" b="0">
                <a:solidFill>
                  <a:srgbClr val="A8A498"/>
                </a:solidFill>
                <a:latin typeface="Consolas"/>
              </a:rPr>
              <a:t>  scoreContribution:</a:t>
            </a:r>
            <a:br/>
            <a:r>
              <a:rPr sz="700" b="0">
                <a:solidFill>
                  <a:srgbClr val="A8A498"/>
                </a:solidFill>
                <a:latin typeface="Consolas"/>
              </a:rPr>
              <a:t>    { component, points }[]</a:t>
            </a:r>
            <a:br/>
            <a:r>
              <a:rPr sz="700" b="0">
                <a:solidFill>
                  <a:srgbClr val="A8A498"/>
                </a:solidFill>
                <a:latin typeface="Consolas"/>
              </a:rPr>
              <a:t>}</a:t>
            </a:r>
          </a:p>
        </p:txBody>
      </p:sp>
      <p:sp>
        <p:nvSpPr>
          <p:cNvPr id="69" name="TextBox 68"/>
          <p:cNvSpPr txBox="1"/>
          <p:nvPr/>
        </p:nvSpPr>
        <p:spPr>
          <a:xfrm>
            <a:off x="8741664" y="4736592"/>
            <a:ext cx="2724912" cy="822960"/>
          </a:xfrm>
          <a:prstGeom prst="rect">
            <a:avLst/>
          </a:prstGeom>
          <a:noFill/>
        </p:spPr>
        <p:txBody>
          <a:bodyPr wrap="square" lIns="0" rIns="0" tIns="0" bIns="0" anchor="t">
            <a:spAutoFit/>
          </a:bodyPr>
          <a:lstStyle/>
          <a:p>
            <a:pPr algn="l">
              <a:lnSpc>
                <a:spcPct val="134000"/>
              </a:lnSpc>
              <a:spcAft>
                <a:spcPts val="0"/>
              </a:spcAft>
            </a:pPr>
            <a:r>
              <a:rPr sz="800" b="0">
                <a:solidFill>
                  <a:srgbClr val="6E7079"/>
                </a:solidFill>
                <a:latin typeface="Segoe UI"/>
              </a:rPr>
              <a:t>Every detector is a plugin implementing run(ctx) =&gt; Finding[]. A new rule takes five minutes — which is why we can take a suggestion from this panel and demonstrate it before the session ends.</a:t>
            </a:r>
          </a:p>
        </p:txBody>
      </p:sp>
      <p:sp>
        <p:nvSpPr>
          <p:cNvPr id="70" name="TextBox 69"/>
          <p:cNvSpPr txBox="1"/>
          <p:nvPr/>
        </p:nvSpPr>
        <p:spPr>
          <a:xfrm>
            <a:off x="658368" y="5596128"/>
            <a:ext cx="10881360" cy="274320"/>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50,121 invoices in 12.5 seconds</a:t>
            </a:r>
            <a:r>
              <a:rPr sz="1000" b="0">
                <a:solidFill>
                  <a:srgbClr val="A8A498"/>
                </a:solidFill>
                <a:latin typeface="Segoe UI"/>
              </a:rPr>
              <a:t>  ·  ~4,000 documents a second, near-linear from 1,000 to 50,000. The engine is not the bottleneck; getting the data out of the ERP is.</a:t>
            </a:r>
          </a:p>
        </p:txBody>
      </p:sp>
      <p:sp>
        <p:nvSpPr>
          <p:cNvPr id="71" name="TextBox 70"/>
          <p:cNvSpPr txBox="1"/>
          <p:nvPr/>
        </p:nvSpPr>
        <p:spPr>
          <a:xfrm>
            <a:off x="658368" y="5907024"/>
            <a:ext cx="10881360" cy="274320"/>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The demo runs fully offline. </a:t>
            </a:r>
            <a:r>
              <a:rPr sz="1000" b="0">
                <a:solidFill>
                  <a:srgbClr val="A8A498"/>
                </a:solidFill>
                <a:latin typeface="Segoe UI"/>
              </a:rPr>
              <a:t>Bundled client-side, seeded, byte-identical on every reload — it cannot fail on venue wifi. The engine is live; only the ‘analyse your own data’ panel calls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06</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N N O V A T I O N   A N D   E X I S T I N G   S O L U T I O N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Written for a judge who has seen four similar demos today.</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06 / 07</a:t>
            </a:r>
          </a:p>
        </p:txBody>
      </p:sp>
      <p:sp>
        <p:nvSpPr>
          <p:cNvPr id="11" name="TextBox 10"/>
          <p:cNvSpPr txBox="1"/>
          <p:nvPr/>
        </p:nvSpPr>
        <p:spPr>
          <a:xfrm>
            <a:off x="2532887" y="1901952"/>
            <a:ext cx="237744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T H E   O B V I O U S   B U I L D</a:t>
            </a:r>
          </a:p>
        </p:txBody>
      </p:sp>
      <p:sp>
        <p:nvSpPr>
          <p:cNvPr id="12" name="TextBox 11"/>
          <p:cNvSpPr txBox="1"/>
          <p:nvPr/>
        </p:nvSpPr>
        <p:spPr>
          <a:xfrm>
            <a:off x="5093207" y="1901952"/>
            <a:ext cx="2743200" cy="219456"/>
          </a:xfrm>
          <a:prstGeom prst="rect">
            <a:avLst/>
          </a:prstGeom>
          <a:noFill/>
        </p:spPr>
        <p:txBody>
          <a:bodyPr wrap="square" lIns="0" rIns="0" tIns="0" bIns="0" anchor="t">
            <a:spAutoFit/>
          </a:bodyPr>
          <a:lstStyle/>
          <a:p>
            <a:pPr algn="l">
              <a:lnSpc>
                <a:spcPct val="128000"/>
              </a:lnSpc>
              <a:spcAft>
                <a:spcPts val="0"/>
              </a:spcAft>
            </a:pPr>
            <a:r>
              <a:rPr sz="800" b="0">
                <a:solidFill>
                  <a:srgbClr val="C9A227"/>
                </a:solidFill>
                <a:latin typeface="Consolas"/>
              </a:rPr>
              <a:t>L E D G E R L E N S</a:t>
            </a:r>
          </a:p>
        </p:txBody>
      </p:sp>
      <p:cxnSp>
        <p:nvCxnSpPr>
          <p:cNvPr id="13" name="Connector 12"/>
          <p:cNvCxnSpPr/>
          <p:nvPr/>
        </p:nvCxnSpPr>
        <p:spPr>
          <a:xfrm>
            <a:off x="658368" y="2176272"/>
            <a:ext cx="6903720"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5020055" y="2231136"/>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 y="233172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Unit of analysis</a:t>
            </a:r>
          </a:p>
        </p:txBody>
      </p:sp>
      <p:sp>
        <p:nvSpPr>
          <p:cNvPr id="16" name="TextBox 15"/>
          <p:cNvSpPr txBox="1"/>
          <p:nvPr/>
        </p:nvSpPr>
        <p:spPr>
          <a:xfrm>
            <a:off x="2532887" y="233172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record at a time</a:t>
            </a:r>
          </a:p>
        </p:txBody>
      </p:sp>
      <p:sp>
        <p:nvSpPr>
          <p:cNvPr id="17" name="TextBox 16"/>
          <p:cNvSpPr txBox="1"/>
          <p:nvPr/>
        </p:nvSpPr>
        <p:spPr>
          <a:xfrm>
            <a:off x="5111495" y="233172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relationships across the whole corpus — the only place these frauds exist</a:t>
            </a:r>
          </a:p>
        </p:txBody>
      </p:sp>
      <p:cxnSp>
        <p:nvCxnSpPr>
          <p:cNvPr id="18" name="Connector 17"/>
          <p:cNvCxnSpPr/>
          <p:nvPr/>
        </p:nvCxnSpPr>
        <p:spPr>
          <a:xfrm>
            <a:off x="658368" y="273862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283921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Duplicate detection</a:t>
            </a:r>
          </a:p>
        </p:txBody>
      </p:sp>
      <p:sp>
        <p:nvSpPr>
          <p:cNvPr id="20" name="TextBox 19"/>
          <p:cNvSpPr txBox="1"/>
          <p:nvPr/>
        </p:nvSpPr>
        <p:spPr>
          <a:xfrm>
            <a:off x="2532887" y="283921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groupby(invoice_no).count() &gt; 1</a:t>
            </a:r>
          </a:p>
        </p:txBody>
      </p:sp>
      <p:sp>
        <p:nvSpPr>
          <p:cNvPr id="21" name="TextBox 20"/>
          <p:cNvSpPr txBox="1"/>
          <p:nvPr/>
        </p:nvSpPr>
        <p:spPr>
          <a:xfrm>
            <a:off x="5111495" y="283921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fuzzy · transposition-tolerant · cross-alias · windowed on amount and date</a:t>
            </a:r>
          </a:p>
        </p:txBody>
      </p:sp>
      <p:cxnSp>
        <p:nvCxnSpPr>
          <p:cNvPr id="22" name="Connector 21"/>
          <p:cNvCxnSpPr/>
          <p:nvPr/>
        </p:nvCxnSpPr>
        <p:spPr>
          <a:xfrm>
            <a:off x="658368" y="3246120"/>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020055" y="3246120"/>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8368" y="334670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Before comparing prices</a:t>
            </a:r>
          </a:p>
        </p:txBody>
      </p:sp>
      <p:sp>
        <p:nvSpPr>
          <p:cNvPr id="25" name="TextBox 24"/>
          <p:cNvSpPr txBox="1"/>
          <p:nvPr/>
        </p:nvSpPr>
        <p:spPr>
          <a:xfrm>
            <a:off x="2532887" y="334670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compares raw strings, silently wrong</a:t>
            </a:r>
          </a:p>
        </p:txBody>
      </p:sp>
      <p:sp>
        <p:nvSpPr>
          <p:cNvPr id="26" name="TextBox 25"/>
          <p:cNvSpPr txBox="1"/>
          <p:nvPr/>
        </p:nvSpPr>
        <p:spPr>
          <a:xfrm>
            <a:off x="5111495" y="334670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entity + SKU resolution first, or every price comparison is invalid</a:t>
            </a:r>
          </a:p>
        </p:txBody>
      </p:sp>
      <p:cxnSp>
        <p:nvCxnSpPr>
          <p:cNvPr id="27" name="Connector 26"/>
          <p:cNvCxnSpPr/>
          <p:nvPr/>
        </p:nvCxnSpPr>
        <p:spPr>
          <a:xfrm>
            <a:off x="658368" y="3753612"/>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58368" y="3854196"/>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a:t>
            </a:r>
          </a:p>
        </p:txBody>
      </p:sp>
      <p:sp>
        <p:nvSpPr>
          <p:cNvPr id="29" name="TextBox 28"/>
          <p:cNvSpPr txBox="1"/>
          <p:nvPr/>
        </p:nvSpPr>
        <p:spPr>
          <a:xfrm>
            <a:off x="2532887" y="3854196"/>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opaque weighted sum</a:t>
            </a:r>
          </a:p>
        </p:txBody>
      </p:sp>
      <p:sp>
        <p:nvSpPr>
          <p:cNvPr id="30" name="TextBox 29"/>
          <p:cNvSpPr txBox="1"/>
          <p:nvPr/>
        </p:nvSpPr>
        <p:spPr>
          <a:xfrm>
            <a:off x="5111495" y="3854196"/>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five decomposable pillars, live weights, every point traced to a rule</a:t>
            </a:r>
          </a:p>
        </p:txBody>
      </p:sp>
      <p:cxnSp>
        <p:nvCxnSpPr>
          <p:cNvPr id="31" name="Connector 30"/>
          <p:cNvCxnSpPr/>
          <p:nvPr/>
        </p:nvCxnSpPr>
        <p:spPr>
          <a:xfrm>
            <a:off x="658368" y="4261104"/>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020055" y="4261104"/>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8368" y="4361688"/>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Accuracy claim</a:t>
            </a:r>
          </a:p>
        </p:txBody>
      </p:sp>
      <p:sp>
        <p:nvSpPr>
          <p:cNvPr id="34" name="TextBox 33"/>
          <p:cNvSpPr txBox="1"/>
          <p:nvPr/>
        </p:nvSpPr>
        <p:spPr>
          <a:xfrm>
            <a:off x="2532887" y="4361688"/>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none possible</a:t>
            </a:r>
          </a:p>
        </p:txBody>
      </p:sp>
      <p:sp>
        <p:nvSpPr>
          <p:cNvPr id="35" name="TextBox 34"/>
          <p:cNvSpPr txBox="1"/>
          <p:nvPr/>
        </p:nvSpPr>
        <p:spPr>
          <a:xfrm>
            <a:off x="5111495" y="4361688"/>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90.2% precision / 98.7% recall against 150 planted frauds — measured, not asserted</a:t>
            </a:r>
          </a:p>
        </p:txBody>
      </p:sp>
      <p:cxnSp>
        <p:nvCxnSpPr>
          <p:cNvPr id="36" name="Connector 35"/>
          <p:cNvCxnSpPr/>
          <p:nvPr/>
        </p:nvCxnSpPr>
        <p:spPr>
          <a:xfrm>
            <a:off x="658368" y="4768596"/>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8368" y="486918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Role of the LLM</a:t>
            </a:r>
          </a:p>
        </p:txBody>
      </p:sp>
      <p:sp>
        <p:nvSpPr>
          <p:cNvPr id="38" name="TextBox 37"/>
          <p:cNvSpPr txBox="1"/>
          <p:nvPr/>
        </p:nvSpPr>
        <p:spPr>
          <a:xfrm>
            <a:off x="2532887" y="486918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asked to judge the data</a:t>
            </a:r>
          </a:p>
        </p:txBody>
      </p:sp>
      <p:sp>
        <p:nvSpPr>
          <p:cNvPr id="39" name="TextBox 38"/>
          <p:cNvSpPr txBox="1"/>
          <p:nvPr/>
        </p:nvSpPr>
        <p:spPr>
          <a:xfrm>
            <a:off x="5111495" y="486918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forbidden from arithmetic — language only</a:t>
            </a:r>
          </a:p>
        </p:txBody>
      </p:sp>
      <p:cxnSp>
        <p:nvCxnSpPr>
          <p:cNvPr id="40" name="Connector 39"/>
          <p:cNvCxnSpPr/>
          <p:nvPr/>
        </p:nvCxnSpPr>
        <p:spPr>
          <a:xfrm>
            <a:off x="658368" y="527608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58368" y="537667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Jurisdiction</a:t>
            </a:r>
          </a:p>
        </p:txBody>
      </p:sp>
      <p:sp>
        <p:nvSpPr>
          <p:cNvPr id="42" name="TextBox 41"/>
          <p:cNvSpPr txBox="1"/>
          <p:nvPr/>
        </p:nvSpPr>
        <p:spPr>
          <a:xfrm>
            <a:off x="2532887" y="537667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generic</a:t>
            </a:r>
          </a:p>
        </p:txBody>
      </p:sp>
      <p:sp>
        <p:nvSpPr>
          <p:cNvPr id="43" name="TextBox 42"/>
          <p:cNvSpPr txBox="1"/>
          <p:nvPr/>
        </p:nvSpPr>
        <p:spPr>
          <a:xfrm>
            <a:off x="5111495" y="537667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GSTIN checks, Rule 46(b) numbering, HSN tax match, MSME s.43B(h)</a:t>
            </a:r>
          </a:p>
        </p:txBody>
      </p:sp>
      <p:cxnSp>
        <p:nvCxnSpPr>
          <p:cNvPr id="44" name="Connector 43"/>
          <p:cNvCxnSpPr/>
          <p:nvPr/>
        </p:nvCxnSpPr>
        <p:spPr>
          <a:xfrm>
            <a:off x="658368" y="5783579"/>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58368" y="588416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Extensibility</a:t>
            </a:r>
          </a:p>
        </p:txBody>
      </p:sp>
      <p:sp>
        <p:nvSpPr>
          <p:cNvPr id="46" name="TextBox 45"/>
          <p:cNvSpPr txBox="1"/>
          <p:nvPr/>
        </p:nvSpPr>
        <p:spPr>
          <a:xfrm>
            <a:off x="2532887" y="588416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rewrite the notebook</a:t>
            </a:r>
          </a:p>
        </p:txBody>
      </p:sp>
      <p:sp>
        <p:nvSpPr>
          <p:cNvPr id="47" name="TextBox 46"/>
          <p:cNvSpPr txBox="1"/>
          <p:nvPr/>
        </p:nvSpPr>
        <p:spPr>
          <a:xfrm>
            <a:off x="5111495" y="588416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plugin detector — new rule live in five minutes, on stage</a:t>
            </a:r>
          </a:p>
        </p:txBody>
      </p:sp>
      <p:cxnSp>
        <p:nvCxnSpPr>
          <p:cNvPr id="48" name="Connector 47"/>
          <p:cNvCxnSpPr/>
          <p:nvPr/>
        </p:nvCxnSpPr>
        <p:spPr>
          <a:xfrm>
            <a:off x="658368" y="6291071"/>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763256" y="1901952"/>
            <a:ext cx="0" cy="411480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019288" y="1901952"/>
            <a:ext cx="3657600" cy="31089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E R E   E X I S T I N G   T O O L S   S T O P</a:t>
            </a:r>
          </a:p>
        </p:txBody>
      </p:sp>
      <p:sp>
        <p:nvSpPr>
          <p:cNvPr id="51" name="TextBox 50"/>
          <p:cNvSpPr txBox="1"/>
          <p:nvPr/>
        </p:nvSpPr>
        <p:spPr>
          <a:xfrm>
            <a:off x="8019288" y="2231136"/>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ERP-native controls</a:t>
            </a:r>
          </a:p>
        </p:txBody>
      </p:sp>
      <p:sp>
        <p:nvSpPr>
          <p:cNvPr id="52" name="TextBox 51"/>
          <p:cNvSpPr txBox="1"/>
          <p:nvPr/>
        </p:nvSpPr>
        <p:spPr>
          <a:xfrm>
            <a:off x="8019288" y="2459736"/>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enforce policy at entry — a compliant PO that is one of five splitting a purchase is still compliant</a:t>
            </a:r>
          </a:p>
        </p:txBody>
      </p:sp>
      <p:sp>
        <p:nvSpPr>
          <p:cNvPr id="53" name="TextBox 52"/>
          <p:cNvSpPr txBox="1"/>
          <p:nvPr/>
        </p:nvSpPr>
        <p:spPr>
          <a:xfrm>
            <a:off x="8019288" y="3017520"/>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AP automation / invoice capture</a:t>
            </a:r>
          </a:p>
        </p:txBody>
      </p:sp>
      <p:sp>
        <p:nvSpPr>
          <p:cNvPr id="54" name="TextBox 53"/>
          <p:cNvSpPr txBox="1"/>
          <p:nvPr/>
        </p:nvSpPr>
        <p:spPr>
          <a:xfrm>
            <a:off x="8019288" y="3246120"/>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excellent at reading a document; the comparison set is that document</a:t>
            </a:r>
          </a:p>
        </p:txBody>
      </p:sp>
      <p:sp>
        <p:nvSpPr>
          <p:cNvPr id="55" name="TextBox 54"/>
          <p:cNvSpPr txBox="1"/>
          <p:nvPr/>
        </p:nvSpPr>
        <p:spPr>
          <a:xfrm>
            <a:off x="8019288" y="3803904"/>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Audit analytics suites</a:t>
            </a:r>
          </a:p>
        </p:txBody>
      </p:sp>
      <p:sp>
        <p:nvSpPr>
          <p:cNvPr id="56" name="TextBox 55"/>
          <p:cNvSpPr txBox="1"/>
          <p:nvPr/>
        </p:nvSpPr>
        <p:spPr>
          <a:xfrm>
            <a:off x="8019288" y="4032504"/>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run corpus-wide tests, but require an analyst to specify and interpret each one, per engagement</a:t>
            </a:r>
          </a:p>
        </p:txBody>
      </p:sp>
      <p:sp>
        <p:nvSpPr>
          <p:cNvPr id="57" name="TextBox 56"/>
          <p:cNvSpPr txBox="1"/>
          <p:nvPr/>
        </p:nvSpPr>
        <p:spPr>
          <a:xfrm>
            <a:off x="8019288" y="4590288"/>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Spend analytics dashboards</a:t>
            </a:r>
          </a:p>
        </p:txBody>
      </p:sp>
      <p:sp>
        <p:nvSpPr>
          <p:cNvPr id="58" name="TextBox 57"/>
          <p:cNvSpPr txBox="1"/>
          <p:nvPr/>
        </p:nvSpPr>
        <p:spPr>
          <a:xfrm>
            <a:off x="8019288" y="4818888"/>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aggregate to categories, which is exactly the operation that hides a pattern inside a total</a:t>
            </a:r>
          </a:p>
        </p:txBody>
      </p:sp>
      <p:sp>
        <p:nvSpPr>
          <p:cNvPr id="59" name="Rectangle 58"/>
          <p:cNvSpPr/>
          <p:nvPr/>
        </p:nvSpPr>
        <p:spPr>
          <a:xfrm>
            <a:off x="8019288" y="5431536"/>
            <a:ext cx="3657600" cy="786384"/>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83879" y="5559552"/>
            <a:ext cx="3346704" cy="566928"/>
          </a:xfrm>
          <a:prstGeom prst="rect">
            <a:avLst/>
          </a:prstGeom>
          <a:noFill/>
        </p:spPr>
        <p:txBody>
          <a:bodyPr wrap="square" lIns="0" rIns="0" tIns="0" bIns="0" anchor="t">
            <a:spAutoFit/>
          </a:bodyPr>
          <a:lstStyle/>
          <a:p>
            <a:pPr algn="l">
              <a:lnSpc>
                <a:spcPct val="130000"/>
              </a:lnSpc>
              <a:spcAft>
                <a:spcPts val="0"/>
              </a:spcAft>
            </a:pPr>
            <a:r>
              <a:rPr sz="1000" b="0">
                <a:solidFill>
                  <a:srgbClr val="C9A227"/>
                </a:solidFill>
                <a:latin typeface="Georgia"/>
              </a:rPr>
              <a:t>None of them is wrong. They are all built around a document. The frauds that cost the most do not live inside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07</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M P A C T   A N D   F U T U R E   S C O P E</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Every rupee shown with the arithmetic that produced it.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07 / 07</a:t>
            </a:r>
          </a:p>
        </p:txBody>
      </p:sp>
      <p:sp>
        <p:nvSpPr>
          <p:cNvPr id="11" name="TextBox 10"/>
          <p:cNvSpPr txBox="1"/>
          <p:nvPr/>
        </p:nvSpPr>
        <p:spPr>
          <a:xfrm>
            <a:off x="658368" y="1901952"/>
            <a:ext cx="676656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A T   W A S   F O U N D ,   A N D   H O W   I T   W A S   C O M P U T E D</a:t>
            </a:r>
          </a:p>
        </p:txBody>
      </p:sp>
      <p:sp>
        <p:nvSpPr>
          <p:cNvPr id="12" name="Rectangle 11"/>
          <p:cNvSpPr/>
          <p:nvPr/>
        </p:nvSpPr>
        <p:spPr>
          <a:xfrm>
            <a:off x="658368" y="2212848"/>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212848"/>
            <a:ext cx="32004" cy="566928"/>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9536" y="2295144"/>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Recoverable</a:t>
            </a:r>
          </a:p>
        </p:txBody>
      </p:sp>
      <p:sp>
        <p:nvSpPr>
          <p:cNvPr id="15" name="TextBox 14"/>
          <p:cNvSpPr txBox="1"/>
          <p:nvPr/>
        </p:nvSpPr>
        <p:spPr>
          <a:xfrm>
            <a:off x="859536" y="2514600"/>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11 confirmed duplicate pairs, already paid twice — the eleven amounts, summed</a:t>
            </a:r>
          </a:p>
        </p:txBody>
      </p:sp>
      <p:sp>
        <p:nvSpPr>
          <p:cNvPr id="16" name="TextBox 15"/>
          <p:cNvSpPr txBox="1"/>
          <p:nvPr/>
        </p:nvSpPr>
        <p:spPr>
          <a:xfrm>
            <a:off x="5614416" y="2350008"/>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5B8F6E"/>
                </a:solidFill>
                <a:latin typeface="Consolas"/>
              </a:rPr>
              <a:t>₹8,42,650</a:t>
            </a:r>
          </a:p>
        </p:txBody>
      </p:sp>
      <p:sp>
        <p:nvSpPr>
          <p:cNvPr id="17" name="TextBox 16"/>
          <p:cNvSpPr txBox="1"/>
          <p:nvPr/>
        </p:nvSpPr>
        <p:spPr>
          <a:xfrm>
            <a:off x="6912864" y="2395728"/>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High</a:t>
            </a:r>
          </a:p>
        </p:txBody>
      </p:sp>
      <p:sp>
        <p:nvSpPr>
          <p:cNvPr id="18" name="Rectangle 17"/>
          <p:cNvSpPr/>
          <p:nvPr/>
        </p:nvSpPr>
        <p:spPr>
          <a:xfrm>
            <a:off x="658368" y="2834640"/>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58368" y="2834640"/>
            <a:ext cx="32004" cy="56692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59536" y="2916936"/>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Avoidable</a:t>
            </a:r>
          </a:p>
        </p:txBody>
      </p:sp>
      <p:sp>
        <p:nvSpPr>
          <p:cNvPr id="21" name="TextBox 20"/>
          <p:cNvSpPr txBox="1"/>
          <p:nvPr/>
        </p:nvSpPr>
        <p:spPr>
          <a:xfrm>
            <a:off x="859536" y="3136392"/>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Σ (unit price − peer median) × volume across 34 flagged SKU–vendor pairs</a:t>
            </a:r>
          </a:p>
        </p:txBody>
      </p:sp>
      <p:sp>
        <p:nvSpPr>
          <p:cNvPr id="22" name="TextBox 21"/>
          <p:cNvSpPr txBox="1"/>
          <p:nvPr/>
        </p:nvSpPr>
        <p:spPr>
          <a:xfrm>
            <a:off x="5614416" y="2971800"/>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C9A227"/>
                </a:solidFill>
                <a:latin typeface="Consolas"/>
              </a:rPr>
              <a:t>₹6,70,000</a:t>
            </a:r>
          </a:p>
        </p:txBody>
      </p:sp>
      <p:sp>
        <p:nvSpPr>
          <p:cNvPr id="23" name="TextBox 22"/>
          <p:cNvSpPr txBox="1"/>
          <p:nvPr/>
        </p:nvSpPr>
        <p:spPr>
          <a:xfrm>
            <a:off x="6912864" y="3017520"/>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Medium</a:t>
            </a:r>
          </a:p>
        </p:txBody>
      </p:sp>
      <p:sp>
        <p:nvSpPr>
          <p:cNvPr id="24" name="Rectangle 23"/>
          <p:cNvSpPr/>
          <p:nvPr/>
        </p:nvSpPr>
        <p:spPr>
          <a:xfrm>
            <a:off x="658368" y="3456432"/>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3456432"/>
            <a:ext cx="32004" cy="56692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9536" y="3538728"/>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Negotiable</a:t>
            </a:r>
          </a:p>
        </p:txBody>
      </p:sp>
      <p:sp>
        <p:nvSpPr>
          <p:cNvPr id="27" name="TextBox 26"/>
          <p:cNvSpPr txBox="1"/>
          <p:nvPr/>
        </p:nvSpPr>
        <p:spPr>
          <a:xfrm>
            <a:off x="859536" y="3758184"/>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consolidation ₹2,18,000 + early-payment discounts not taken ₹1,12,000</a:t>
            </a:r>
          </a:p>
        </p:txBody>
      </p:sp>
      <p:sp>
        <p:nvSpPr>
          <p:cNvPr id="28" name="TextBox 27"/>
          <p:cNvSpPr txBox="1"/>
          <p:nvPr/>
        </p:nvSpPr>
        <p:spPr>
          <a:xfrm>
            <a:off x="5614416" y="3593592"/>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6B8394"/>
                </a:solidFill>
                <a:latin typeface="Consolas"/>
              </a:rPr>
              <a:t>₹3,30,000</a:t>
            </a:r>
          </a:p>
        </p:txBody>
      </p:sp>
      <p:sp>
        <p:nvSpPr>
          <p:cNvPr id="29" name="TextBox 28"/>
          <p:cNvSpPr txBox="1"/>
          <p:nvPr/>
        </p:nvSpPr>
        <p:spPr>
          <a:xfrm>
            <a:off x="6912864" y="3639312"/>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Modelled</a:t>
            </a:r>
          </a:p>
        </p:txBody>
      </p:sp>
      <p:sp>
        <p:nvSpPr>
          <p:cNvPr id="30" name="Rectangle 29"/>
          <p:cNvSpPr/>
          <p:nvPr/>
        </p:nvSpPr>
        <p:spPr>
          <a:xfrm>
            <a:off x="658368" y="4078224"/>
            <a:ext cx="6766560" cy="658368"/>
          </a:xfrm>
          <a:prstGeom prst="rect">
            <a:avLst/>
          </a:prstGeom>
          <a:solidFill>
            <a:srgbClr val="191C21"/>
          </a:solid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59536" y="4197096"/>
            <a:ext cx="3108960" cy="274320"/>
          </a:xfrm>
          <a:prstGeom prst="rect">
            <a:avLst/>
          </a:prstGeom>
          <a:noFill/>
        </p:spPr>
        <p:txBody>
          <a:bodyPr wrap="square" lIns="0" rIns="0" tIns="0" bIns="0" anchor="t">
            <a:spAutoFit/>
          </a:bodyPr>
          <a:lstStyle/>
          <a:p>
            <a:pPr algn="l">
              <a:lnSpc>
                <a:spcPct val="128000"/>
              </a:lnSpc>
              <a:spcAft>
                <a:spcPts val="0"/>
              </a:spcAft>
            </a:pPr>
            <a:r>
              <a:rPr sz="1200" b="0">
                <a:solidFill>
                  <a:srgbClr val="C9A227"/>
                </a:solidFill>
                <a:latin typeface="Segoe UI"/>
              </a:rPr>
              <a:t>Total identified</a:t>
            </a:r>
          </a:p>
        </p:txBody>
      </p:sp>
      <p:sp>
        <p:nvSpPr>
          <p:cNvPr id="32" name="TextBox 31"/>
          <p:cNvSpPr txBox="1"/>
          <p:nvPr/>
        </p:nvSpPr>
        <p:spPr>
          <a:xfrm>
            <a:off x="859536" y="4443984"/>
            <a:ext cx="420624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on ₹42.6 Cr analysed = 0.43% of spend</a:t>
            </a:r>
          </a:p>
        </p:txBody>
      </p:sp>
      <p:sp>
        <p:nvSpPr>
          <p:cNvPr id="33" name="TextBox 32"/>
          <p:cNvSpPr txBox="1"/>
          <p:nvPr/>
        </p:nvSpPr>
        <p:spPr>
          <a:xfrm>
            <a:off x="4864607" y="4224528"/>
            <a:ext cx="2377440" cy="365760"/>
          </a:xfrm>
          <a:prstGeom prst="rect">
            <a:avLst/>
          </a:prstGeom>
          <a:noFill/>
        </p:spPr>
        <p:txBody>
          <a:bodyPr wrap="square" lIns="0" rIns="0" tIns="0" bIns="0" anchor="t">
            <a:spAutoFit/>
          </a:bodyPr>
          <a:lstStyle/>
          <a:p>
            <a:pPr algn="r">
              <a:lnSpc>
                <a:spcPct val="128000"/>
              </a:lnSpc>
              <a:spcAft>
                <a:spcPts val="0"/>
              </a:spcAft>
            </a:pPr>
            <a:r>
              <a:rPr sz="2100" b="0">
                <a:solidFill>
                  <a:srgbClr val="C9A227"/>
                </a:solidFill>
                <a:latin typeface="Consolas"/>
              </a:rPr>
              <a:t>₹18,42,650</a:t>
            </a:r>
          </a:p>
        </p:txBody>
      </p:sp>
      <p:sp>
        <p:nvSpPr>
          <p:cNvPr id="34" name="TextBox 33"/>
          <p:cNvSpPr txBox="1"/>
          <p:nvPr/>
        </p:nvSpPr>
        <p:spPr>
          <a:xfrm>
            <a:off x="658368" y="4937760"/>
            <a:ext cx="676656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R E A L I Z A T I O N   —   I D E N T I F I E D   T H R O U G H   T O   C A S H</a:t>
            </a:r>
          </a:p>
        </p:txBody>
      </p:sp>
      <p:sp>
        <p:nvSpPr>
          <p:cNvPr id="35" name="Rectangle 34"/>
          <p:cNvSpPr/>
          <p:nvPr/>
        </p:nvSpPr>
        <p:spPr>
          <a:xfrm>
            <a:off x="658368"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58368" y="5230368"/>
            <a:ext cx="1481328" cy="1463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58368"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₹18,42,650</a:t>
            </a:r>
          </a:p>
        </p:txBody>
      </p:sp>
      <p:sp>
        <p:nvSpPr>
          <p:cNvPr id="38" name="TextBox 37"/>
          <p:cNvSpPr txBox="1"/>
          <p:nvPr/>
        </p:nvSpPr>
        <p:spPr>
          <a:xfrm>
            <a:off x="658368"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Identified</a:t>
            </a:r>
          </a:p>
        </p:txBody>
      </p:sp>
      <p:cxnSp>
        <p:nvCxnSpPr>
          <p:cNvPr id="39" name="Connector 38"/>
          <p:cNvCxnSpPr/>
          <p:nvPr/>
        </p:nvCxnSpPr>
        <p:spPr>
          <a:xfrm>
            <a:off x="2157984"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2340864"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2340864" y="5230368"/>
            <a:ext cx="900381" cy="146304"/>
          </a:xfrm>
          <a:prstGeom prst="rect">
            <a:avLst/>
          </a:prstGeom>
          <a:solidFill>
            <a:srgbClr val="8A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2340864"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8A7220"/>
                </a:solidFill>
                <a:latin typeface="Consolas"/>
              </a:rPr>
              <a:t>₹11,20,000</a:t>
            </a:r>
          </a:p>
        </p:txBody>
      </p:sp>
      <p:sp>
        <p:nvSpPr>
          <p:cNvPr id="43" name="TextBox 42"/>
          <p:cNvSpPr txBox="1"/>
          <p:nvPr/>
        </p:nvSpPr>
        <p:spPr>
          <a:xfrm>
            <a:off x="2340864"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Validated</a:t>
            </a:r>
          </a:p>
        </p:txBody>
      </p:sp>
      <p:cxnSp>
        <p:nvCxnSpPr>
          <p:cNvPr id="44" name="Connector 43"/>
          <p:cNvCxnSpPr/>
          <p:nvPr/>
        </p:nvCxnSpPr>
        <p:spPr>
          <a:xfrm>
            <a:off x="3840479"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4023360"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4023360" y="5230368"/>
            <a:ext cx="627051" cy="1463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023360"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6B8394"/>
                </a:solidFill>
                <a:latin typeface="Consolas"/>
              </a:rPr>
              <a:t>₹7,80,000</a:t>
            </a:r>
          </a:p>
        </p:txBody>
      </p:sp>
      <p:sp>
        <p:nvSpPr>
          <p:cNvPr id="48" name="TextBox 47"/>
          <p:cNvSpPr txBox="1"/>
          <p:nvPr/>
        </p:nvSpPr>
        <p:spPr>
          <a:xfrm>
            <a:off x="4023360"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Actioned</a:t>
            </a:r>
          </a:p>
        </p:txBody>
      </p:sp>
      <p:cxnSp>
        <p:nvCxnSpPr>
          <p:cNvPr id="49" name="Connector 48"/>
          <p:cNvCxnSpPr/>
          <p:nvPr/>
        </p:nvCxnSpPr>
        <p:spPr>
          <a:xfrm>
            <a:off x="5522976"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705856"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5705856" y="5230368"/>
            <a:ext cx="499550" cy="1463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705856"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5B8F6E"/>
                </a:solidFill>
                <a:latin typeface="Consolas"/>
              </a:rPr>
              <a:t>₹6,21,400</a:t>
            </a:r>
          </a:p>
        </p:txBody>
      </p:sp>
      <p:sp>
        <p:nvSpPr>
          <p:cNvPr id="53" name="TextBox 52"/>
          <p:cNvSpPr txBox="1"/>
          <p:nvPr/>
        </p:nvSpPr>
        <p:spPr>
          <a:xfrm>
            <a:off x="5705856"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Recovered</a:t>
            </a:r>
          </a:p>
        </p:txBody>
      </p:sp>
      <p:cxnSp>
        <p:nvCxnSpPr>
          <p:cNvPr id="54" name="Connector 53"/>
          <p:cNvCxnSpPr/>
          <p:nvPr/>
        </p:nvCxnSpPr>
        <p:spPr>
          <a:xfrm>
            <a:off x="7607808" y="1901952"/>
            <a:ext cx="0" cy="420624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882128" y="190195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M E A S U R E D ,   N O T   A S S E R T E D</a:t>
            </a:r>
          </a:p>
        </p:txBody>
      </p:sp>
      <p:sp>
        <p:nvSpPr>
          <p:cNvPr id="56" name="Rectangle 55"/>
          <p:cNvSpPr/>
          <p:nvPr/>
        </p:nvSpPr>
        <p:spPr>
          <a:xfrm>
            <a:off x="7882128"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882128"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90.2%</a:t>
            </a:r>
          </a:p>
        </p:txBody>
      </p:sp>
      <p:sp>
        <p:nvSpPr>
          <p:cNvPr id="58" name="TextBox 57"/>
          <p:cNvSpPr txBox="1"/>
          <p:nvPr/>
        </p:nvSpPr>
        <p:spPr>
          <a:xfrm>
            <a:off x="7882128"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precision</a:t>
            </a:r>
          </a:p>
        </p:txBody>
      </p:sp>
      <p:sp>
        <p:nvSpPr>
          <p:cNvPr id="59" name="Rectangle 58"/>
          <p:cNvSpPr/>
          <p:nvPr/>
        </p:nvSpPr>
        <p:spPr>
          <a:xfrm>
            <a:off x="9089136"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089136"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98.7%</a:t>
            </a:r>
          </a:p>
        </p:txBody>
      </p:sp>
      <p:sp>
        <p:nvSpPr>
          <p:cNvPr id="61" name="TextBox 60"/>
          <p:cNvSpPr txBox="1"/>
          <p:nvPr/>
        </p:nvSpPr>
        <p:spPr>
          <a:xfrm>
            <a:off x="9089136"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recall</a:t>
            </a:r>
          </a:p>
        </p:txBody>
      </p:sp>
      <p:sp>
        <p:nvSpPr>
          <p:cNvPr id="62" name="Rectangle 61"/>
          <p:cNvSpPr/>
          <p:nvPr/>
        </p:nvSpPr>
        <p:spPr>
          <a:xfrm>
            <a:off x="10296144"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0296144"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94.3%</a:t>
            </a:r>
          </a:p>
        </p:txBody>
      </p:sp>
      <p:sp>
        <p:nvSpPr>
          <p:cNvPr id="64" name="TextBox 63"/>
          <p:cNvSpPr txBox="1"/>
          <p:nvPr/>
        </p:nvSpPr>
        <p:spPr>
          <a:xfrm>
            <a:off x="10296144"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F1</a:t>
            </a:r>
          </a:p>
        </p:txBody>
      </p:sp>
      <p:sp>
        <p:nvSpPr>
          <p:cNvPr id="65" name="TextBox 64"/>
          <p:cNvSpPr txBox="1"/>
          <p:nvPr/>
        </p:nvSpPr>
        <p:spPr>
          <a:xfrm>
            <a:off x="7882128" y="2999232"/>
            <a:ext cx="3657600" cy="548640"/>
          </a:xfrm>
          <a:prstGeom prst="rect">
            <a:avLst/>
          </a:prstGeom>
          <a:noFill/>
        </p:spPr>
        <p:txBody>
          <a:bodyPr wrap="square" lIns="0" rIns="0" tIns="0" bIns="0" anchor="t">
            <a:spAutoFit/>
          </a:bodyPr>
          <a:lstStyle/>
          <a:p>
            <a:pPr algn="l">
              <a:lnSpc>
                <a:spcPct val="134000"/>
              </a:lnSpc>
              <a:spcAft>
                <a:spcPts val="0"/>
              </a:spcAft>
            </a:pPr>
            <a:r>
              <a:rPr sz="850" b="0">
                <a:solidFill>
                  <a:srgbClr val="A8A498"/>
                </a:solidFill>
                <a:latin typeface="Consolas"/>
              </a:rPr>
              <a:t>TP 148 · FP 16 · FN 2 · TN 1,405</a:t>
            </a:r>
            <a:br/>
            <a:r>
              <a:rPr sz="850" b="0">
                <a:solidFill>
                  <a:srgbClr val="A8A498"/>
                </a:solidFill>
                <a:latin typeface="Consolas"/>
              </a:rPr>
              <a:t>TP 148 + FN 2 = the 150 frauds we planted.</a:t>
            </a:r>
            <a:br/>
            <a:r>
              <a:rPr sz="850" b="0">
                <a:solidFill>
                  <a:srgbClr val="A8A498"/>
                </a:solidFill>
                <a:latin typeface="Consolas"/>
              </a:rPr>
              <a:t>python -m ledgerlens.eval.run</a:t>
            </a:r>
          </a:p>
        </p:txBody>
      </p:sp>
      <p:sp>
        <p:nvSpPr>
          <p:cNvPr id="66" name="Rectangle 65"/>
          <p:cNvSpPr/>
          <p:nvPr/>
        </p:nvSpPr>
        <p:spPr>
          <a:xfrm>
            <a:off x="7882128" y="3529584"/>
            <a:ext cx="3657600" cy="841248"/>
          </a:xfrm>
          <a:prstGeom prst="rect">
            <a:avLst/>
          </a:prstGeom>
          <a:no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8028432" y="3639312"/>
            <a:ext cx="3383280" cy="237744"/>
          </a:xfrm>
          <a:prstGeom prst="rect">
            <a:avLst/>
          </a:prstGeom>
          <a:noFill/>
        </p:spPr>
        <p:txBody>
          <a:bodyPr wrap="square" lIns="0" rIns="0" tIns="0" bIns="0" anchor="t">
            <a:spAutoFit/>
          </a:bodyPr>
          <a:lstStyle/>
          <a:p>
            <a:pPr algn="l">
              <a:lnSpc>
                <a:spcPct val="128000"/>
              </a:lnSpc>
              <a:spcAft>
                <a:spcPts val="0"/>
              </a:spcAft>
            </a:pPr>
            <a:r>
              <a:rPr sz="950" b="0">
                <a:solidFill>
                  <a:srgbClr val="C4503A"/>
                </a:solidFill>
                <a:latin typeface="Segoe UI"/>
              </a:rPr>
              <a:t>Where we are weakest</a:t>
            </a:r>
          </a:p>
        </p:txBody>
      </p:sp>
      <p:sp>
        <p:nvSpPr>
          <p:cNvPr id="68" name="TextBox 67"/>
          <p:cNvSpPr txBox="1"/>
          <p:nvPr/>
        </p:nvSpPr>
        <p:spPr>
          <a:xfrm>
            <a:off x="8028432" y="3877056"/>
            <a:ext cx="3383280" cy="566928"/>
          </a:xfrm>
          <a:prstGeom prst="rect">
            <a:avLst/>
          </a:prstGeom>
          <a:noFill/>
        </p:spPr>
        <p:txBody>
          <a:bodyPr wrap="square" lIns="0" rIns="0" tIns="0" bIns="0" anchor="t">
            <a:spAutoFit/>
          </a:bodyPr>
          <a:lstStyle/>
          <a:p>
            <a:pPr algn="l">
              <a:lnSpc>
                <a:spcPct val="130000"/>
              </a:lnSpc>
              <a:spcAft>
                <a:spcPts val="0"/>
              </a:spcAft>
            </a:pPr>
            <a:r>
              <a:rPr sz="850" b="0">
                <a:solidFill>
                  <a:srgbClr val="A8A498"/>
                </a:solidFill>
                <a:latin typeface="Segoe UI"/>
              </a:rPr>
              <a:t>Duplicates is our least precise pillar at 91.4%. Its transposition rule compares invoice numbers within an edit distance of two, and some genuinely distinct documents differ by that little. Both numbers are shown side by side, so a reviewer dismisses it in seconds.</a:t>
            </a:r>
          </a:p>
        </p:txBody>
      </p:sp>
      <p:sp>
        <p:nvSpPr>
          <p:cNvPr id="69" name="TextBox 68"/>
          <p:cNvSpPr txBox="1"/>
          <p:nvPr/>
        </p:nvSpPr>
        <p:spPr>
          <a:xfrm>
            <a:off x="7882128" y="446227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U T U R E   S C O P E</a:t>
            </a:r>
          </a:p>
        </p:txBody>
      </p:sp>
      <p:sp>
        <p:nvSpPr>
          <p:cNvPr id="70" name="TextBox 69"/>
          <p:cNvSpPr txBox="1"/>
          <p:nvPr/>
        </p:nvSpPr>
        <p:spPr>
          <a:xfrm>
            <a:off x="7882128" y="47365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Tonight</a:t>
            </a:r>
          </a:p>
        </p:txBody>
      </p:sp>
      <p:sp>
        <p:nvSpPr>
          <p:cNvPr id="71" name="TextBox 70"/>
          <p:cNvSpPr txBox="1"/>
          <p:nvPr/>
        </p:nvSpPr>
        <p:spPr>
          <a:xfrm>
            <a:off x="8723376" y="47365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backend live on the real pipeline — the detectors already run headless</a:t>
            </a:r>
          </a:p>
        </p:txBody>
      </p:sp>
      <p:sp>
        <p:nvSpPr>
          <p:cNvPr id="72" name="TextBox 71"/>
          <p:cNvSpPr txBox="1"/>
          <p:nvPr/>
        </p:nvSpPr>
        <p:spPr>
          <a:xfrm>
            <a:off x="7882128" y="51937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This week</a:t>
            </a:r>
          </a:p>
        </p:txBody>
      </p:sp>
      <p:sp>
        <p:nvSpPr>
          <p:cNvPr id="73" name="TextBox 72"/>
          <p:cNvSpPr txBox="1"/>
          <p:nvPr/>
        </p:nvSpPr>
        <p:spPr>
          <a:xfrm>
            <a:off x="8723376" y="51937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OCR ingestion; the feedback loop that reweights a detector from analyst labels</a:t>
            </a:r>
          </a:p>
        </p:txBody>
      </p:sp>
      <p:sp>
        <p:nvSpPr>
          <p:cNvPr id="74" name="TextBox 73"/>
          <p:cNvSpPr txBox="1"/>
          <p:nvPr/>
        </p:nvSpPr>
        <p:spPr>
          <a:xfrm>
            <a:off x="7882128" y="56509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Production</a:t>
            </a:r>
          </a:p>
        </p:txBody>
      </p:sp>
      <p:sp>
        <p:nvSpPr>
          <p:cNvPr id="75" name="TextBox 74"/>
          <p:cNvSpPr txBox="1"/>
          <p:nvPr/>
        </p:nvSpPr>
        <p:spPr>
          <a:xfrm>
            <a:off x="8723376" y="56509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ERP connectors for Tally, SAP and Zoho · role-based access · tamper-evident, hash-chained audit log</a:t>
            </a:r>
          </a:p>
        </p:txBody>
      </p:sp>
      <p:sp>
        <p:nvSpPr>
          <p:cNvPr id="76" name="TextBox 75"/>
          <p:cNvSpPr txBox="1"/>
          <p:nvPr/>
        </p:nvSpPr>
        <p:spPr>
          <a:xfrm>
            <a:off x="7882128" y="61081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At scale</a:t>
            </a:r>
          </a:p>
        </p:txBody>
      </p:sp>
      <p:sp>
        <p:nvSpPr>
          <p:cNvPr id="77" name="TextBox 76"/>
          <p:cNvSpPr txBox="1"/>
          <p:nvPr/>
        </p:nvSpPr>
        <p:spPr>
          <a:xfrm>
            <a:off x="8723376" y="61081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0.43% of spend on this corpus. On a ₹500 Cr book, the same rate is ₹2.15 Cr a year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1371600"/>
            <a:ext cx="45720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965960"/>
            <a:ext cx="9692640" cy="1737360"/>
          </a:xfrm>
          <a:prstGeom prst="rect">
            <a:avLst/>
          </a:prstGeom>
          <a:noFill/>
        </p:spPr>
        <p:txBody>
          <a:bodyPr wrap="square" lIns="0" rIns="0" tIns="0" bIns="0" anchor="t">
            <a:spAutoFit/>
          </a:bodyPr>
          <a:lstStyle/>
          <a:p>
            <a:pPr algn="l">
              <a:lnSpc>
                <a:spcPct val="106000"/>
              </a:lnSpc>
              <a:spcAft>
                <a:spcPts val="0"/>
              </a:spcAft>
            </a:pPr>
            <a:r>
              <a:rPr sz="4000" b="0">
                <a:solidFill>
                  <a:srgbClr val="E9E5DC"/>
                </a:solidFill>
                <a:latin typeface="Georgia"/>
              </a:rPr>
              <a:t>Humans review invoices one at a time.</a:t>
            </a:r>
            <a:br/>
            <a:r>
              <a:rPr sz="4000" b="0">
                <a:solidFill>
                  <a:srgbClr val="E9E5DC"/>
                </a:solidFill>
                <a:latin typeface="Georgia"/>
              </a:rPr>
              <a:t>The problems only exist across thousands at once.</a:t>
            </a:r>
          </a:p>
        </p:txBody>
      </p:sp>
      <p:cxnSp>
        <p:nvCxnSpPr>
          <p:cNvPr id="6" name="Connector 5"/>
          <p:cNvCxnSpPr/>
          <p:nvPr/>
        </p:nvCxnSpPr>
        <p:spPr>
          <a:xfrm>
            <a:off x="658368" y="4114800"/>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9A227"/>
                </a:solidFill>
                <a:latin typeface="Consolas"/>
              </a:rPr>
              <a:t>₹18,42,650</a:t>
            </a:r>
          </a:p>
        </p:txBody>
      </p:sp>
      <p:sp>
        <p:nvSpPr>
          <p:cNvPr id="8" name="TextBox 7"/>
          <p:cNvSpPr txBox="1"/>
          <p:nvPr/>
        </p:nvSpPr>
        <p:spPr>
          <a:xfrm>
            <a:off x="658368"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recoverable, identified</a:t>
            </a:r>
          </a:p>
        </p:txBody>
      </p:sp>
      <p:sp>
        <p:nvSpPr>
          <p:cNvPr id="9" name="TextBox 8"/>
          <p:cNvSpPr txBox="1"/>
          <p:nvPr/>
        </p:nvSpPr>
        <p:spPr>
          <a:xfrm>
            <a:off x="3383280"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5B8F6E"/>
                </a:solidFill>
                <a:latin typeface="Consolas"/>
              </a:rPr>
              <a:t>90.2% / 98.7%</a:t>
            </a:r>
          </a:p>
        </p:txBody>
      </p:sp>
      <p:sp>
        <p:nvSpPr>
          <p:cNvPr id="10" name="TextBox 9"/>
          <p:cNvSpPr txBox="1"/>
          <p:nvPr/>
        </p:nvSpPr>
        <p:spPr>
          <a:xfrm>
            <a:off x="3383280"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precision / recall, measured</a:t>
            </a:r>
          </a:p>
        </p:txBody>
      </p:sp>
      <p:sp>
        <p:nvSpPr>
          <p:cNvPr id="11" name="TextBox 10"/>
          <p:cNvSpPr txBox="1"/>
          <p:nvPr/>
        </p:nvSpPr>
        <p:spPr>
          <a:xfrm>
            <a:off x="6108192"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E9E5DC"/>
                </a:solidFill>
                <a:latin typeface="Consolas"/>
              </a:rPr>
              <a:t>42</a:t>
            </a:r>
          </a:p>
        </p:txBody>
      </p:sp>
      <p:sp>
        <p:nvSpPr>
          <p:cNvPr id="12" name="TextBox 11"/>
          <p:cNvSpPr txBox="1"/>
          <p:nvPr/>
        </p:nvSpPr>
        <p:spPr>
          <a:xfrm>
            <a:off x="6108192"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detectors, 5 pillars</a:t>
            </a:r>
          </a:p>
        </p:txBody>
      </p:sp>
      <p:sp>
        <p:nvSpPr>
          <p:cNvPr id="13" name="TextBox 12"/>
          <p:cNvSpPr txBox="1"/>
          <p:nvPr/>
        </p:nvSpPr>
        <p:spPr>
          <a:xfrm>
            <a:off x="8833104"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4503A"/>
                </a:solidFill>
                <a:latin typeface="Consolas"/>
              </a:rPr>
              <a:t>0</a:t>
            </a:r>
          </a:p>
        </p:txBody>
      </p:sp>
      <p:sp>
        <p:nvSpPr>
          <p:cNvPr id="14" name="TextBox 13"/>
          <p:cNvSpPr txBox="1"/>
          <p:nvPr/>
        </p:nvSpPr>
        <p:spPr>
          <a:xfrm>
            <a:off x="8833104"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numbers written by a language model</a:t>
            </a:r>
          </a:p>
        </p:txBody>
      </p:sp>
      <p:sp>
        <p:nvSpPr>
          <p:cNvPr id="15" name="TextBox 14"/>
          <p:cNvSpPr txBox="1"/>
          <p:nvPr/>
        </p:nvSpPr>
        <p:spPr>
          <a:xfrm>
            <a:off x="658368" y="5532120"/>
            <a:ext cx="9144000" cy="274320"/>
          </a:xfrm>
          <a:prstGeom prst="rect">
            <a:avLst/>
          </a:prstGeom>
          <a:noFill/>
        </p:spPr>
        <p:txBody>
          <a:bodyPr wrap="square" lIns="0" rIns="0" tIns="0" bIns="0" anchor="t">
            <a:spAutoFit/>
          </a:bodyPr>
          <a:lstStyle/>
          <a:p>
            <a:pPr algn="l">
              <a:lnSpc>
                <a:spcPct val="128000"/>
              </a:lnSpc>
              <a:spcAft>
                <a:spcPts val="0"/>
              </a:spcAft>
            </a:pPr>
            <a:r>
              <a:rPr sz="1100" b="0">
                <a:solidFill>
                  <a:srgbClr val="A8A498"/>
                </a:solidFill>
                <a:latin typeface="Segoe UI"/>
              </a:rPr>
              <a:t>Live prototype runs offline in the browser — no backend, no network, nothing to fail on stage.</a:t>
            </a:r>
          </a:p>
        </p:txBody>
      </p:sp>
      <p:sp>
        <p:nvSpPr>
          <p:cNvPr id="16" name="TextBox 15"/>
          <p:cNvSpPr txBox="1"/>
          <p:nvPr/>
        </p:nvSpPr>
        <p:spPr>
          <a:xfrm>
            <a:off x="658368" y="5943600"/>
            <a:ext cx="91440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